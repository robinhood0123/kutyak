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78240" y="0"/>
            <a:ext cx="3413760" cy="685800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31040" y="0"/>
            <a:ext cx="6096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096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75704"/>
            <a:ext cx="12192000" cy="8229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342900"/>
            <a:ext cx="1584960" cy="960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7680" y="1920240"/>
            <a:ext cx="7559040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  <a:latin typeface="Calibri Light"/>
              </a:rPr>
              <a:t>KUTYAMENHELY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80" y="3086100"/>
            <a:ext cx="75590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  <a:latin typeface="Calibri Light"/>
              </a:rPr>
              <a:t>Webfejlesztő Mestermunka Bemutatás</a:t>
            </a:r>
          </a:p>
        </p:txBody>
      </p:sp>
      <p:sp>
        <p:nvSpPr>
          <p:cNvPr id="9" name="Rectangle 8"/>
          <p:cNvSpPr/>
          <p:nvPr/>
        </p:nvSpPr>
        <p:spPr>
          <a:xfrm>
            <a:off x="487680" y="3771900"/>
            <a:ext cx="3657600" cy="3429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680" y="3909059"/>
            <a:ext cx="755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  <a:latin typeface="Calibri Light"/>
              </a:rPr>
              <a:t>Egy modern kutyamenhely-kezelő webalkalmazás Node.js + MySQL alapon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80" y="4526280"/>
            <a:ext cx="67056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 Light"/>
              </a:rPr>
              <a:t>Toth Robert  ·  Szentpali Richard  ·  Acs Norbert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680" y="5143500"/>
            <a:ext cx="60960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  <a:latin typeface="Calibri Light"/>
              </a:rPr>
              <a:t>2026. április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2080" y="822960"/>
            <a:ext cx="292608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 Light"/>
              </a:rPr>
              <a:t>TECH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2080" y="1508760"/>
            <a:ext cx="2926080" cy="4457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latin typeface="Segoe UI Emoji"/>
              </a:rPr>
              <a:t>⚡  </a:t>
            </a:r>
            <a:r>
              <a:rPr sz="1400">
                <a:solidFill>
                  <a:srgbClr val="FFFFFF"/>
                </a:solidFill>
                <a:latin typeface="Calibri Light"/>
              </a:rPr>
              <a:t>Node.js + Express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2080" y="2077974"/>
            <a:ext cx="2926080" cy="4457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latin typeface="Segoe UI Emoji"/>
              </a:rPr>
              <a:t>🗄️  </a:t>
            </a:r>
            <a:r>
              <a:rPr sz="1400">
                <a:solidFill>
                  <a:srgbClr val="FFFFFF"/>
                </a:solidFill>
                <a:latin typeface="Calibri Light"/>
              </a:rPr>
              <a:t>MySQL / MariaDB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2080" y="2647188"/>
            <a:ext cx="2926080" cy="4457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latin typeface="Segoe UI Emoji"/>
              </a:rPr>
              <a:t>🎨  </a:t>
            </a:r>
            <a:r>
              <a:rPr sz="1400">
                <a:solidFill>
                  <a:srgbClr val="FFFFFF"/>
                </a:solidFill>
                <a:latin typeface="Calibri Light"/>
              </a:rPr>
              <a:t>Bootstrap 4 + Tailwind CSS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2080" y="3216402"/>
            <a:ext cx="2926080" cy="4457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latin typeface="Segoe UI Emoji"/>
              </a:rPr>
              <a:t>🔐  </a:t>
            </a:r>
            <a:r>
              <a:rPr sz="1400">
                <a:solidFill>
                  <a:srgbClr val="FFFFFF"/>
                </a:solidFill>
                <a:latin typeface="Calibri Light"/>
              </a:rPr>
              <a:t>bcrypt + helmet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2080" y="3785616"/>
            <a:ext cx="2926080" cy="4457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latin typeface="Segoe UI Emoji"/>
              </a:rPr>
              <a:t>📧  </a:t>
            </a:r>
            <a:r>
              <a:rPr sz="1400">
                <a:solidFill>
                  <a:srgbClr val="FFFFFF"/>
                </a:solidFill>
                <a:latin typeface="Calibri Light"/>
              </a:rPr>
              <a:t>Nodemailer (Gmail SMTP)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2080" y="4354830"/>
            <a:ext cx="2926080" cy="4457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latin typeface="Segoe UI Emoji"/>
              </a:rPr>
              <a:t>📁  </a:t>
            </a:r>
            <a:r>
              <a:rPr sz="1400">
                <a:solidFill>
                  <a:srgbClr val="FFFFFF"/>
                </a:solidFill>
                <a:latin typeface="Calibri Light"/>
              </a:rPr>
              <a:t>Multer (képfeltöltés)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2080" y="4924044"/>
            <a:ext cx="2926080" cy="4457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latin typeface="Segoe UI Emoji"/>
              </a:rPr>
              <a:t>🔒  </a:t>
            </a:r>
            <a:r>
              <a:rPr sz="1400">
                <a:solidFill>
                  <a:srgbClr val="FFFFFF"/>
                </a:solidFill>
                <a:latin typeface="Calibri Light"/>
              </a:rPr>
              <a:t>CSRF + Rate-Limit védelem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2080" y="5897880"/>
            <a:ext cx="268224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  <a:latin typeface="Calibri Light"/>
              </a:rPr>
              <a:t>🐾 2026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6299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6299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171450"/>
            <a:ext cx="9144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Tartalom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685800"/>
            <a:ext cx="914400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  <a:latin typeface="Calibri Light"/>
              </a:rPr>
              <a:t>Áttekintés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0150"/>
            <a:ext cx="5608320" cy="82296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0150"/>
            <a:ext cx="33649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7926" y="1323594"/>
            <a:ext cx="672998" cy="5760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4009" y="1348282"/>
            <a:ext cx="616915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Calibri Ligh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9174" y="1282446"/>
            <a:ext cx="4486656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 Light"/>
              </a:rPr>
              <a:t>A projekt bemutatása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9174" y="1628089"/>
            <a:ext cx="4486656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 Light"/>
              </a:rPr>
              <a:t>Mi az alkalmazás? Célcsoport, elérés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9840" y="1200150"/>
            <a:ext cx="5608320" cy="82296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39840" y="1200150"/>
            <a:ext cx="33649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52006" y="1323594"/>
            <a:ext cx="672998" cy="5760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8089" y="1348282"/>
            <a:ext cx="616915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Calibri Ligh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3254" y="1282446"/>
            <a:ext cx="4486656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 Light"/>
              </a:rPr>
              <a:t>Csapattagok és feladatok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3254" y="1628089"/>
            <a:ext cx="4486656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 Light"/>
              </a:rPr>
              <a:t>3 fejlesztő, szerepkörök részletesen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25980"/>
            <a:ext cx="5608320" cy="82296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125980"/>
            <a:ext cx="33649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7926" y="2249424"/>
            <a:ext cx="672998" cy="5760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009" y="2274112"/>
            <a:ext cx="616915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Calibri Light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9174" y="2208276"/>
            <a:ext cx="4486656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 Light"/>
              </a:rPr>
              <a:t>Alkalmazott technológiák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9174" y="2553919"/>
            <a:ext cx="4486656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 Light"/>
              </a:rPr>
              <a:t>Teljes tech stack (BE / FE / DB)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39840" y="2125980"/>
            <a:ext cx="5608320" cy="82296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39840" y="2125980"/>
            <a:ext cx="33649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52006" y="2249424"/>
            <a:ext cx="672998" cy="5760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8089" y="2274112"/>
            <a:ext cx="616915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Calibri Light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93254" y="2208276"/>
            <a:ext cx="4486656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 Light"/>
              </a:rPr>
              <a:t>Adatbázis-struktúra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93254" y="2553919"/>
            <a:ext cx="4486656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 Light"/>
              </a:rPr>
              <a:t>Táblák, kapcsolatok, biztonság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051810"/>
            <a:ext cx="5608320" cy="82296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3051810"/>
            <a:ext cx="33649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7926" y="3175254"/>
            <a:ext cx="672998" cy="5760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009" y="3199942"/>
            <a:ext cx="616915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Calibri Light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9174" y="3134106"/>
            <a:ext cx="4486656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 Light"/>
              </a:rPr>
              <a:t>Főbb funkciók és oldalak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9174" y="3479749"/>
            <a:ext cx="4486656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 Light"/>
              </a:rPr>
              <a:t>Publikus, felhasználói, admin, játék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39840" y="3051810"/>
            <a:ext cx="5608320" cy="82296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39840" y="3051810"/>
            <a:ext cx="33649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52006" y="3175254"/>
            <a:ext cx="672998" cy="5760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08089" y="3199942"/>
            <a:ext cx="616915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Calibri Light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93254" y="3134106"/>
            <a:ext cx="4486656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 Light"/>
              </a:rPr>
              <a:t>Biztonsági megoldások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3479749"/>
            <a:ext cx="4486656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 Light"/>
              </a:rPr>
              <a:t>OWASP Top 10 alapján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977640"/>
            <a:ext cx="5608320" cy="82296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3977640"/>
            <a:ext cx="33649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77926" y="4101084"/>
            <a:ext cx="672998" cy="5760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009" y="4125772"/>
            <a:ext cx="616915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Calibri Light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19174" y="4059936"/>
            <a:ext cx="4486656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 Light"/>
              </a:rPr>
              <a:t>Felhasználói szerepkörök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19174" y="4405579"/>
            <a:ext cx="4486656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 Light"/>
              </a:rPr>
              <a:t>admin · dolgozó · felhasználó · vendég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39840" y="3977640"/>
            <a:ext cx="5608320" cy="82296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39840" y="3977640"/>
            <a:ext cx="33649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52006" y="4101084"/>
            <a:ext cx="672998" cy="5760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08089" y="4125772"/>
            <a:ext cx="616915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Calibri Light"/>
              </a:rPr>
              <a:t>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93254" y="4059936"/>
            <a:ext cx="4486656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 Light"/>
              </a:rPr>
              <a:t>Kihívások és tanulságok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93254" y="4405579"/>
            <a:ext cx="4486656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 Light"/>
              </a:rPr>
              <a:t>Technikai problémák, csapatmunka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903470"/>
            <a:ext cx="5608320" cy="82296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5760" y="4903470"/>
            <a:ext cx="33649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77926" y="5026914"/>
            <a:ext cx="672998" cy="5760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4009" y="5051602"/>
            <a:ext cx="616915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Calibri Light"/>
              </a:rPr>
              <a:t>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19174" y="4985766"/>
            <a:ext cx="4486656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 Light"/>
              </a:rPr>
              <a:t>Összefoglalás &amp; Demo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19174" y="5331409"/>
            <a:ext cx="4486656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 Light"/>
              </a:rPr>
              <a:t>Eredmények, következő lépések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7680" y="6309360"/>
            <a:ext cx="914400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785"/>
                </a:solidFill>
                <a:latin typeface="Calibri Light"/>
              </a:rPr>
              <a:t>Kutyamenhely – Mestermunka bemutatás  |  2026. április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6299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6299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171450"/>
            <a:ext cx="9144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A projekt bemutatása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685800"/>
            <a:ext cx="914400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  <a:latin typeface="Calibri Light"/>
              </a:rPr>
              <a:t>Robi &amp; Ricsi &amp; Norbi Kutyamenhelye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0150"/>
            <a:ext cx="5486400" cy="521208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0150"/>
            <a:ext cx="43891" cy="5212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617116"/>
            <a:ext cx="5157216" cy="1459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 Light"/>
              </a:rPr>
              <a:t>Mi ez az alkalmazás?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125980"/>
            <a:ext cx="48768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500" b="1">
                <a:solidFill>
                  <a:srgbClr val="FF6B35"/>
                </a:solidFill>
                <a:latin typeface="Calibri Light"/>
              </a:rPr>
              <a:t>▸  </a:t>
            </a:r>
            <a:r>
              <a:rPr sz="1500" b="0">
                <a:solidFill>
                  <a:srgbClr val="FFFFFF"/>
                </a:solidFill>
                <a:latin typeface="Calibri Light"/>
              </a:rPr>
              <a:t>Valós igényt kielégítő, teljes körű kutyamenhely-kezelő webalkalmazás</a:t>
            </a:r>
          </a:p>
          <a:p>
            <a:pPr/>
            <a:r>
              <a:rPr sz="1400" b="1">
                <a:solidFill>
                  <a:srgbClr val="00B4D8"/>
                </a:solidFill>
                <a:latin typeface="Calibri Light"/>
              </a:rPr>
              <a:t>•  </a:t>
            </a:r>
            <a:r>
              <a:rPr sz="1400" b="0">
                <a:solidFill>
                  <a:srgbClr val="B0C4DE"/>
                </a:solidFill>
                <a:latin typeface="Calibri Light"/>
              </a:rPr>
              <a:t>Örökbefogadás, adomány, kutya-böngészés és visszajelzések egy helyen</a:t>
            </a:r>
          </a:p>
          <a:p>
            <a:pPr/>
            <a:r>
              <a:rPr sz="1400" b="1">
                <a:solidFill>
                  <a:srgbClr val="00B4D8"/>
                </a:solidFill>
                <a:latin typeface="Calibri Light"/>
              </a:rPr>
              <a:t>•  </a:t>
            </a:r>
            <a:r>
              <a:rPr sz="1400" b="0">
                <a:solidFill>
                  <a:srgbClr val="B0C4DE"/>
                </a:solidFill>
                <a:latin typeface="Calibri Light"/>
              </a:rPr>
              <a:t>Reszponzív dizájn – mobilon és asztali gépen egyaránt</a:t>
            </a:r>
          </a:p>
          <a:p>
            <a:pPr/>
            <a:r>
              <a:rPr sz="800" b="0">
                <a:solidFill>
                  <a:srgbClr val="B0C4DE"/>
                </a:solidFill>
                <a:latin typeface="Calibri Light"/>
              </a:rPr>
              <a:t/>
            </a:r>
          </a:p>
          <a:p>
            <a:pPr/>
            <a:r>
              <a:rPr sz="1500" b="1">
                <a:solidFill>
                  <a:srgbClr val="FF6B35"/>
                </a:solidFill>
                <a:latin typeface="Calibri Light"/>
              </a:rPr>
              <a:t>▸  </a:t>
            </a:r>
            <a:r>
              <a:rPr sz="1500" b="0">
                <a:solidFill>
                  <a:srgbClr val="FFFFFF"/>
                </a:solidFill>
                <a:latin typeface="Calibri Light"/>
              </a:rPr>
              <a:t>Célcsoport</a:t>
            </a:r>
          </a:p>
          <a:p>
            <a:pPr/>
            <a:r>
              <a:rPr sz="1400" b="1">
                <a:solidFill>
                  <a:srgbClr val="00B4D8"/>
                </a:solidFill>
                <a:latin typeface="Calibri Light"/>
              </a:rPr>
              <a:t>•  </a:t>
            </a:r>
            <a:r>
              <a:rPr sz="1400" b="0">
                <a:solidFill>
                  <a:srgbClr val="B0C4DE"/>
                </a:solidFill>
                <a:latin typeface="Calibri Light"/>
              </a:rPr>
              <a:t>Kutyamenhelyek adminisztrátorai és dolgozói</a:t>
            </a:r>
          </a:p>
          <a:p>
            <a:pPr/>
            <a:r>
              <a:rPr sz="1400" b="1">
                <a:solidFill>
                  <a:srgbClr val="00B4D8"/>
                </a:solidFill>
                <a:latin typeface="Calibri Light"/>
              </a:rPr>
              <a:t>•  </a:t>
            </a:r>
            <a:r>
              <a:rPr sz="1400" b="0">
                <a:solidFill>
                  <a:srgbClr val="B0C4DE"/>
                </a:solidFill>
                <a:latin typeface="Calibri Light"/>
              </a:rPr>
              <a:t>Örökbefogadni kívánó felhasználók</a:t>
            </a:r>
          </a:p>
          <a:p>
            <a:pPr/>
            <a:r>
              <a:rPr sz="800" b="0">
                <a:solidFill>
                  <a:srgbClr val="B0C4DE"/>
                </a:solidFill>
                <a:latin typeface="Calibri Light"/>
              </a:rPr>
              <a:t/>
            </a:r>
          </a:p>
          <a:p>
            <a:pPr/>
            <a:r>
              <a:rPr sz="1500" b="1">
                <a:solidFill>
                  <a:srgbClr val="FF6B35"/>
                </a:solidFill>
                <a:latin typeface="Calibri Light"/>
              </a:rPr>
              <a:t>▸  </a:t>
            </a:r>
            <a:r>
              <a:rPr sz="1500" b="0">
                <a:solidFill>
                  <a:srgbClr val="FFFFFF"/>
                </a:solidFill>
                <a:latin typeface="Calibri Light"/>
              </a:rPr>
              <a:t>Elérés</a:t>
            </a:r>
          </a:p>
          <a:p>
            <a:pPr/>
            <a:r>
              <a:rPr sz="1400" b="1">
                <a:solidFill>
                  <a:srgbClr val="00B4D8"/>
                </a:solidFill>
                <a:latin typeface="Calibri Light"/>
              </a:rPr>
              <a:t>•  </a:t>
            </a:r>
            <a:r>
              <a:rPr sz="1400" b="0">
                <a:solidFill>
                  <a:srgbClr val="B0C4DE"/>
                </a:solidFill>
                <a:latin typeface="Calibri Light"/>
              </a:rPr>
              <a:t>Böngészőből futtatható, Node.js + MySQL alapú backend</a:t>
            </a:r>
          </a:p>
          <a:p>
            <a:pPr/>
            <a:r>
              <a:rPr sz="1400" b="1">
                <a:solidFill>
                  <a:srgbClr val="00B4D8"/>
                </a:solidFill>
                <a:latin typeface="Calibri Light"/>
              </a:rPr>
              <a:t>•  </a:t>
            </a:r>
            <a:r>
              <a:rPr sz="1400" b="0">
                <a:solidFill>
                  <a:srgbClr val="B0C4DE"/>
                </a:solidFill>
                <a:latin typeface="Calibri Light"/>
              </a:rPr>
              <a:t>Ngrok-on keresztül nyilvánosan is tesztelve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6960" y="1200150"/>
            <a:ext cx="5669280" cy="164592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56960" y="1200150"/>
            <a:ext cx="45354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384" y="1331823"/>
            <a:ext cx="5329123" cy="46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 Light"/>
              </a:rPr>
              <a:t>Projekt adatok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760" y="2023110"/>
            <a:ext cx="512064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400" b="1">
                <a:solidFill>
                  <a:srgbClr val="FFD166"/>
                </a:solidFill>
                <a:latin typeface="Calibri Light"/>
              </a:rPr>
              <a:t>📅  </a:t>
            </a:r>
            <a:r>
              <a:rPr sz="1400" b="0">
                <a:solidFill>
                  <a:srgbClr val="B0C4DE"/>
                </a:solidFill>
                <a:latin typeface="Calibri Light"/>
              </a:rPr>
              <a:t>Időtartam: 2025 október – 2026 április</a:t>
            </a:r>
          </a:p>
          <a:p>
            <a:pPr/>
            <a:r>
              <a:rPr sz="1400" b="1">
                <a:solidFill>
                  <a:srgbClr val="FFD166"/>
                </a:solidFill>
                <a:latin typeface="Calibri Light"/>
              </a:rPr>
              <a:t>👥  </a:t>
            </a:r>
            <a:r>
              <a:rPr sz="1400" b="0">
                <a:solidFill>
                  <a:srgbClr val="B0C4DE"/>
                </a:solidFill>
                <a:latin typeface="Calibri Light"/>
              </a:rPr>
              <a:t>Csapat: 3 fő  |  Szakma: Webfejlesztő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6960" y="3017520"/>
            <a:ext cx="5669280" cy="168021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6960" y="3017520"/>
            <a:ext cx="45354" cy="168021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384" y="3151936"/>
            <a:ext cx="5329123" cy="470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 Light"/>
              </a:rPr>
              <a:t>Statisztikák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760" y="3874769"/>
            <a:ext cx="512064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400" b="1">
                <a:solidFill>
                  <a:srgbClr val="FFD166"/>
                </a:solidFill>
                <a:latin typeface="Calibri Light"/>
              </a:rPr>
              <a:t>📊  </a:t>
            </a:r>
            <a:r>
              <a:rPr sz="1400" b="0">
                <a:solidFill>
                  <a:srgbClr val="B0C4DE"/>
                </a:solidFill>
                <a:latin typeface="Calibri Light"/>
              </a:rPr>
              <a:t>~2 400 sor szerver kód (server.js)</a:t>
            </a:r>
          </a:p>
          <a:p>
            <a:pPr/>
            <a:r>
              <a:rPr sz="1400" b="1">
                <a:solidFill>
                  <a:srgbClr val="FFD166"/>
                </a:solidFill>
                <a:latin typeface="Calibri Light"/>
              </a:rPr>
              <a:t>🐶  </a:t>
            </a:r>
            <a:r>
              <a:rPr sz="1400" b="0">
                <a:solidFill>
                  <a:srgbClr val="B0C4DE"/>
                </a:solidFill>
                <a:latin typeface="Calibri Light"/>
              </a:rPr>
              <a:t>42 kutyafajta az adatbázisban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6960" y="4834890"/>
            <a:ext cx="5669280" cy="164592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6960" y="4834890"/>
            <a:ext cx="45354" cy="1645920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384" y="4966563"/>
            <a:ext cx="5329123" cy="46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 Light"/>
              </a:rPr>
              <a:t>Főbb oldalak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760" y="5671566"/>
            <a:ext cx="512064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57CC99"/>
                </a:solidFill>
                <a:latin typeface="Calibri Light"/>
              </a:rPr>
              <a:t>📄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index · reg · login · profil · admin · játék</a:t>
            </a:r>
          </a:p>
          <a:p>
            <a:pPr/>
            <a:r>
              <a:rPr sz="1300" b="1">
                <a:solidFill>
                  <a:srgbClr val="57CC99"/>
                </a:solidFill>
                <a:latin typeface="Calibri Light"/>
              </a:rPr>
              <a:t>📄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Elfelejtett jelszó, feltételek, admin panel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680" y="6309360"/>
            <a:ext cx="914400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785"/>
                </a:solidFill>
                <a:latin typeface="Calibri Light"/>
              </a:rPr>
              <a:t>Kutyamenhely – Mestermunka bemutatás  |  2026. április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6299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6299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171450"/>
            <a:ext cx="9144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Csapattagok és feladatok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685800"/>
            <a:ext cx="914400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  <a:latin typeface="Calibri Light"/>
              </a:rPr>
              <a:t>Csapat: 3 fő  |  Szakma: Webfejlesztő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" y="1200150"/>
            <a:ext cx="3657600" cy="528066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200150"/>
            <a:ext cx="3657600" cy="37719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31264" y="1543050"/>
            <a:ext cx="804672" cy="804672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1264" y="1625346"/>
            <a:ext cx="804672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B35"/>
                </a:solidFill>
                <a:latin typeface="Calibri Light"/>
              </a:rPr>
              <a:t>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104" y="2606040"/>
            <a:ext cx="3401568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 Light"/>
              </a:rPr>
              <a:t>Toth Robert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104" y="3051810"/>
            <a:ext cx="3401568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6B35"/>
                </a:solidFill>
                <a:latin typeface="Calibri Light"/>
              </a:rPr>
              <a:t>Backend fejlesztő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0560" y="3429000"/>
            <a:ext cx="292608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4256" y="3531870"/>
            <a:ext cx="3218688" cy="2811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200" b="1">
                <a:solidFill>
                  <a:srgbClr val="FF6B35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Express.js REST API tervezése és fejlesztése</a:t>
            </a:r>
          </a:p>
          <a:p>
            <a:pPr/>
            <a:r>
              <a:rPr sz="1200" b="1">
                <a:solidFill>
                  <a:srgbClr val="FF6B35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Session-kezelés, cookie konfiguráció</a:t>
            </a:r>
          </a:p>
          <a:p>
            <a:pPr/>
            <a:r>
              <a:rPr sz="1200" b="1">
                <a:solidFill>
                  <a:srgbClr val="FF6B35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Email értesítések (Nodemailer / Gmail SMTP)</a:t>
            </a:r>
          </a:p>
          <a:p>
            <a:pPr/>
            <a:r>
              <a:rPr sz="1200" b="1">
                <a:solidFill>
                  <a:srgbClr val="FF6B35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Biztonsági réteg: bcrypt, helmet, rate-limit</a:t>
            </a:r>
          </a:p>
          <a:p>
            <a:pPr/>
            <a:r>
              <a:rPr sz="1200" b="1">
                <a:solidFill>
                  <a:srgbClr val="FF6B35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CSRF-védelem, input validáció (validator.js)</a:t>
            </a:r>
          </a:p>
          <a:p>
            <a:pPr/>
            <a:r>
              <a:rPr sz="1200" b="1">
                <a:solidFill>
                  <a:srgbClr val="FF6B35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Szerver konfiguráció, deployment (ngrok)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1855" y="1200150"/>
            <a:ext cx="3657600" cy="528066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81855" y="1200150"/>
            <a:ext cx="3657600" cy="37719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08319" y="1543050"/>
            <a:ext cx="804672" cy="804672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08319" y="1625346"/>
            <a:ext cx="804672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  <a:latin typeface="Calibri Light"/>
              </a:rP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8159" y="2606040"/>
            <a:ext cx="3401568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 Light"/>
              </a:rPr>
              <a:t>Szentpali Richard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8159" y="3051810"/>
            <a:ext cx="3401568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B4D8"/>
                </a:solidFill>
                <a:latin typeface="Calibri Light"/>
              </a:rPr>
              <a:t>Frontend fejlesztő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47615" y="3429000"/>
            <a:ext cx="292608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1311" y="3531870"/>
            <a:ext cx="3218688" cy="2811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2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Bootstrap 4 + Tailwind CSS reszponzív UI</a:t>
            </a:r>
          </a:p>
          <a:p>
            <a:pPr/>
            <a:r>
              <a:rPr sz="12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Bejelentkezési és regisztrációs logika (JS)</a:t>
            </a:r>
          </a:p>
          <a:p>
            <a:pPr/>
            <a:r>
              <a:rPr sz="12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Profiloldal – adatmódosítás, képfeltöltés</a:t>
            </a:r>
          </a:p>
          <a:p>
            <a:pPr/>
            <a:r>
              <a:rPr sz="12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Admin panel frontend (kutya kezelés)</a:t>
            </a:r>
          </a:p>
          <a:p>
            <a:pPr/>
            <a:r>
              <a:rPr sz="12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Fetch API alapú AJAX hívások</a:t>
            </a:r>
          </a:p>
          <a:p>
            <a:pPr/>
            <a:r>
              <a:rPr sz="12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Animációk, UX javítások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58910" y="1200150"/>
            <a:ext cx="3657600" cy="528066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58910" y="1200150"/>
            <a:ext cx="3657600" cy="377190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85374" y="1543050"/>
            <a:ext cx="804672" cy="804672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85374" y="1625346"/>
            <a:ext cx="804672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57CC99"/>
                </a:solidFill>
                <a:latin typeface="Calibri Light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5214" y="2606040"/>
            <a:ext cx="3401568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 Light"/>
              </a:rPr>
              <a:t>Acs Norbert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5214" y="3051810"/>
            <a:ext cx="3401568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7CC99"/>
                </a:solidFill>
                <a:latin typeface="Calibri Light"/>
              </a:rPr>
              <a:t>Adatbázis &amp; Tesztelő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24670" y="3429000"/>
            <a:ext cx="2926080" cy="27432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8366" y="3531870"/>
            <a:ext cx="3218688" cy="2811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200" b="1">
                <a:solidFill>
                  <a:srgbClr val="57CC99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MySQL séma tervezése, táblák létrehozása</a:t>
            </a:r>
          </a:p>
          <a:p>
            <a:pPr/>
            <a:r>
              <a:rPr sz="1200" b="1">
                <a:solidFill>
                  <a:srgbClr val="57CC99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Idegen kulcs kapcsolatok (FK) beállítása</a:t>
            </a:r>
          </a:p>
          <a:p>
            <a:pPr/>
            <a:r>
              <a:rPr sz="1200" b="1">
                <a:solidFill>
                  <a:srgbClr val="57CC99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42 kutyafajta bejövő adatbetöltése</a:t>
            </a:r>
          </a:p>
          <a:p>
            <a:pPr/>
            <a:r>
              <a:rPr sz="1200" b="1">
                <a:solidFill>
                  <a:srgbClr val="57CC99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Funkcionális tesztelés végponttól végpontig</a:t>
            </a:r>
          </a:p>
          <a:p>
            <a:pPr/>
            <a:r>
              <a:rPr sz="1200" b="1">
                <a:solidFill>
                  <a:srgbClr val="57CC99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Hibakeresés, regressziós tesztek</a:t>
            </a:r>
          </a:p>
          <a:p>
            <a:pPr/>
            <a:r>
              <a:rPr sz="1200" b="1">
                <a:solidFill>
                  <a:srgbClr val="57CC99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SQL lekérdezés optimalizálás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680" y="6309360"/>
            <a:ext cx="914400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785"/>
                </a:solidFill>
                <a:latin typeface="Calibri Light"/>
              </a:rPr>
              <a:t>Kutyamenhely – Mestermunka bemutatás  |  2026. április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6299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6299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171450"/>
            <a:ext cx="9144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Alkalmazott technológiák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685800"/>
            <a:ext cx="914400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  <a:latin typeface="Calibri Light"/>
              </a:rPr>
              <a:t>Full-stack JavaScript (Node.js) + MySQL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" y="1179576"/>
            <a:ext cx="3596640" cy="534924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179576"/>
            <a:ext cx="3596640" cy="44577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0598" y="1248156"/>
            <a:ext cx="3236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2A"/>
                </a:solidFill>
                <a:latin typeface="Calibri Light"/>
              </a:rPr>
              <a:t>⚡ 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0598" y="1748790"/>
            <a:ext cx="3165043" cy="459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200" b="1">
                <a:solidFill>
                  <a:srgbClr val="FF6B35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Node.js + Express 5  –  REST API szerver</a:t>
            </a:r>
          </a:p>
          <a:p>
            <a:pPr/>
            <a:r>
              <a:rPr sz="1200" b="1">
                <a:solidFill>
                  <a:srgbClr val="FF6B35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mysql2  –  adatbázis-kommunikáció (prepared stmt.)</a:t>
            </a:r>
          </a:p>
          <a:p>
            <a:pPr/>
            <a:r>
              <a:rPr sz="1200" b="1">
                <a:solidFill>
                  <a:srgbClr val="FF6B35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bcrypt  –  jelszó hash-elés (cost factor 10)</a:t>
            </a:r>
          </a:p>
          <a:p>
            <a:pPr/>
            <a:r>
              <a:rPr sz="1200" b="1">
                <a:solidFill>
                  <a:srgbClr val="FF6B35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nodemailer  –  email értesítések (Gmail SMTP)</a:t>
            </a:r>
          </a:p>
          <a:p>
            <a:pPr/>
            <a:r>
              <a:rPr sz="1200" b="1">
                <a:solidFill>
                  <a:srgbClr val="FF6B35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multer  –  képfeltöltés + fájltípus-ellenőrzés</a:t>
            </a:r>
          </a:p>
          <a:p>
            <a:pPr/>
            <a:r>
              <a:rPr sz="1200" b="1">
                <a:solidFill>
                  <a:srgbClr val="FF6B35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express-session  –  session alapú hitelesítés</a:t>
            </a:r>
          </a:p>
          <a:p>
            <a:pPr/>
            <a:r>
              <a:rPr sz="1200" b="1">
                <a:solidFill>
                  <a:srgbClr val="FF6B35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helmet  –  HTTP biztonsági fejlécek</a:t>
            </a:r>
          </a:p>
          <a:p>
            <a:pPr/>
            <a:r>
              <a:rPr sz="1200" b="1">
                <a:solidFill>
                  <a:srgbClr val="FF6B35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express-rate-limit  –  brute-force védelem</a:t>
            </a:r>
          </a:p>
          <a:p>
            <a:pPr/>
            <a:r>
              <a:rPr sz="1200" b="1">
                <a:solidFill>
                  <a:srgbClr val="FF6B35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validator.js  –  input validáció</a:t>
            </a:r>
          </a:p>
          <a:p>
            <a:pPr/>
            <a:r>
              <a:rPr sz="1200" b="1">
                <a:solidFill>
                  <a:srgbClr val="FF6B35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dotenv  –  környezeti változók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20895" y="1179576"/>
            <a:ext cx="3596640" cy="534924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0895" y="1179576"/>
            <a:ext cx="3596640" cy="44577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6693" y="1248156"/>
            <a:ext cx="3236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2A"/>
                </a:solidFill>
                <a:latin typeface="Calibri Light"/>
              </a:rPr>
              <a:t>🎨  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6693" y="1748790"/>
            <a:ext cx="3165043" cy="459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2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HTML5 + CSS3  –  szemantikus struktúra</a:t>
            </a:r>
          </a:p>
          <a:p>
            <a:pPr/>
            <a:r>
              <a:rPr sz="12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Bootstrap 4  –  reszponzív grid és komponensek</a:t>
            </a:r>
          </a:p>
          <a:p>
            <a:pPr/>
            <a:r>
              <a:rPr sz="12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Tailwind CSS  –  utility-first stílusok</a:t>
            </a:r>
          </a:p>
          <a:p>
            <a:pPr/>
            <a:r>
              <a:rPr sz="12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Vanilla JavaScript  –  fetch API, DOM manipuláció</a:t>
            </a:r>
          </a:p>
          <a:p>
            <a:pPr/>
            <a:r>
              <a:rPr sz="12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CSS animációk  –  loading spinner, hover effektek</a:t>
            </a:r>
          </a:p>
          <a:p>
            <a:pPr/>
            <a:r>
              <a:rPr sz="12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Font Awesome  –  ikonok</a:t>
            </a:r>
          </a:p>
          <a:p>
            <a:pPr/>
            <a:r>
              <a:rPr sz="12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Reszponzív layout  –  mobil, tablet, desktop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36990" y="1179576"/>
            <a:ext cx="3596640" cy="534924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36990" y="1179576"/>
            <a:ext cx="3596640" cy="445770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88" y="1248156"/>
            <a:ext cx="3236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2A"/>
                </a:solidFill>
                <a:latin typeface="Calibri Light"/>
              </a:rPr>
              <a:t>🗄️  Adatbázis &amp; Eszközök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2788" y="1748790"/>
            <a:ext cx="3165043" cy="459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200" b="1">
                <a:solidFill>
                  <a:srgbClr val="57CC99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MariaDB 10.4 / MySQL  –  relációs adatbázis</a:t>
            </a:r>
          </a:p>
          <a:p>
            <a:pPr/>
            <a:r>
              <a:rPr sz="1200" b="1">
                <a:solidFill>
                  <a:srgbClr val="57CC99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utf8mb4 charset  –  teljes Unicode (emoji) támogatás</a:t>
            </a:r>
          </a:p>
          <a:p>
            <a:pPr/>
            <a:r>
              <a:rPr sz="1200" b="1">
                <a:solidFill>
                  <a:srgbClr val="57CC99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Idegen kulcsok (FK)  –  referenciális integritás</a:t>
            </a:r>
          </a:p>
          <a:p>
            <a:pPr/>
            <a:r>
              <a:rPr sz="1200" b="1">
                <a:solidFill>
                  <a:srgbClr val="57CC99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phpMyAdmin  –  vizuális adatbázis-kezelés</a:t>
            </a:r>
          </a:p>
          <a:p>
            <a:pPr/>
            <a:r>
              <a:rPr sz="1200" b="1">
                <a:solidFill>
                  <a:srgbClr val="57CC99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ngrok  –  nyilvános tesztelés (HTTP tunnel)</a:t>
            </a:r>
          </a:p>
          <a:p>
            <a:pPr/>
            <a:r>
              <a:rPr sz="1200" b="1">
                <a:solidFill>
                  <a:srgbClr val="57CC99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Git + GitHub  –  verziókezelés, együttműködés</a:t>
            </a:r>
          </a:p>
          <a:p>
            <a:pPr/>
            <a:r>
              <a:rPr sz="1200" b="1">
                <a:solidFill>
                  <a:srgbClr val="57CC99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VS Code  –  fejlesztői környezet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680" y="6309360"/>
            <a:ext cx="914400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785"/>
                </a:solidFill>
                <a:latin typeface="Calibri Light"/>
              </a:rPr>
              <a:t>Kutyamenhely – Mestermunka bemutatás  |  2026. április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6299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6299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171450"/>
            <a:ext cx="9144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Adatbázis-struktúra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685800"/>
            <a:ext cx="914400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  <a:latin typeface="Calibri Light"/>
              </a:rPr>
              <a:t>Adatbázis neve: menhely  |  MariaDB 10.4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120640" cy="534924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40965" cy="53492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4982" y="1662379"/>
            <a:ext cx="4813401" cy="1497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 Light"/>
              </a:rPr>
              <a:t>Táblák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125980"/>
            <a:ext cx="4511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400" b="1">
                <a:solidFill>
                  <a:srgbClr val="FF6B35"/>
                </a:solidFill>
                <a:latin typeface="Calibri Light"/>
              </a:rPr>
              <a:t>▸  </a:t>
            </a:r>
            <a:r>
              <a:rPr sz="1400" b="1">
                <a:solidFill>
                  <a:srgbClr val="FFFFFF"/>
                </a:solidFill>
                <a:latin typeface="Calibri Light"/>
              </a:rPr>
              <a:t>felhasznalok</a:t>
            </a:r>
          </a:p>
          <a:p>
            <a:pPr/>
            <a:r>
              <a:rPr sz="1100" b="0">
                <a:solidFill>
                  <a:srgbClr val="B0C4DE"/>
                </a:solidFill>
                <a:latin typeface="Calibri Light"/>
              </a:rPr>
              <a:t>id · felhasználónév · email · jelszó_hash · szerepkör · profilkép</a:t>
            </a:r>
          </a:p>
          <a:p>
            <a:pPr/>
            <a:r>
              <a:rPr sz="1400" b="1">
                <a:solidFill>
                  <a:srgbClr val="FF6B35"/>
                </a:solidFill>
                <a:latin typeface="Calibri Light"/>
              </a:rPr>
              <a:t>▸  </a:t>
            </a:r>
            <a:r>
              <a:rPr sz="1400" b="1">
                <a:solidFill>
                  <a:srgbClr val="FFFFFF"/>
                </a:solidFill>
                <a:latin typeface="Calibri Light"/>
              </a:rPr>
              <a:t>kutyak</a:t>
            </a:r>
          </a:p>
          <a:p>
            <a:pPr/>
            <a:r>
              <a:rPr sz="1100" b="0">
                <a:solidFill>
                  <a:srgbClr val="B0C4DE"/>
                </a:solidFill>
                <a:latin typeface="Calibri Light"/>
              </a:rPr>
              <a:t>id · név · kor · fajta_id · nem · státusz · leírás · képek</a:t>
            </a:r>
          </a:p>
          <a:p>
            <a:pPr/>
            <a:r>
              <a:rPr sz="1400" b="1">
                <a:solidFill>
                  <a:srgbClr val="FF6B35"/>
                </a:solidFill>
                <a:latin typeface="Calibri Light"/>
              </a:rPr>
              <a:t>▸  </a:t>
            </a:r>
            <a:r>
              <a:rPr sz="1400" b="1">
                <a:solidFill>
                  <a:srgbClr val="FFFFFF"/>
                </a:solidFill>
                <a:latin typeface="Calibri Light"/>
              </a:rPr>
              <a:t>fajtak</a:t>
            </a:r>
          </a:p>
          <a:p>
            <a:pPr/>
            <a:r>
              <a:rPr sz="1100" b="0">
                <a:solidFill>
                  <a:srgbClr val="B0C4DE"/>
                </a:solidFill>
                <a:latin typeface="Calibri Light"/>
              </a:rPr>
              <a:t>id · fajta_neve  (42 bejegyzés)</a:t>
            </a:r>
          </a:p>
          <a:p>
            <a:pPr/>
            <a:r>
              <a:rPr sz="1400" b="1">
                <a:solidFill>
                  <a:srgbClr val="FF6B35"/>
                </a:solidFill>
                <a:latin typeface="Calibri Light"/>
              </a:rPr>
              <a:t>▸  </a:t>
            </a:r>
            <a:r>
              <a:rPr sz="1400" b="1">
                <a:solidFill>
                  <a:srgbClr val="FFFFFF"/>
                </a:solidFill>
                <a:latin typeface="Calibri Light"/>
              </a:rPr>
              <a:t>visszajelzesek</a:t>
            </a:r>
          </a:p>
          <a:p>
            <a:pPr/>
            <a:r>
              <a:rPr sz="1100" b="0">
                <a:solidFill>
                  <a:srgbClr val="B0C4DE"/>
                </a:solidFill>
                <a:latin typeface="Calibri Light"/>
              </a:rPr>
              <a:t>id · felhasznalo_id · szöveg · csillagok · dátum</a:t>
            </a:r>
          </a:p>
          <a:p>
            <a:pPr/>
            <a:r>
              <a:rPr sz="1400" b="1">
                <a:solidFill>
                  <a:srgbClr val="FF6B35"/>
                </a:solidFill>
                <a:latin typeface="Calibri Light"/>
              </a:rPr>
              <a:t>▸  </a:t>
            </a:r>
            <a:r>
              <a:rPr sz="1400" b="1">
                <a:solidFill>
                  <a:srgbClr val="FFFFFF"/>
                </a:solidFill>
                <a:latin typeface="Calibri Light"/>
              </a:rPr>
              <a:t>örökbefogadások</a:t>
            </a:r>
          </a:p>
          <a:p>
            <a:pPr/>
            <a:r>
              <a:rPr sz="1100" b="0">
                <a:solidFill>
                  <a:srgbClr val="B0C4DE"/>
                </a:solidFill>
                <a:latin typeface="Calibri Light"/>
              </a:rPr>
              <a:t>id · kutya_id · felhasznalo_id · dátum · státusz</a:t>
            </a:r>
          </a:p>
          <a:p>
            <a:pPr/>
            <a:r>
              <a:rPr sz="1400" b="1">
                <a:solidFill>
                  <a:srgbClr val="FF6B35"/>
                </a:solidFill>
                <a:latin typeface="Calibri Light"/>
              </a:rPr>
              <a:t>▸  </a:t>
            </a:r>
            <a:r>
              <a:rPr sz="1400" b="1">
                <a:solidFill>
                  <a:srgbClr val="FFFFFF"/>
                </a:solidFill>
                <a:latin typeface="Calibri Light"/>
              </a:rPr>
              <a:t>adományok</a:t>
            </a:r>
          </a:p>
          <a:p>
            <a:pPr/>
            <a:r>
              <a:rPr sz="1100" b="0">
                <a:solidFill>
                  <a:srgbClr val="B0C4DE"/>
                </a:solidFill>
                <a:latin typeface="Calibri Light"/>
              </a:rPr>
              <a:t>id · felhasznalo_id · összeg · dátum · megjegyzés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30240" y="1234440"/>
            <a:ext cx="6096000" cy="253746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30240" y="1234440"/>
            <a:ext cx="48768" cy="25374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437436"/>
            <a:ext cx="5730240" cy="710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 Light"/>
              </a:rPr>
              <a:t>Kapcsolatok (FK)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74080" y="2091690"/>
            <a:ext cx="560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00B4D8"/>
                </a:solidFill>
                <a:latin typeface="Calibri Light"/>
              </a:rPr>
              <a:t>🔗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kutyak.fajta_id  →  fajtak.fajta_id</a:t>
            </a:r>
          </a:p>
          <a:p>
            <a:pPr/>
            <a:r>
              <a:rPr sz="1300" b="1">
                <a:solidFill>
                  <a:srgbClr val="00B4D8"/>
                </a:solidFill>
                <a:latin typeface="Calibri Light"/>
              </a:rPr>
              <a:t>🔗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visszajelzesek.felhasznalo_id  →  felhasznalok.felhasznalo_id</a:t>
            </a:r>
          </a:p>
          <a:p>
            <a:pPr/>
            <a:r>
              <a:rPr sz="1300" b="1">
                <a:solidFill>
                  <a:srgbClr val="00B4D8"/>
                </a:solidFill>
                <a:latin typeface="Calibri Light"/>
              </a:rPr>
              <a:t>🔗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örökbefogadások.kutya_id  →  kutyak.id</a:t>
            </a:r>
          </a:p>
          <a:p>
            <a:pPr/>
            <a:r>
              <a:rPr sz="1300" b="1">
                <a:solidFill>
                  <a:srgbClr val="00B4D8"/>
                </a:solidFill>
                <a:latin typeface="Calibri Light"/>
              </a:rPr>
              <a:t>🔗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adományok.felhasznalo_id  →  felhasznalok.felhasznalo_id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30240" y="3943349"/>
            <a:ext cx="6096000" cy="260604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30240" y="3943349"/>
            <a:ext cx="48768" cy="2606040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4151832"/>
            <a:ext cx="573024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 Light"/>
              </a:rPr>
              <a:t>Biztonsági megoldások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4080" y="4800600"/>
            <a:ext cx="560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57CC99"/>
                </a:solidFill>
                <a:latin typeface="Calibri Light"/>
              </a:rPr>
              <a:t>🔐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Minden jelszó kizárólag bcrypt-hashként tárolva</a:t>
            </a:r>
          </a:p>
          <a:p>
            <a:pPr/>
            <a:r>
              <a:rPr sz="1300" b="1">
                <a:solidFill>
                  <a:srgbClr val="57CC99"/>
                </a:solidFill>
                <a:latin typeface="Calibri Light"/>
              </a:rPr>
              <a:t>✅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utf8mb4 charset – emoji és speciális karakterek</a:t>
            </a:r>
          </a:p>
          <a:p>
            <a:pPr/>
            <a:r>
              <a:rPr sz="1300" b="1">
                <a:solidFill>
                  <a:srgbClr val="57CC99"/>
                </a:solidFill>
                <a:latin typeface="Calibri Light"/>
              </a:rPr>
              <a:t>✅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Prepared statements – SQL injection ellen</a:t>
            </a:r>
          </a:p>
          <a:p>
            <a:pPr/>
            <a:r>
              <a:rPr sz="1300" b="1">
                <a:solidFill>
                  <a:srgbClr val="57CC99"/>
                </a:solidFill>
                <a:latin typeface="Calibri Light"/>
              </a:rPr>
              <a:t>✅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FK-ok CASCADE törlés – árva rekordok ellen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680" y="6309360"/>
            <a:ext cx="914400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785"/>
                </a:solidFill>
                <a:latin typeface="Calibri Light"/>
              </a:rPr>
              <a:t>Kutyamenhely – Mestermunka bemutatás  |  2026. április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6299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6299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171450"/>
            <a:ext cx="9144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Főbb funkciók és oldalak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685800"/>
            <a:ext cx="914400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  <a:latin typeface="Calibri Light"/>
              </a:rPr>
              <a:t>Reszponzív dizájn – mobilon és asztali gépen egyaránt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" y="1179576"/>
            <a:ext cx="3596640" cy="534924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179576"/>
            <a:ext cx="3596640" cy="44577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0598" y="1248156"/>
            <a:ext cx="3236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 Light"/>
              </a:rPr>
              <a:t>🌐 Nyilvános oldalak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0598" y="1748790"/>
            <a:ext cx="3165043" cy="459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FF6B35"/>
                </a:solidFill>
                <a:latin typeface="Calibri Light"/>
              </a:rPr>
              <a:t>›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Főoldal – kutyák listázása szűrővel (fajta, kor, nem, státusz)</a:t>
            </a:r>
          </a:p>
          <a:p>
            <a:pPr/>
            <a:r>
              <a:rPr sz="1300" b="1">
                <a:solidFill>
                  <a:srgbClr val="FF6B35"/>
                </a:solidFill>
                <a:latin typeface="Calibri Light"/>
              </a:rPr>
              <a:t>›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Örökbefogadási igény benyújtása (bejelentkezés szükséges)</a:t>
            </a:r>
          </a:p>
          <a:p>
            <a:pPr/>
            <a:r>
              <a:rPr sz="1300" b="1">
                <a:solidFill>
                  <a:srgbClr val="FF6B35"/>
                </a:solidFill>
                <a:latin typeface="Calibri Light"/>
              </a:rPr>
              <a:t>›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Adomány leadása a menhelynek</a:t>
            </a:r>
          </a:p>
          <a:p>
            <a:pPr/>
            <a:r>
              <a:rPr sz="1300" b="1">
                <a:solidFill>
                  <a:srgbClr val="FF6B35"/>
                </a:solidFill>
                <a:latin typeface="Calibri Light"/>
              </a:rPr>
              <a:t>›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Visszajelzések olvasása és írása (csillagos értékelés)</a:t>
            </a:r>
          </a:p>
          <a:p>
            <a:pPr/>
            <a:r>
              <a:rPr sz="1300" b="1">
                <a:solidFill>
                  <a:srgbClr val="FF6B35"/>
                </a:solidFill>
                <a:latin typeface="Calibri Light"/>
              </a:rPr>
              <a:t>›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Feltételek és adatvédelmi tájékoztató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20895" y="1179576"/>
            <a:ext cx="3596640" cy="534924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0895" y="1179576"/>
            <a:ext cx="3596640" cy="44577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6693" y="1248156"/>
            <a:ext cx="3236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 Light"/>
              </a:rPr>
              <a:t>👤 Felhasználói fiók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6693" y="1748790"/>
            <a:ext cx="3165043" cy="459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Regisztráció – email + jelszó validáció (min. 8 kar., szám, spec. kar.)</a:t>
            </a:r>
          </a:p>
          <a:p>
            <a:pPr/>
            <a:r>
              <a:rPr sz="13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Bejelentkezés session alapon (httpOnly cookie, SameSite=Lax)</a:t>
            </a:r>
          </a:p>
          <a:p>
            <a:pPr/>
            <a:r>
              <a:rPr sz="13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Elfelejtett jelszó – email alapú token visszaállítás</a:t>
            </a:r>
          </a:p>
          <a:p>
            <a:pPr/>
            <a:r>
              <a:rPr sz="13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Profiloldal – név, email, jelszó, profilkép módosítása</a:t>
            </a:r>
          </a:p>
          <a:p>
            <a:pPr/>
            <a:r>
              <a:rPr sz="13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Örökbefogadási előzmények megtekintése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36990" y="1179576"/>
            <a:ext cx="3596640" cy="534924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36990" y="1179576"/>
            <a:ext cx="3596640" cy="445770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88" y="1248156"/>
            <a:ext cx="3236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 Light"/>
              </a:rPr>
              <a:t>🎮 Játék oldal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2788" y="1748790"/>
            <a:ext cx="3165043" cy="459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57CC99"/>
                </a:solidFill>
                <a:latin typeface="Calibri Light"/>
              </a:rPr>
              <a:t>›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Interaktív mini-játék (jatek.js) – kutya téma</a:t>
            </a:r>
          </a:p>
          <a:p>
            <a:pPr/>
            <a:r>
              <a:rPr sz="1300" b="1">
                <a:solidFill>
                  <a:srgbClr val="57CC99"/>
                </a:solidFill>
                <a:latin typeface="Calibri Light"/>
              </a:rPr>
              <a:t>›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Canvas alapú animáció, billentyűzet vezérlés</a:t>
            </a:r>
          </a:p>
          <a:p>
            <a:pPr/>
            <a:r>
              <a:rPr sz="1300" b="1">
                <a:solidFill>
                  <a:srgbClr val="57CC99"/>
                </a:solidFill>
                <a:latin typeface="Calibri Light"/>
              </a:rPr>
              <a:t>›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Pontszám-számláló és legjobb eredmény mentése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680" y="6309360"/>
            <a:ext cx="914400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785"/>
                </a:solidFill>
                <a:latin typeface="Calibri Light"/>
              </a:rPr>
              <a:t>Kutyamenhely – Mestermunka bemutatás  |  2026. április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6299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6299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171450"/>
            <a:ext cx="9144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Admin és Dolgozó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685800"/>
            <a:ext cx="914400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  <a:latin typeface="Calibri Light"/>
              </a:rPr>
              <a:t>Szerepkör-alapú hozzáférés-vezérlés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486400" cy="534924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43891" cy="53492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662379"/>
            <a:ext cx="5157216" cy="1497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 Light"/>
              </a:rPr>
              <a:t>🛡️ Admin jogosultságok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125980"/>
            <a:ext cx="48768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400" b="1">
                <a:solidFill>
                  <a:srgbClr val="FF6B35"/>
                </a:solidFill>
                <a:latin typeface="Calibri Light"/>
              </a:rPr>
              <a:t>▸  </a:t>
            </a:r>
            <a:r>
              <a:rPr sz="1400" b="0">
                <a:solidFill>
                  <a:srgbClr val="B0C4DE"/>
                </a:solidFill>
                <a:latin typeface="Calibri Light"/>
              </a:rPr>
              <a:t>Kutya hozzáadása – fajta, kor, nem, leírás, képfeltöltés</a:t>
            </a:r>
          </a:p>
          <a:p>
            <a:pPr/>
            <a:r>
              <a:rPr sz="1400" b="1">
                <a:solidFill>
                  <a:srgbClr val="FF6B35"/>
                </a:solidFill>
                <a:latin typeface="Calibri Light"/>
              </a:rPr>
              <a:t>▸  </a:t>
            </a:r>
            <a:r>
              <a:rPr sz="1400" b="0">
                <a:solidFill>
                  <a:srgbClr val="B0C4DE"/>
                </a:solidFill>
                <a:latin typeface="Calibri Light"/>
              </a:rPr>
              <a:t>Kutya szerkesztése és törlése (képpel együtt)</a:t>
            </a:r>
          </a:p>
          <a:p>
            <a:pPr/>
            <a:r>
              <a:rPr sz="1400" b="1">
                <a:solidFill>
                  <a:srgbClr val="FF6B35"/>
                </a:solidFill>
                <a:latin typeface="Calibri Light"/>
              </a:rPr>
              <a:t>▸  </a:t>
            </a:r>
            <a:r>
              <a:rPr sz="1400" b="0">
                <a:solidFill>
                  <a:srgbClr val="B0C4DE"/>
                </a:solidFill>
                <a:latin typeface="Calibri Light"/>
              </a:rPr>
              <a:t>Felhasználók listázása és szerepkör-módosítása</a:t>
            </a:r>
          </a:p>
          <a:p>
            <a:pPr/>
            <a:r>
              <a:rPr sz="1400" b="1">
                <a:solidFill>
                  <a:srgbClr val="FF6B35"/>
                </a:solidFill>
                <a:latin typeface="Calibri Light"/>
              </a:rPr>
              <a:t>▸  </a:t>
            </a:r>
            <a:r>
              <a:rPr sz="1400" b="0">
                <a:solidFill>
                  <a:srgbClr val="B0C4DE"/>
                </a:solidFill>
                <a:latin typeface="Calibri Light"/>
              </a:rPr>
              <a:t>Visszajelzések moderálása és törlése</a:t>
            </a:r>
          </a:p>
          <a:p>
            <a:pPr/>
            <a:r>
              <a:rPr sz="1400" b="1">
                <a:solidFill>
                  <a:srgbClr val="FF6B35"/>
                </a:solidFill>
                <a:latin typeface="Calibri Light"/>
              </a:rPr>
              <a:t>▸  </a:t>
            </a:r>
            <a:r>
              <a:rPr sz="1400" b="0">
                <a:solidFill>
                  <a:srgbClr val="B0C4DE"/>
                </a:solidFill>
                <a:latin typeface="Calibri Light"/>
              </a:rPr>
              <a:t>Örökbefogadási kérelmek jóváhagyása / elutasítása</a:t>
            </a:r>
          </a:p>
          <a:p>
            <a:pPr/>
            <a:r>
              <a:rPr sz="1400" b="1">
                <a:solidFill>
                  <a:srgbClr val="FF6B35"/>
                </a:solidFill>
                <a:latin typeface="Calibri Light"/>
              </a:rPr>
              <a:t>▸  </a:t>
            </a:r>
            <a:r>
              <a:rPr sz="1400" b="0">
                <a:solidFill>
                  <a:srgbClr val="B0C4DE"/>
                </a:solidFill>
                <a:latin typeface="Calibri Light"/>
              </a:rPr>
              <a:t>Rendszerszintű logok és statisztikák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6960" y="1234440"/>
            <a:ext cx="5669280" cy="253746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56960" y="1234440"/>
            <a:ext cx="45354" cy="25374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384" y="1437436"/>
            <a:ext cx="5329123" cy="710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 Light"/>
              </a:rPr>
              <a:t>🔨 Dolgozó jogosultságok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25980"/>
            <a:ext cx="512064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Kutyák hozzáadása, szerkesztése, törlése</a:t>
            </a:r>
          </a:p>
          <a:p>
            <a:pPr/>
            <a:r>
              <a:rPr sz="13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Saját profil és profilkép módosítása</a:t>
            </a:r>
          </a:p>
          <a:p>
            <a:pPr/>
            <a:r>
              <a:rPr sz="1300" b="1">
                <a:solidFill>
                  <a:srgbClr val="FF6B6B"/>
                </a:solidFill>
                <a:latin typeface="Calibri Light"/>
              </a:rPr>
              <a:t>✗  </a:t>
            </a:r>
            <a:r>
              <a:rPr sz="1300" b="0">
                <a:solidFill>
                  <a:srgbClr val="FF6B6B"/>
                </a:solidFill>
                <a:latin typeface="Calibri Light"/>
              </a:rPr>
              <a:t>Nincs hozzáférése a felhasználók kezeléséhez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6960" y="3943349"/>
            <a:ext cx="5669280" cy="260604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6960" y="3943349"/>
            <a:ext cx="45354" cy="2606040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384" y="4151832"/>
            <a:ext cx="5329123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 Light"/>
              </a:rPr>
              <a:t>⚙️ Technikai megvalósítás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8006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57CC99"/>
                </a:solidFill>
                <a:latin typeface="Calibri Light"/>
              </a:rPr>
              <a:t>✅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Minden API endpoint session + szerepkör ellenőrzéssel</a:t>
            </a:r>
          </a:p>
          <a:p>
            <a:pPr/>
            <a:r>
              <a:rPr sz="1300" b="1">
                <a:solidFill>
                  <a:srgbClr val="57CC99"/>
                </a:solidFill>
                <a:latin typeface="Calibri Light"/>
              </a:rPr>
              <a:t>✅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Middleware: requireLogin(), requireAdmin(), requireDolgozoOrAdmin()</a:t>
            </a:r>
          </a:p>
          <a:p>
            <a:pPr/>
            <a:r>
              <a:rPr sz="1300" b="1">
                <a:solidFill>
                  <a:srgbClr val="57CC99"/>
                </a:solidFill>
                <a:latin typeface="Calibri Light"/>
              </a:rPr>
              <a:t>✅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Jogosulatlan kérések → 403 Forbidden válasz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680" y="6309360"/>
            <a:ext cx="914400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785"/>
                </a:solidFill>
                <a:latin typeface="Calibri Light"/>
              </a:rPr>
              <a:t>Kutyamenhely – Mestermunka bemutatás  |  2026. április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6299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6299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171450"/>
            <a:ext cx="9144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Biztonsági megoldások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685800"/>
            <a:ext cx="914400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  <a:latin typeface="Calibri Light"/>
              </a:rPr>
              <a:t>OWASP Top 10 elvek figyelembevételével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" y="1179576"/>
            <a:ext cx="3596640" cy="246888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179576"/>
            <a:ext cx="3596640" cy="407365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0598" y="1241298"/>
            <a:ext cx="3236976" cy="357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 Light"/>
              </a:rPr>
              <a:t>🔐 Hitelesítés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623974"/>
            <a:ext cx="3236976" cy="1925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200" b="1">
                <a:solidFill>
                  <a:srgbClr val="FF6B35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bcrypt (cost 10) – jelszavak soha nem plain-text</a:t>
            </a:r>
          </a:p>
          <a:p>
            <a:pPr/>
            <a:r>
              <a:rPr sz="1200" b="1">
                <a:solidFill>
                  <a:srgbClr val="FF6B35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express-session + httpOnly + SameSite=Lax cookie</a:t>
            </a:r>
          </a:p>
          <a:p>
            <a:pPr/>
            <a:r>
              <a:rPr sz="1200" b="1">
                <a:solidFill>
                  <a:srgbClr val="FF6B35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Token alapú jelszó-visszaállítás (e-mail link, lejárat)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1856" y="1179576"/>
            <a:ext cx="3596640" cy="246888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81856" y="1179576"/>
            <a:ext cx="3596640" cy="407365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7654" y="1241298"/>
            <a:ext cx="3236976" cy="357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 Light"/>
              </a:rPr>
              <a:t>🛡️ API-védelem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623974"/>
            <a:ext cx="3236976" cy="1925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2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express-rate-limit – brute-force védelem (login/reg)</a:t>
            </a:r>
          </a:p>
          <a:p>
            <a:pPr/>
            <a:r>
              <a:rPr sz="12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helmet – XSS, Clickjacking, MIME-sniffing elleni fejlécek</a:t>
            </a:r>
          </a:p>
          <a:p>
            <a:pPr/>
            <a:r>
              <a:rPr sz="12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CORS konfiguráció – csak engedélyezett originek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58912" y="1179576"/>
            <a:ext cx="3596640" cy="246888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8912" y="1179576"/>
            <a:ext cx="3596640" cy="407365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4710" y="1241298"/>
            <a:ext cx="3236976" cy="357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 Light"/>
              </a:rPr>
              <a:t>✅ Validáció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1623974"/>
            <a:ext cx="3236976" cy="1925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200" b="1">
                <a:solidFill>
                  <a:srgbClr val="57CC99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validator.js – email, hossz, speciális karakterek</a:t>
            </a:r>
          </a:p>
          <a:p>
            <a:pPr/>
            <a:r>
              <a:rPr sz="1200" b="1">
                <a:solidFill>
                  <a:srgbClr val="57CC99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Szerver oldali validáció MINDEN bemenetnél</a:t>
            </a:r>
          </a:p>
          <a:p>
            <a:pPr/>
            <a:r>
              <a:rPr sz="1200" b="1">
                <a:solidFill>
                  <a:srgbClr val="57CC99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Fájltípus és méretkorlát (multer fileFilter)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4800" y="3895343"/>
            <a:ext cx="3596640" cy="246888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4800" y="3895343"/>
            <a:ext cx="3596640" cy="407365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0598" y="3957065"/>
            <a:ext cx="3236976" cy="357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 Light"/>
              </a:rPr>
              <a:t>📁 Fájlkezelés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" y="4339741"/>
            <a:ext cx="3236976" cy="1925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200" b="1">
                <a:solidFill>
                  <a:srgbClr val="FFD166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Csak képek engedélyezve (.jpg .jpeg .png .gif .avif .webp)</a:t>
            </a:r>
          </a:p>
          <a:p>
            <a:pPr/>
            <a:r>
              <a:rPr sz="1200" b="1">
                <a:solidFill>
                  <a:srgbClr val="FFD166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Timestamp-alapú véletlenszerű fájlnév (path traversal ellen)</a:t>
            </a:r>
          </a:p>
          <a:p>
            <a:pPr/>
            <a:r>
              <a:rPr sz="1200" b="1">
                <a:solidFill>
                  <a:srgbClr val="FFD166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Képek statikus mappából (nem a dokumentumgyökérből)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81856" y="3895343"/>
            <a:ext cx="3596640" cy="246888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81856" y="3895343"/>
            <a:ext cx="3596640" cy="407365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97654" y="3957065"/>
            <a:ext cx="3236976" cy="357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 Light"/>
              </a:rPr>
              <a:t>🔒 Adatvédelem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339741"/>
            <a:ext cx="3236976" cy="1925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200" b="1">
                <a:solidFill>
                  <a:srgbClr val="C77DFF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Prepared statements – SQL injection megelőzése</a:t>
            </a:r>
          </a:p>
          <a:p>
            <a:pPr/>
            <a:r>
              <a:rPr sz="1200" b="1">
                <a:solidFill>
                  <a:srgbClr val="C77DFF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dotenv – titkos kulcsok verziókezelésen KÍVÜL</a:t>
            </a:r>
          </a:p>
          <a:p>
            <a:pPr/>
            <a:r>
              <a:rPr sz="1200" b="1">
                <a:solidFill>
                  <a:srgbClr val="C77DFF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Session store – szerver oldali (nem csak cookie)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58912" y="3895343"/>
            <a:ext cx="3596640" cy="246888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58912" y="3895343"/>
            <a:ext cx="3596640" cy="407365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4710" y="3957065"/>
            <a:ext cx="3236976" cy="357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 Light"/>
              </a:rPr>
              <a:t>⚠️ Hibakezelés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8744" y="4339741"/>
            <a:ext cx="3236976" cy="1925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200" b="1">
                <a:solidFill>
                  <a:srgbClr val="FF6B6B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Globális error handler – stack trace NEM szivárog clientre</a:t>
            </a:r>
          </a:p>
          <a:p>
            <a:pPr/>
            <a:r>
              <a:rPr sz="1200" b="1">
                <a:solidFill>
                  <a:srgbClr val="FF6B6B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HTTP 401/403/404/500 státuszkódok következetesen</a:t>
            </a:r>
          </a:p>
          <a:p>
            <a:pPr/>
            <a:r>
              <a:rPr sz="1200" b="1">
                <a:solidFill>
                  <a:srgbClr val="FF6B6B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Logolás szerver oldalon (konzol + jövőben fájlba)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680" y="6309360"/>
            <a:ext cx="914400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785"/>
                </a:solidFill>
                <a:latin typeface="Calibri Light"/>
              </a:rPr>
              <a:t>Kutyamenhely – Mestermunka bemutatás  |  2026. április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6299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6299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171450"/>
            <a:ext cx="9144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Felhasználói szerepkörök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685800"/>
            <a:ext cx="914400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  <a:latin typeface="Calibri Light"/>
              </a:rPr>
              <a:t>Hierarchia: admin › dolgozó › felhasználó › vendég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200150"/>
            <a:ext cx="2682240" cy="534924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200150"/>
            <a:ext cx="268224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9846" y="1268730"/>
            <a:ext cx="2414016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Calibri Light"/>
              </a:rP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201" y="1748790"/>
            <a:ext cx="2494483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Calibri Light"/>
              </a:rPr>
              <a:t>Teljes hozzáférés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7136" y="2125980"/>
            <a:ext cx="2145792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668" y="2228850"/>
            <a:ext cx="233354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200" b="1">
                <a:solidFill>
                  <a:srgbClr val="FF6B35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Kutyák, felhasználók kezelése</a:t>
            </a:r>
          </a:p>
          <a:p>
            <a:pPr/>
            <a:r>
              <a:rPr sz="1200" b="1">
                <a:solidFill>
                  <a:srgbClr val="FF6B35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Visszajelzések moderálása</a:t>
            </a:r>
          </a:p>
          <a:p>
            <a:pPr/>
            <a:r>
              <a:rPr sz="1200" b="1">
                <a:solidFill>
                  <a:srgbClr val="FF6B35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Szerepkörök módosítása</a:t>
            </a:r>
          </a:p>
          <a:p>
            <a:pPr/>
            <a:r>
              <a:rPr sz="1200" b="1">
                <a:solidFill>
                  <a:srgbClr val="FF6B35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Örökbefogadások jóváhagyása / elutasítása</a:t>
            </a:r>
          </a:p>
          <a:p>
            <a:pPr/>
            <a:r>
              <a:rPr sz="1200" b="1">
                <a:solidFill>
                  <a:srgbClr val="FF6B35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Rendszerszintű műveletek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6224" y="1200150"/>
            <a:ext cx="2682240" cy="534924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6224" y="1200150"/>
            <a:ext cx="268224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7158" y="1268730"/>
            <a:ext cx="2414016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Calibri Light"/>
              </a:rPr>
              <a:t>DOLGOZO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3513" y="1748790"/>
            <a:ext cx="2494483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  <a:latin typeface="Calibri Light"/>
              </a:rPr>
              <a:t>Kutyakezelő hozzáférés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84448" y="2125980"/>
            <a:ext cx="214579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3980" y="2228850"/>
            <a:ext cx="233354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2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Kutyák hozzáadása, szerkesztése, törlése</a:t>
            </a:r>
          </a:p>
          <a:p>
            <a:pPr/>
            <a:r>
              <a:rPr sz="12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Képfeltöltés kezelése</a:t>
            </a:r>
          </a:p>
          <a:p>
            <a:pPr/>
            <a:r>
              <a:rPr sz="12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Saját profil szerkesztése</a:t>
            </a:r>
          </a:p>
          <a:p>
            <a:pPr/>
            <a:r>
              <a:rPr sz="12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Felhasználókat nem kezelheti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3536" y="1200150"/>
            <a:ext cx="2682240" cy="534924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3536" y="1200150"/>
            <a:ext cx="2682240" cy="411480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4470" y="1268730"/>
            <a:ext cx="2414016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Calibri Light"/>
              </a:rPr>
              <a:t>FELHASZNALO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825" y="1748790"/>
            <a:ext cx="2494483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7CC99"/>
                </a:solidFill>
                <a:latin typeface="Calibri Light"/>
              </a:rPr>
              <a:t>Regisztrált user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61760" y="2125980"/>
            <a:ext cx="2145792" cy="27432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1292" y="2228850"/>
            <a:ext cx="233354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200" b="1">
                <a:solidFill>
                  <a:srgbClr val="57CC99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Kutyák böngészése és szűrése</a:t>
            </a:r>
          </a:p>
          <a:p>
            <a:pPr/>
            <a:r>
              <a:rPr sz="1200" b="1">
                <a:solidFill>
                  <a:srgbClr val="57CC99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Örökbefogadási igény benyújtása</a:t>
            </a:r>
          </a:p>
          <a:p>
            <a:pPr/>
            <a:r>
              <a:rPr sz="1200" b="1">
                <a:solidFill>
                  <a:srgbClr val="57CC99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Visszajelzés írása (1-5 csillag)</a:t>
            </a:r>
          </a:p>
          <a:p>
            <a:pPr/>
            <a:r>
              <a:rPr sz="1200" b="1">
                <a:solidFill>
                  <a:srgbClr val="57CC99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Saját profil és profilkép módosítás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0848" y="1200150"/>
            <a:ext cx="2682240" cy="534924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0848" y="1200150"/>
            <a:ext cx="2682240" cy="41148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1782" y="1268730"/>
            <a:ext cx="2414016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Calibri Light"/>
              </a:rPr>
              <a:t>VENDEG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8137" y="1748790"/>
            <a:ext cx="2494483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  <a:latin typeface="Calibri Light"/>
              </a:rPr>
              <a:t>Nem bejelentkezett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39072" y="2125980"/>
            <a:ext cx="2145792" cy="27432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58604" y="2228850"/>
            <a:ext cx="233354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200" b="1">
                <a:solidFill>
                  <a:srgbClr val="B0C4DE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Kutyák és tartalmak megtekintése</a:t>
            </a:r>
          </a:p>
          <a:p>
            <a:pPr/>
            <a:r>
              <a:rPr sz="1200" b="1">
                <a:solidFill>
                  <a:srgbClr val="B0C4DE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Adományozás lehetősége</a:t>
            </a:r>
          </a:p>
          <a:p>
            <a:pPr/>
            <a:r>
              <a:rPr sz="1200" b="1">
                <a:solidFill>
                  <a:srgbClr val="B0C4DE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Visszajelzések olvasása</a:t>
            </a:r>
          </a:p>
          <a:p>
            <a:pPr/>
            <a:r>
              <a:rPr sz="1200" b="1">
                <a:solidFill>
                  <a:srgbClr val="B0C4DE"/>
                </a:solidFill>
                <a:latin typeface="Calibri Light"/>
              </a:rPr>
              <a:t>›  </a:t>
            </a:r>
            <a:r>
              <a:rPr sz="1200" b="0">
                <a:solidFill>
                  <a:srgbClr val="B0C4DE"/>
                </a:solidFill>
                <a:latin typeface="Calibri Light"/>
              </a:rPr>
              <a:t>Nem tud igénylést / visszajelzést küldeni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0414" y="6035040"/>
            <a:ext cx="13655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0C4DE"/>
                </a:solidFill>
                <a:latin typeface="Calibri Light"/>
              </a:rPr>
              <a:t>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27726" y="6035040"/>
            <a:ext cx="13655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0C4DE"/>
                </a:solidFill>
                <a:latin typeface="Calibri Light"/>
              </a:rPr>
              <a:t>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05038" y="6035040"/>
            <a:ext cx="13655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0C4DE"/>
                </a:solidFill>
                <a:latin typeface="Calibri Light"/>
              </a:rPr>
              <a:t>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680" y="6309360"/>
            <a:ext cx="914400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785"/>
                </a:solidFill>
                <a:latin typeface="Calibri Light"/>
              </a:rPr>
              <a:t>Kutyamenhely – Mestermunka bemutatás  |  2026. április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6299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6299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171450"/>
            <a:ext cx="9144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Kihívások és megoldások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685800"/>
            <a:ext cx="914400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  <a:latin typeface="Calibri Light"/>
              </a:rPr>
              <a:t>Amit neheznek találtunk – és hogyan oldottuk meg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" y="1179576"/>
            <a:ext cx="3596640" cy="243459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179576"/>
            <a:ext cx="25176" cy="243459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665" y="1325651"/>
            <a:ext cx="3308908" cy="608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Session + ngrok konfiguráció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665" y="1958644"/>
            <a:ext cx="3308908" cy="153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 Light"/>
              </a:rPr>
              <a:t>A ngrok HTTPS tunnel miatt a session cookie nem terjedt át. Megoldás: trust proxy beállítás + SameSite=None;Secure, + explicit domain konfig.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1856" y="1179576"/>
            <a:ext cx="3596640" cy="243459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81856" y="1179576"/>
            <a:ext cx="25176" cy="243459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721" y="1325651"/>
            <a:ext cx="3308908" cy="608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Reszponzív email sablonok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721" y="1958644"/>
            <a:ext cx="3308908" cy="153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 Light"/>
              </a:rPr>
              <a:t>A Gmail HTML emailek sötét módban különböző klienseken eltorzultak. Megoldás: inline CSS, táblázatos layout, csak webbiztos fontok.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58912" y="1179576"/>
            <a:ext cx="3596640" cy="243459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8912" y="1179576"/>
            <a:ext cx="25176" cy="243459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777" y="1325651"/>
            <a:ext cx="3308908" cy="608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Multer + egyoldalas 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777" y="1958644"/>
            <a:ext cx="3308908" cy="153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 Light"/>
              </a:rPr>
              <a:t>A képfeltöltés és az adatmódosítás ugyanazon route-on volt. Megoldás: multipart/form-data kezelés, meglévő kép törlése csere előtt.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4800" y="3758184"/>
            <a:ext cx="3596640" cy="243459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4800" y="3758184"/>
            <a:ext cx="25176" cy="243459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665" y="3904259"/>
            <a:ext cx="3308908" cy="608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Git merge konfliktusok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665" y="4537252"/>
            <a:ext cx="3308908" cy="153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 Light"/>
              </a:rPr>
              <a:t>3 fejlesztő ugyanazon fájlokon dolgozott. Megoldás: feature branch-ek, pontosan meghatározott felelősségi körök.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81856" y="3758184"/>
            <a:ext cx="3596640" cy="243459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81856" y="3758184"/>
            <a:ext cx="25176" cy="2434590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5721" y="3904259"/>
            <a:ext cx="3308908" cy="608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SQL injection megelőzése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721" y="4537252"/>
            <a:ext cx="3308908" cy="153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 Light"/>
              </a:rPr>
              <a:t>Felhasználói input közvetlenül kerülhetett volna lekérdezésbe. Megoldás: mysql2 prepared statements minden query-nél.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58912" y="3758184"/>
            <a:ext cx="3596640" cy="243459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58912" y="3758184"/>
            <a:ext cx="25176" cy="243459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777" y="3904259"/>
            <a:ext cx="3308908" cy="608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Képnév ütközések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2777" y="4537252"/>
            <a:ext cx="3308908" cy="153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 Light"/>
              </a:rPr>
              <a:t>Ugyanolyan nevű képek felülírták egymást. Megoldás: Date.now() timestamp prefix minden feltöltölt fájlnévnél.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680" y="6309360"/>
            <a:ext cx="914400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785"/>
                </a:solidFill>
                <a:latin typeface="Calibri Light"/>
              </a:rPr>
              <a:t>Kutyamenhely – Mestermunka bemutatás  |  2026. április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6299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6299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171450"/>
            <a:ext cx="9144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Tanulságok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685800"/>
            <a:ext cx="914400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  <a:latin typeface="Calibri Light"/>
              </a:rPr>
              <a:t>Mit vinnénk magunkkal a következő projektbe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486400" cy="534924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43891" cy="53492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662379"/>
            <a:ext cx="5157216" cy="1497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 Light"/>
              </a:rPr>
              <a:t>💡 Technikai tanulságok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125980"/>
            <a:ext cx="48768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FF6B35"/>
                </a:solidFill>
                <a:latin typeface="Calibri Light"/>
              </a:rPr>
              <a:t>▸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A backend-biztonság nem opcionális, hanem alapkövetelmény</a:t>
            </a:r>
          </a:p>
          <a:p>
            <a:pPr/>
            <a:r>
              <a:rPr sz="1300" b="1">
                <a:solidFill>
                  <a:srgbClr val="FF6B35"/>
                </a:solidFill>
                <a:latin typeface="Calibri Light"/>
              </a:rPr>
              <a:t>▸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Valós adatbázis-tervezés a fejlesztés ELEJÉN – ne közben</a:t>
            </a:r>
          </a:p>
          <a:p>
            <a:pPr/>
            <a:r>
              <a:rPr sz="1300" b="1">
                <a:solidFill>
                  <a:srgbClr val="FF6B35"/>
                </a:solidFill>
                <a:latin typeface="Calibri Light"/>
              </a:rPr>
              <a:t>▸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Session-kezelés és HTTP fejlécek tesztelése élő environementben</a:t>
            </a:r>
          </a:p>
          <a:p>
            <a:pPr/>
            <a:r>
              <a:rPr sz="1300" b="1">
                <a:solidFill>
                  <a:srgbClr val="FF6B35"/>
                </a:solidFill>
                <a:latin typeface="Calibri Light"/>
              </a:rPr>
              <a:t>▸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Prepared statements szokássá kell váljon automatikusan</a:t>
            </a:r>
          </a:p>
          <a:p>
            <a:pPr/>
            <a:r>
              <a:rPr sz="1300" b="1">
                <a:solidFill>
                  <a:srgbClr val="FF6B35"/>
                </a:solidFill>
                <a:latin typeface="Calibri Light"/>
              </a:rPr>
              <a:t>▸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Környezeti változók (.env) soha ne kerüljenek git-be</a:t>
            </a:r>
          </a:p>
          <a:p>
            <a:pPr/>
            <a:r>
              <a:rPr sz="1300" b="1">
                <a:solidFill>
                  <a:srgbClr val="FF6B35"/>
                </a:solidFill>
                <a:latin typeface="Calibri Light"/>
              </a:rPr>
              <a:t>▸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Fájlfeltöltésnél mindig validáld a MIME-típust is, ne csak a kiterjesztést</a:t>
            </a:r>
          </a:p>
          <a:p>
            <a:pPr/>
            <a:r>
              <a:rPr sz="1300" b="1">
                <a:solidFill>
                  <a:srgbClr val="FF6B35"/>
                </a:solidFill>
                <a:latin typeface="Calibri Light"/>
              </a:rPr>
              <a:t>▸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Middleware-alapú jogosultság-ellenőrzés skálázható megoldás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6960" y="1234440"/>
            <a:ext cx="5669280" cy="253746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56960" y="1234440"/>
            <a:ext cx="45354" cy="25374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384" y="1437436"/>
            <a:ext cx="5329123" cy="710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 Light"/>
              </a:rPr>
              <a:t>🤝 Csapatmunka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25980"/>
            <a:ext cx="512064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Git feature branch-ek nélkül a merge rémálom</a:t>
            </a:r>
          </a:p>
          <a:p>
            <a:pPr/>
            <a:r>
              <a:rPr sz="13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Feladatok írott, pontos meghatározása csökkenti az ütközéseket</a:t>
            </a:r>
          </a:p>
          <a:p>
            <a:pPr/>
            <a:r>
              <a:rPr sz="13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Dokumentálás közben is, ne csak utána</a:t>
            </a:r>
          </a:p>
          <a:p>
            <a:pPr/>
            <a:r>
              <a:rPr sz="1300" b="1">
                <a:solidFill>
                  <a:srgbClr val="00B4D8"/>
                </a:solidFill>
                <a:latin typeface="Calibri Light"/>
              </a:rPr>
              <a:t>›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Kommunikáció = fél siker csapatprojektben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6960" y="3943349"/>
            <a:ext cx="5669280" cy="260604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6960" y="3943349"/>
            <a:ext cx="45354" cy="2606040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384" y="4151832"/>
            <a:ext cx="5329123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 Light"/>
              </a:rPr>
              <a:t>🚀 Következő lépések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8006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57CC99"/>
                </a:solidFill>
                <a:latin typeface="Calibri Light"/>
              </a:rPr>
              <a:t>🔜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Felhőbe telepítés (Railway / Render / VPS)</a:t>
            </a:r>
          </a:p>
          <a:p>
            <a:pPr/>
            <a:r>
              <a:rPr sz="1300" b="1">
                <a:solidFill>
                  <a:srgbClr val="57CC99"/>
                </a:solidFill>
                <a:latin typeface="Calibri Light"/>
              </a:rPr>
              <a:t>🔜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PWA / mobilalkalmazás készítése</a:t>
            </a:r>
          </a:p>
          <a:p>
            <a:pPr/>
            <a:r>
              <a:rPr sz="1300" b="1">
                <a:solidFill>
                  <a:srgbClr val="57CC99"/>
                </a:solidFill>
                <a:latin typeface="Calibri Light"/>
              </a:rPr>
              <a:t>🔜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Egységtesztek (Jest) és CI/CD pipeline</a:t>
            </a:r>
          </a:p>
          <a:p>
            <a:pPr/>
            <a:r>
              <a:rPr sz="1300" b="1">
                <a:solidFill>
                  <a:srgbClr val="57CC99"/>
                </a:solidFill>
                <a:latin typeface="Calibri Light"/>
              </a:rPr>
              <a:t>🔜  </a:t>
            </a:r>
            <a:r>
              <a:rPr sz="1300" b="0">
                <a:solidFill>
                  <a:srgbClr val="B0C4DE"/>
                </a:solidFill>
                <a:latin typeface="Calibri Light"/>
              </a:rPr>
              <a:t>Real-time értesítések (Socket.io)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680" y="6309360"/>
            <a:ext cx="914400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785"/>
                </a:solidFill>
                <a:latin typeface="Calibri Light"/>
              </a:rPr>
              <a:t>Kutyamenhely – Mestermunka bemutatás  |  2026. április</a:t>
            </a: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6299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6299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171450"/>
            <a:ext cx="9144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Összefoglalás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685800"/>
            <a:ext cx="914400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  <a:latin typeface="Calibri Light"/>
              </a:rPr>
              <a:t>Amit elkészítettünk és amit megtanultunk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0150"/>
            <a:ext cx="11460480" cy="534924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0150"/>
            <a:ext cx="60960" cy="53492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40180"/>
            <a:ext cx="48768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7CC99"/>
                </a:solidFill>
                <a:latin typeface="Calibri Light"/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1120" y="1440180"/>
            <a:ext cx="536448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 Light"/>
              </a:rPr>
              <a:t>Teljes körű, éles szintű webalkalmazás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7520" y="1440180"/>
            <a:ext cx="463296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 Light"/>
              </a:rPr>
              <a:t>Node.js + MySQL alapon, összes komponenssel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885950"/>
            <a:ext cx="9997440" cy="20574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98548"/>
            <a:ext cx="48768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7CC99"/>
                </a:solidFill>
                <a:latin typeface="Calibri Light"/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1120" y="2098548"/>
            <a:ext cx="536448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 Light"/>
              </a:rPr>
              <a:t>Regisztráció, bejelentkezés, profil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7520" y="2098548"/>
            <a:ext cx="463296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 Light"/>
              </a:rPr>
              <a:t>Session-alapú hitelesítés, jelszó-visszaállítás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544318"/>
            <a:ext cx="9997440" cy="20574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56916"/>
            <a:ext cx="48768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7CC99"/>
                </a:solidFill>
                <a:latin typeface="Calibri Light"/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1120" y="2756916"/>
            <a:ext cx="536448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 Light"/>
              </a:rPr>
              <a:t>Admin és dolgozó 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7520" y="2756916"/>
            <a:ext cx="463296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 Light"/>
              </a:rPr>
              <a:t>Kutya- és felhasználókezelés, képfeltöltéssel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202686"/>
            <a:ext cx="9997440" cy="20574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415284"/>
            <a:ext cx="48768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7CC99"/>
                </a:solidFill>
                <a:latin typeface="Calibri Light"/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1120" y="3415284"/>
            <a:ext cx="536448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 Light"/>
              </a:rPr>
              <a:t>Email értesítési rendszer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7520" y="3415284"/>
            <a:ext cx="463296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 Light"/>
              </a:rPr>
              <a:t>Jelszó-visszaállítás, örökbefogadás visszaigazolás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861054"/>
            <a:ext cx="9997440" cy="20574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073652"/>
            <a:ext cx="48768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7CC99"/>
                </a:solidFill>
                <a:latin typeface="Calibri Light"/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1120" y="4073652"/>
            <a:ext cx="536448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 Light"/>
              </a:rPr>
              <a:t>Biztonsági megoldások (OWASP alapján)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7520" y="4073652"/>
            <a:ext cx="463296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 Light"/>
              </a:rPr>
              <a:t>bcrypt, helmet, rate-limit, prepared statements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519422"/>
            <a:ext cx="9997440" cy="20574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732020"/>
            <a:ext cx="48768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7CC99"/>
                </a:solidFill>
                <a:latin typeface="Calibri Light"/>
              </a:rP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41120" y="4732020"/>
            <a:ext cx="536448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 Light"/>
              </a:rPr>
              <a:t>Interaktív játék funkció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7520" y="4732020"/>
            <a:ext cx="463296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 Light"/>
              </a:rPr>
              <a:t>Canvas-alapú mini-játék (jatek.js)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177790"/>
            <a:ext cx="9997440" cy="20574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390388"/>
            <a:ext cx="48768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7CC99"/>
                </a:solidFill>
                <a:latin typeface="Calibri Light"/>
              </a:rP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1120" y="5390388"/>
            <a:ext cx="536448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 Light"/>
              </a:rPr>
              <a:t>Full-stack csapatfejlesztés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27520" y="5390388"/>
            <a:ext cx="463296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 Light"/>
              </a:rPr>
              <a:t>Git alapú verziókezelés, feladatmegosztás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836158"/>
            <a:ext cx="9997440" cy="20574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7680" y="6309360"/>
            <a:ext cx="914400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785"/>
                </a:solidFill>
                <a:latin typeface="Calibri Light"/>
              </a:rPr>
              <a:t>Kutyamenhely – Mestermunka bemutatás  |  2026. április</a:t>
            </a: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31040" y="0"/>
            <a:ext cx="6096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67200" y="2400300"/>
            <a:ext cx="3657600" cy="205740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67200" y="2400300"/>
            <a:ext cx="36576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617220"/>
            <a:ext cx="1950720" cy="1508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0" y="2537460"/>
            <a:ext cx="85344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 Light"/>
              </a:rPr>
              <a:t>Köszönjük a figyelmet!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566160"/>
            <a:ext cx="853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6B35"/>
                </a:solidFill>
                <a:latin typeface="Calibri Light"/>
              </a:rPr>
              <a:t>🐾  Szívesen válaszolunk kérdésekre  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4251960"/>
            <a:ext cx="4876800" cy="3429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19200" y="4457700"/>
            <a:ext cx="97536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 Light"/>
              </a:rPr>
              <a:t>Toth Robert  ·  Szentpali Richard  ·  Acs Norbert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5040630"/>
            <a:ext cx="975360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C4DE"/>
                </a:solidFill>
                <a:latin typeface="Calibri Light"/>
              </a:rPr>
              <a:t>Webfejlesztő  ·  Mestermunka bemutatás  ·  2026. április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