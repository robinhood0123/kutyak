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4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7A5573-A454-9F8D-95DB-F081F2388601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hu-HU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AE5EC3-6B8B-3B13-ADF9-1AFAF8283F5F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hu-HU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A4875C68-41B4-4262-A6AB-3309F1D83C9B}" type="datetime1">
              <a:rPr lang="hu-HU"/>
              <a:pPr lvl="0"/>
              <a:t>2026. 04. 10.</a:t>
            </a:fld>
            <a:endParaRPr lang="hu-HU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D0DB791-9894-DE72-AAE5-AA493FA81F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541AF13-12E0-3035-511B-6683B14B35B9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123453-9AE6-DE75-D8E8-79946990EA31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hu-HU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42CDC-ACD1-B02A-FE0B-3DFC1291C8E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hu-HU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08362E0D-1C98-45DC-879E-4044D6E62B81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6353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0243B-4D4A-9FB1-CAF7-B8F942F77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353A9-F1E3-CD6E-464D-68DBCC4C2F4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86B0B-B7A2-5224-7048-F4059F4C7077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0A81F8B-8EEB-43A7-969F-7FBED6342B28}" type="slidenum">
              <a:t>1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F2BB4C-D897-6B7A-6600-37D286577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F7CCA4-16E1-554B-344D-D5DDC05EBAA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043B3-B566-AE27-8D7A-9D0F0BCCB338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45B2FF2-5B90-4711-9462-E7C1B5D144BD}" type="slidenum">
              <a:t>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D469C-EC74-EE0B-07BF-D204859D76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57C00E-DA4F-C7E8-2574-F61F41F807B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D881-0600-6429-44D4-F8B2D845491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4CC6686-AF89-41CA-8A7D-0AE525989AE0}" type="slidenum">
              <a:t>3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572985-EB2D-B066-50F6-992ACBEE6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369D7C-A118-1F90-50FE-A1BD5DE526B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EAA93-2228-E1BB-3A2A-22E50E20251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1082250-39A9-47FA-8717-DC81D6FF4C91}" type="slidenum">
              <a:t>4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6A15CF-2C0B-3E30-BFBC-37DA05612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348C04-A0C7-BC47-384A-A831EBC23A4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121D5-2DA3-9EA0-C2EF-29B27C13ECA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D2B6FA7-88FF-4F7D-B641-062BCECA2D17}" type="slidenum">
              <a:t>5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CBF33E-3205-2802-785A-581A4BC738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D242B0-8AE2-BA63-2727-2DD0E7220AE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B5070-D409-7516-35F9-DE56756C15F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CC6A530-2174-47E6-A6E7-AF8B7E38F770}" type="slidenum">
              <a:t>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7D0FD3-2000-A944-D4D3-97D8DD0ACC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B80E47-4619-173A-6B1C-D7ED1599A3C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9755-4A51-D4A9-DC96-682F65D50C8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06E94D1-6282-4C20-B0E7-8DF5FAC8FFA6}" type="slidenum">
              <a:t>7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4EEF7D-12AC-506E-6B7A-7268C0692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CDCCE7-8058-91E5-BF6C-ED52A893E39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F17AB-C68A-1679-C615-B9525F6C3C28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835B54A-2C88-4B1E-AE3B-42C43CCCCACB}" type="slidenum">
              <a:t>8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ECD27-76F3-F8A4-642A-005EF3ADB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F82254-EE1B-B368-1987-4AD46A860BB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B3E52-AC4A-FA01-76A1-7DE830367F8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B363B09-9EE9-4710-8306-2812523CBC54}" type="slidenum">
              <a:t>9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22B4A-21D8-38B9-F4D5-B1D50183A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A485A8-09FC-B0AF-F6E9-8F8F9BB3466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5D7D1-48E3-5988-4893-24446719B0F9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EFAF3BF-7716-465C-B84A-2CB0CE1D6186}" type="slidenum">
              <a:t>10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65A53-0530-7B39-D5E7-552C6A6C4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EB3BA-1A93-8B01-E2C0-955DF754F5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80E0F-8C1A-170B-7043-F1CD909B08B9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2E7F928-E398-4413-B6E0-ABC04189248E}" type="slidenum">
              <a:t>11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8F9765-2C79-EB52-E535-A254FE126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69DA55-2741-BAED-6EC4-C4366D9B6EA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A5AE7-1628-397E-F935-03ECADD1DCE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F69CD0C-29E0-425B-BE45-44470353FCA5}" type="slidenum">
              <a:t>12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9F0985-3C16-543E-D99A-80829A293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0CFB37-BC8B-6A4C-62CC-3F1C5275774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1BA1B-5F00-6940-9BBD-506A8A3121C9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7853462-4C87-4476-8944-7236B8A8D585}" type="slidenum">
              <a:t>13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69D710-879E-14DA-71E4-C7349C7285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56771-62BA-72B2-280E-EC85F9DCFEC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5CB98-1059-4DBC-FF38-0C7288400DE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6B5AFC7-3683-456F-95F2-F5206D69083E}" type="slidenum">
              <a:t>14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66D12-1C66-7E47-6613-56EA91EBC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9C558C-C71B-F90F-2330-C1BACCB67C7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A1037-6C6E-3012-7607-08D4A405F2F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09E8689-0284-4A79-8E7B-F615CC65963C}" type="slidenum">
              <a:t>15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76AA8-E285-0A74-93D6-D443C2BF8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E44AA-1FAE-77AA-1446-8A6139FA4F7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87CB2-C355-C41A-A829-AD4F0F3FF6A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125B435-9938-4459-BFA0-3C67D7D0B862}" type="slidenum">
              <a:t>16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9D08C-B54C-9D96-5F6F-1EB2C2370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61A2D-B49E-28D7-8278-339E120CAFB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E12C2-1ABC-64CB-FCB5-2E8CD044108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15C920B-8069-4B05-AC1C-E56BC6577104}" type="slidenum">
              <a:t>17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9C7A9-E7A3-8B43-36EB-71BCC9E5B57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FCD38-B8AB-53B3-CF46-0ECE14A6FDE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DAB70-06ED-DCB5-0793-D5A07EF53A0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636A302-0D39-43B4-B12B-CDD5BAEF6732}" type="datetime1">
              <a:rPr lang="hu-HU"/>
              <a:pPr lvl="0"/>
              <a:t>2026. 04. 10.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7498A-0127-8113-DD2E-B0615A94829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240D5-9EA9-ADFD-4E55-3AD10059E2B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DE61DEE-E51E-4826-9FEC-83A7211201C1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868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81EED-B48A-45DE-4DEF-2751AD05AE9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47DA1-3091-A769-ABB8-DCCB28FF8981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93529-705E-9E93-95FB-C5255FDCEA3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FBAACA-08A4-4EBE-9E0C-58B65AE4A5A7}" type="datetime1">
              <a:rPr lang="hu-HU"/>
              <a:pPr lvl="0"/>
              <a:t>2026. 04. 10.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C0FEB-02F0-228F-4033-BDB16CBC2BE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B4E95-08FC-10A4-2CD0-CE84FF23AE6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DD80927-66D7-4BE8-A047-63F50E884FFA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8980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656D-71AF-91BE-C1E6-8FC6F38D50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3868E-5C48-C67D-94D8-EF4E0A9B94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B3441-30BB-E61E-08AC-E8A410F5A88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A835D54-A19F-42F4-947F-ABC3E6BC268E}" type="datetime1">
              <a:rPr lang="hu-HU"/>
              <a:pPr lvl="0"/>
              <a:t>2026. 04. 10.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BC704-0AA1-4F15-D5CF-73EB2617836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EA5B0-2FE8-EE2D-7CFD-62CCA5F18A0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E7F39D6-9221-40ED-BEF7-551711DB3F8E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04488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68DD9-4E8D-D008-5531-711A5B4BBF7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CC0FB-C0E8-0C4C-C926-604F6C9F10E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EFB713-0387-1EAA-E5E6-CB7F28D3A161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67DFE-7EE0-69F1-0A45-C7E292996C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1375920-0594-4B7A-9F54-4CA5B22C6B54}" type="datetime1">
              <a:rPr lang="hu-HU"/>
              <a:pPr lvl="0"/>
              <a:t>2026. 04. 10.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B82B81-C619-1285-FBD0-199ECFE23FE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C6CDD-1F30-B9D4-5099-D0BDEB60C9D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0686B92-E2CF-4681-A89D-F2DB1AC39EEF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06180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E9951-2642-201B-7F38-F3E8B46C15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CB180-0496-DF82-DE58-BA87735CE1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773B6-9EF1-2A8C-ADCA-849549EDC4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88835C-0EFE-6E16-B852-84EB5D7B4EC5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2B9603-0B1D-C5AD-B736-8989E13FBDDF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E837C2-9A73-13CA-32A4-CEC7DEBADDD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E53AA98-F41F-462E-8F83-5380F28C0AEC}" type="datetime1">
              <a:rPr lang="hu-HU"/>
              <a:pPr lvl="0"/>
              <a:t>2026. 04. 10.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7DF9E-4E5C-EA0D-1E4A-A58D8F9B0D4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D0A2DB-1EA6-B8AA-1B36-C4B64FC381E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A7B7976-4912-4995-99C1-F6CCF238DC74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78194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8D96E-4DF4-8AC2-4FF9-F4FA5C5EDF4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B73B7E-9800-0082-B4DC-26E02F84671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1BF45F6-A8D9-43F4-9CDF-9E349FB991E6}" type="datetime1">
              <a:rPr lang="hu-HU"/>
              <a:pPr lvl="0"/>
              <a:t>2026. 04. 10.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F67F96-6864-1FA6-1E2F-AB25521FF0E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5DFE4C-E423-57D0-D505-FAD53AD18BF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52DF5D8-FA20-4AFF-9F7C-6F09700BFBD3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389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AC13E6-BEEB-9E24-1459-D4B76BD22EE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A8389BB-691F-4C0B-AE2B-929C3C08EACD}" type="datetime1">
              <a:rPr lang="hu-HU"/>
              <a:pPr lvl="0"/>
              <a:t>2026. 04. 10.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197990-0943-71A1-210B-FD07FAD0DF0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74E44-A316-0154-2D3F-950D6674355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67E8112-DD1F-400C-B7FF-26595F093B66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35704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EAED0-70AE-11F1-8842-620AF712AA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60647-75CE-FEBA-9424-9079B0EBF74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BF6739-56A6-C716-7D9E-BF70D29FDA1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738D2-259C-FE09-0690-FEEA6E7673D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BF7091A-BA1D-4307-B1AD-530736BB8FB7}" type="datetime1">
              <a:rPr lang="hu-HU"/>
              <a:pPr lvl="0"/>
              <a:t>2026. 04. 10.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9F6A6-DD2C-9F31-17C1-5CEBB836F1D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EAE2C-8129-7BF6-1C6C-F7D11C23421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53125F-D175-4195-B0D7-706C4E06A79B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66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4E2AA-D4DC-EEDF-0158-D2E0E93F27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65D2F9-41B3-4F1D-0D1E-52DDC03089AB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hu-HU" sz="3200"/>
            </a:lvl1pPr>
          </a:lstStyle>
          <a:p>
            <a:pPr lvl="0"/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555316-AAC4-8BE9-D88E-588F0ADBC04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02D18-15EF-2C5F-4494-E5C2AE6E737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3FB93FE-C09A-48F6-A94B-D2D05F1D57E7}" type="datetime1">
              <a:rPr lang="hu-HU"/>
              <a:pPr lvl="0"/>
              <a:t>2026. 04. 10.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B9302-4673-A434-E83F-D8C07610600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3555DC-7FF9-3549-6298-BF20F9AC975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76D894B-605C-4E7D-927E-0641CA5AC362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26372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FBB4A-0374-AA83-21E8-8A0669C7BDA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BF59CF-FA47-A845-F653-75E47C1A5E4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3054B-20D0-2ECC-3F14-FD2D7818F7F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B0C5518-E666-40F1-9AF0-D353F8D844CC}" type="datetime1">
              <a:rPr lang="hu-HU"/>
              <a:pPr lvl="0"/>
              <a:t>2026. 04. 10.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E3F0A-5600-D858-FDA1-4BABC890755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DBA72-694D-8450-674E-A8845143F3F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9974993-D793-4449-B5E4-2675D28A468A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76822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02A0C7-253A-D718-8544-F30A9F5957C6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357F03-B611-8D79-0C99-D562DD6BE08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C3C0A-10DB-59C2-BCDF-4047131F5FA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EB9FB72-B17C-4EE6-899C-36BDD2FAFA48}" type="datetime1">
              <a:rPr lang="hu-HU"/>
              <a:pPr lvl="0"/>
              <a:t>2026. 04. 10.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E0002-A13A-8E04-5079-4116778D19B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68034-FE6D-B56F-31E7-023DCBFE850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F5431B6-87B4-466B-B0AB-854B94309A43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1489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85682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FE54B2-59DB-9045-DD88-F4A09C4957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EEC68-0992-A5B9-8345-8AFCD9755A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CF99A-9CC3-31D4-1844-037135A6A7D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hu-HU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63794B5B-B97E-4CAC-8EC2-FA54EA6FC3B4}" type="datetime1">
              <a:rPr lang="hu-HU"/>
              <a:pPr lvl="0"/>
              <a:t>2026. 04. 10.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08A32-CC97-ACE0-B6B2-7E1C860BF441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hu-HU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5E867-D8C3-7190-6C17-4A3077086F2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hu-HU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44C02066-A5D3-418C-951E-26CDE7A87A8F}" type="slidenum">
              <a:t>‹#›</a:t>
            </a:fld>
            <a:endParaRPr 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f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AF64CC-AAA9-6036-2739-732B99F9ECA0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C70716C-9A8F-3052-617A-2BA80A66D33E}"/>
              </a:ext>
            </a:extLst>
          </p:cNvPr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D4ED8">
              <a:alpha val="6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60E34740-FB35-D885-A2B9-0ECBBF1631DC}"/>
              </a:ext>
            </a:extLst>
          </p:cNvPr>
          <p:cNvSpPr/>
          <p:nvPr/>
        </p:nvSpPr>
        <p:spPr>
          <a:xfrm>
            <a:off x="487676" y="731520"/>
            <a:ext cx="1828800" cy="1828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9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E988D32E-B9E9-550D-B417-F4B1363B521E}"/>
              </a:ext>
            </a:extLst>
          </p:cNvPr>
          <p:cNvSpPr/>
          <p:nvPr/>
        </p:nvSpPr>
        <p:spPr>
          <a:xfrm>
            <a:off x="2194560" y="853436"/>
            <a:ext cx="9753603" cy="914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667" b="0" i="1" u="none" strike="noStrike" kern="1200" cap="none" spc="0" baseline="0">
                <a:solidFill>
                  <a:srgbClr val="B0C4DE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Robi &amp; Ricsi &amp; Norbi</a:t>
            </a:r>
            <a:endParaRPr lang="en-US" sz="26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F83BEEC-8753-2731-73B4-943965BD96F8}"/>
              </a:ext>
            </a:extLst>
          </p:cNvPr>
          <p:cNvSpPr/>
          <p:nvPr/>
        </p:nvSpPr>
        <p:spPr>
          <a:xfrm>
            <a:off x="2194560" y="1645920"/>
            <a:ext cx="9753603" cy="13411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933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Kutyamenhely</a:t>
            </a:r>
            <a:endParaRPr lang="en-US" sz="69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EF34AF27-B94F-2DB0-18AC-E0D8D29DE714}"/>
              </a:ext>
            </a:extLst>
          </p:cNvPr>
          <p:cNvSpPr/>
          <p:nvPr/>
        </p:nvSpPr>
        <p:spPr>
          <a:xfrm>
            <a:off x="2194560" y="3108960"/>
            <a:ext cx="6705596" cy="85340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BD6603A-5590-EDE9-3B04-85F8FB8F0917}"/>
              </a:ext>
            </a:extLst>
          </p:cNvPr>
          <p:cNvSpPr/>
          <p:nvPr/>
        </p:nvSpPr>
        <p:spPr>
          <a:xfrm>
            <a:off x="2194560" y="3352803"/>
            <a:ext cx="9753603" cy="731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133" b="0" i="0" u="none" strike="noStrike" kern="1200" cap="none" spc="0" baseline="0">
                <a:solidFill>
                  <a:srgbClr val="CBD5E1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Webalkalmazás fejlesztés – Záró Szakmai Vizsga 2025/2026</a:t>
            </a:r>
            <a:endParaRPr lang="en-US" sz="21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8A4E6559-86A2-26DB-D6B9-704C86799F56}"/>
              </a:ext>
            </a:extLst>
          </p:cNvPr>
          <p:cNvSpPr/>
          <p:nvPr/>
        </p:nvSpPr>
        <p:spPr>
          <a:xfrm>
            <a:off x="2194560" y="4206240"/>
            <a:ext cx="9753603" cy="60960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67" b="1" i="0" u="none" strike="noStrike" kern="1200" cap="none" spc="0" baseline="0">
                <a:solidFill>
                  <a:srgbClr val="E9456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Fejlesztők: Robi  |  Ricsi  |  Norbi</a:t>
            </a:r>
            <a:endParaRPr lang="en-US" sz="18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F3DF4934-FF4F-4F27-4E86-D9E09845BAC3}"/>
              </a:ext>
            </a:extLst>
          </p:cNvPr>
          <p:cNvSpPr/>
          <p:nvPr/>
        </p:nvSpPr>
        <p:spPr>
          <a:xfrm>
            <a:off x="2194560" y="4876796"/>
            <a:ext cx="9753603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94A3B8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Sza</a:t>
            </a:r>
            <a:r>
              <a:rPr lang="hu-HU" sz="1600" b="0" i="0" u="none" strike="noStrike" kern="1200" cap="none" spc="0" baseline="0">
                <a:solidFill>
                  <a:srgbClr val="94A3B8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kirány: Szoftver fejlesztő és tesztelő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1" name="Picture 15">
            <a:extLst>
              <a:ext uri="{FF2B5EF4-FFF2-40B4-BE49-F238E27FC236}">
                <a16:creationId xmlns:a16="http://schemas.microsoft.com/office/drawing/2014/main" id="{3236EBDA-1B4D-37D7-FF12-E2A0D74B1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28" y="792483"/>
            <a:ext cx="1219196" cy="121919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A03FBE-9041-3337-63DD-A08D9B01E127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D72406B-713F-4B20-1B17-CBAD3E89BF81}"/>
              </a:ext>
            </a:extLst>
          </p:cNvPr>
          <p:cNvSpPr/>
          <p:nvPr/>
        </p:nvSpPr>
        <p:spPr>
          <a:xfrm>
            <a:off x="0" y="0"/>
            <a:ext cx="12191996" cy="1463040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36AE8B27-65D1-B17C-7C2A-140B716EF150}"/>
              </a:ext>
            </a:extLst>
          </p:cNvPr>
          <p:cNvSpPr/>
          <p:nvPr/>
        </p:nvSpPr>
        <p:spPr>
          <a:xfrm>
            <a:off x="487676" y="182880"/>
            <a:ext cx="10972800" cy="9753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Projekt bemutatása</a:t>
            </a:r>
            <a:endParaRPr lang="en-US" sz="3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63E1FC8A-B3D7-CE0D-57D5-C341DDF26396}"/>
              </a:ext>
            </a:extLst>
          </p:cNvPr>
          <p:cNvSpPr/>
          <p:nvPr/>
        </p:nvSpPr>
        <p:spPr>
          <a:xfrm>
            <a:off x="487676" y="1706883"/>
            <a:ext cx="11216643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67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Mi a projekt célja?</a:t>
            </a:r>
            <a:endParaRPr lang="en-US" sz="22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56CE10D3-6DF1-AAF5-1C99-6D07437A1074}"/>
              </a:ext>
            </a:extLst>
          </p:cNvPr>
          <p:cNvSpPr/>
          <p:nvPr/>
        </p:nvSpPr>
        <p:spPr>
          <a:xfrm>
            <a:off x="487676" y="2316476"/>
            <a:ext cx="11216643" cy="10972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 Robi &amp; Ricsi &amp; Norbi Kutyamenhely egy teljes körű webalkalmazás, amely segíti az örökbefogadásra váró kutyák nyilvántartását, az érdeklődők tájékoztatását, az örökbefogadási kérelmek kezelését és az adminisztrátori munkát.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6B1FE469-E46B-DD67-5C2E-AD9492E5CA0D}"/>
              </a:ext>
            </a:extLst>
          </p:cNvPr>
          <p:cNvSpPr/>
          <p:nvPr/>
        </p:nvSpPr>
        <p:spPr>
          <a:xfrm>
            <a:off x="426723" y="3596636"/>
            <a:ext cx="2767587" cy="2072643"/>
          </a:xfrm>
          <a:prstGeom prst="rect">
            <a:avLst/>
          </a:prstGeom>
          <a:solidFill>
            <a:srgbClr val="DBEAFE"/>
          </a:solidFill>
          <a:ln w="12701" cap="flat">
            <a:solidFill>
              <a:srgbClr val="3B82F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1E63C3B0-3457-05DF-A70F-B8B1C890225E}"/>
              </a:ext>
            </a:extLst>
          </p:cNvPr>
          <p:cNvSpPr/>
          <p:nvPr/>
        </p:nvSpPr>
        <p:spPr>
          <a:xfrm>
            <a:off x="548640" y="3718563"/>
            <a:ext cx="2523744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🎯 Cél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DFB60523-A0B2-BEFF-2575-19B733669D83}"/>
              </a:ext>
            </a:extLst>
          </p:cNvPr>
          <p:cNvSpPr/>
          <p:nvPr/>
        </p:nvSpPr>
        <p:spPr>
          <a:xfrm>
            <a:off x="548640" y="4267203"/>
            <a:ext cx="2523744" cy="12191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Megkönnyíteni a kutyamenhely működését és az örökbefogadási folyamatot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020C1D6D-F0AB-4432-2641-E74E2E0C63E1}"/>
              </a:ext>
            </a:extLst>
          </p:cNvPr>
          <p:cNvSpPr/>
          <p:nvPr/>
        </p:nvSpPr>
        <p:spPr>
          <a:xfrm>
            <a:off x="3316227" y="3596636"/>
            <a:ext cx="2767587" cy="2072643"/>
          </a:xfrm>
          <a:prstGeom prst="rect">
            <a:avLst/>
          </a:prstGeom>
          <a:solidFill>
            <a:srgbClr val="DBEAFE"/>
          </a:solidFill>
          <a:ln w="12701" cap="flat">
            <a:solidFill>
              <a:srgbClr val="3B82F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2291EBED-4718-1D97-D756-3921E4C08828}"/>
              </a:ext>
            </a:extLst>
          </p:cNvPr>
          <p:cNvSpPr/>
          <p:nvPr/>
        </p:nvSpPr>
        <p:spPr>
          <a:xfrm>
            <a:off x="3438144" y="3718563"/>
            <a:ext cx="2523744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👤 Célcsoport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1A545930-7718-53C1-06CC-0342DBD6CD20}"/>
              </a:ext>
            </a:extLst>
          </p:cNvPr>
          <p:cNvSpPr/>
          <p:nvPr/>
        </p:nvSpPr>
        <p:spPr>
          <a:xfrm>
            <a:off x="3438144" y="4267203"/>
            <a:ext cx="2523744" cy="12191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Örökbefogadni vágyók, menhely dolgozói, adminisztrátorok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6A388E9A-0217-DCCF-100F-9AFC064C4D36}"/>
              </a:ext>
            </a:extLst>
          </p:cNvPr>
          <p:cNvSpPr/>
          <p:nvPr/>
        </p:nvSpPr>
        <p:spPr>
          <a:xfrm>
            <a:off x="6205731" y="3596636"/>
            <a:ext cx="2767587" cy="2072643"/>
          </a:xfrm>
          <a:prstGeom prst="rect">
            <a:avLst/>
          </a:prstGeom>
          <a:solidFill>
            <a:srgbClr val="DBEAFE"/>
          </a:solidFill>
          <a:ln w="12701" cap="flat">
            <a:solidFill>
              <a:srgbClr val="3B82F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D661873C-7E6F-B91F-525C-8B7B2935A4FF}"/>
              </a:ext>
            </a:extLst>
          </p:cNvPr>
          <p:cNvSpPr/>
          <p:nvPr/>
        </p:nvSpPr>
        <p:spPr>
          <a:xfrm>
            <a:off x="6327648" y="3718563"/>
            <a:ext cx="2523744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🌐 Platform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A09A30BE-1E64-F6D5-6DBC-254514DAF13F}"/>
              </a:ext>
            </a:extLst>
          </p:cNvPr>
          <p:cNvSpPr/>
          <p:nvPr/>
        </p:nvSpPr>
        <p:spPr>
          <a:xfrm>
            <a:off x="6327648" y="4267203"/>
            <a:ext cx="2523744" cy="12191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Böngészőalapú webalkalmazás, reszponzív dizájnnal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75C872DA-A610-5C2A-C20B-9EC93A08B2C1}"/>
              </a:ext>
            </a:extLst>
          </p:cNvPr>
          <p:cNvSpPr/>
          <p:nvPr/>
        </p:nvSpPr>
        <p:spPr>
          <a:xfrm>
            <a:off x="9095235" y="3596636"/>
            <a:ext cx="2767587" cy="2072643"/>
          </a:xfrm>
          <a:prstGeom prst="rect">
            <a:avLst/>
          </a:prstGeom>
          <a:solidFill>
            <a:srgbClr val="DBEAFE"/>
          </a:solidFill>
          <a:ln w="12701" cap="flat">
            <a:solidFill>
              <a:srgbClr val="3B82F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ED3D0CED-95F4-18B3-E7D4-3BD450E6FBF6}"/>
              </a:ext>
            </a:extLst>
          </p:cNvPr>
          <p:cNvSpPr/>
          <p:nvPr/>
        </p:nvSpPr>
        <p:spPr>
          <a:xfrm>
            <a:off x="9217152" y="3718563"/>
            <a:ext cx="2523744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📅 Fejlesztés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F4EBE870-27C6-9E0F-78EE-FAE98A74D830}"/>
              </a:ext>
            </a:extLst>
          </p:cNvPr>
          <p:cNvSpPr/>
          <p:nvPr/>
        </p:nvSpPr>
        <p:spPr>
          <a:xfrm>
            <a:off x="9217152" y="4267203"/>
            <a:ext cx="2523744" cy="12191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2025/2026-os tanév, csapatos iskola projekt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466993-D95B-9FE8-C110-F9E143259B47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41F3D88-52C6-3423-DCE2-73220D62B254}"/>
              </a:ext>
            </a:extLst>
          </p:cNvPr>
          <p:cNvSpPr/>
          <p:nvPr/>
        </p:nvSpPr>
        <p:spPr>
          <a:xfrm>
            <a:off x="0" y="0"/>
            <a:ext cx="12191996" cy="1463040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B0DEDA79-58BA-A938-4F7A-9144D1BB6F15}"/>
              </a:ext>
            </a:extLst>
          </p:cNvPr>
          <p:cNvSpPr/>
          <p:nvPr/>
        </p:nvSpPr>
        <p:spPr>
          <a:xfrm>
            <a:off x="487676" y="182880"/>
            <a:ext cx="10972800" cy="9753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 fejlesztőcsapat</a:t>
            </a:r>
            <a:endParaRPr lang="en-US" sz="3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26B9AFBF-D1FB-D55D-5175-13CE70E9DE2F}"/>
              </a:ext>
            </a:extLst>
          </p:cNvPr>
          <p:cNvSpPr/>
          <p:nvPr/>
        </p:nvSpPr>
        <p:spPr>
          <a:xfrm>
            <a:off x="335283" y="1706883"/>
            <a:ext cx="3657600" cy="5023100"/>
          </a:xfrm>
          <a:prstGeom prst="rect">
            <a:avLst/>
          </a:prstGeom>
          <a:solidFill>
            <a:srgbClr val="EFF6FF"/>
          </a:solidFill>
          <a:ln w="25402" cap="flat">
            <a:solidFill>
              <a:srgbClr val="1E3A8A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D658F14B-5E1D-BA7A-7EC4-DF4563460BCF}"/>
              </a:ext>
            </a:extLst>
          </p:cNvPr>
          <p:cNvSpPr/>
          <p:nvPr/>
        </p:nvSpPr>
        <p:spPr>
          <a:xfrm>
            <a:off x="335283" y="1712982"/>
            <a:ext cx="3657600" cy="1219196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92E4206D-FDFF-9C2A-F744-825B813B65B9}"/>
              </a:ext>
            </a:extLst>
          </p:cNvPr>
          <p:cNvSpPr/>
          <p:nvPr/>
        </p:nvSpPr>
        <p:spPr>
          <a:xfrm>
            <a:off x="243833" y="1819646"/>
            <a:ext cx="3657600" cy="8534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733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Robi</a:t>
            </a:r>
            <a:endParaRPr lang="en-US" sz="3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8BB21078-823A-05EB-3F23-F63908ECEBE8}"/>
              </a:ext>
            </a:extLst>
          </p:cNvPr>
          <p:cNvSpPr/>
          <p:nvPr/>
        </p:nvSpPr>
        <p:spPr>
          <a:xfrm>
            <a:off x="487676" y="3038852"/>
            <a:ext cx="3413756" cy="6705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5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Frontend/Tesztelő</a:t>
            </a:r>
            <a:endParaRPr lang="en-US" sz="15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B355C971-9217-8A80-0297-AA9E4F23E8FF}"/>
              </a:ext>
            </a:extLst>
          </p:cNvPr>
          <p:cNvSpPr/>
          <p:nvPr/>
        </p:nvSpPr>
        <p:spPr>
          <a:xfrm>
            <a:off x="579116" y="3779516"/>
            <a:ext cx="3169923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9528" cap="flat">
            <a:solidFill>
              <a:srgbClr val="1E3A8A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C59226C2-C0DE-6D5C-BF1B-F4C6C66558EC}"/>
              </a:ext>
            </a:extLst>
          </p:cNvPr>
          <p:cNvSpPr/>
          <p:nvPr/>
        </p:nvSpPr>
        <p:spPr>
          <a:xfrm>
            <a:off x="609603" y="3901443"/>
            <a:ext cx="3291840" cy="4267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Feladatok: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0006B101-27D7-5E57-21A6-414D71B5F6E2}"/>
              </a:ext>
            </a:extLst>
          </p:cNvPr>
          <p:cNvSpPr/>
          <p:nvPr/>
        </p:nvSpPr>
        <p:spPr>
          <a:xfrm>
            <a:off x="609603" y="4389120"/>
            <a:ext cx="3291840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33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▸  Projekt koordináció</a:t>
            </a:r>
            <a:endParaRPr lang="en-US" sz="15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1CCDA810-2FA6-4A1B-CEFC-43DA906973B7}"/>
              </a:ext>
            </a:extLst>
          </p:cNvPr>
          <p:cNvSpPr/>
          <p:nvPr/>
        </p:nvSpPr>
        <p:spPr>
          <a:xfrm>
            <a:off x="609593" y="4963674"/>
            <a:ext cx="3291840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33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▸ Reszponzív dizájn</a:t>
            </a:r>
            <a:endParaRPr lang="en-US" sz="15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9C8DDBDF-9B56-380F-F63F-1072B59D4698}"/>
              </a:ext>
            </a:extLst>
          </p:cNvPr>
          <p:cNvSpPr/>
          <p:nvPr/>
        </p:nvSpPr>
        <p:spPr>
          <a:xfrm>
            <a:off x="609593" y="5576312"/>
            <a:ext cx="3291840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33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▸  </a:t>
            </a:r>
            <a:r>
              <a:rPr lang="hu-HU" sz="1533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Design elkészítés</a:t>
            </a:r>
            <a:endParaRPr lang="en-US" sz="15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4" name="Shape 17">
            <a:extLst>
              <a:ext uri="{FF2B5EF4-FFF2-40B4-BE49-F238E27FC236}">
                <a16:creationId xmlns:a16="http://schemas.microsoft.com/office/drawing/2014/main" id="{C4E83E1E-941F-6B69-8EBB-4112AEE2AD53}"/>
              </a:ext>
            </a:extLst>
          </p:cNvPr>
          <p:cNvSpPr/>
          <p:nvPr/>
        </p:nvSpPr>
        <p:spPr>
          <a:xfrm>
            <a:off x="4328156" y="1706883"/>
            <a:ext cx="3657600" cy="5023100"/>
          </a:xfrm>
          <a:prstGeom prst="rect">
            <a:avLst/>
          </a:prstGeom>
          <a:solidFill>
            <a:srgbClr val="EFF6FF"/>
          </a:solidFill>
          <a:ln w="25402" cap="flat">
            <a:solidFill>
              <a:srgbClr val="E945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B3B3D31F-4F19-4650-65E7-D81C399BC87B}"/>
              </a:ext>
            </a:extLst>
          </p:cNvPr>
          <p:cNvSpPr/>
          <p:nvPr/>
        </p:nvSpPr>
        <p:spPr>
          <a:xfrm>
            <a:off x="4328156" y="1706883"/>
            <a:ext cx="3657600" cy="1219196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Text 20">
            <a:extLst>
              <a:ext uri="{FF2B5EF4-FFF2-40B4-BE49-F238E27FC236}">
                <a16:creationId xmlns:a16="http://schemas.microsoft.com/office/drawing/2014/main" id="{9E6FCA4C-E7B4-B7AB-284A-B76949E0E6D1}"/>
              </a:ext>
            </a:extLst>
          </p:cNvPr>
          <p:cNvSpPr/>
          <p:nvPr/>
        </p:nvSpPr>
        <p:spPr>
          <a:xfrm>
            <a:off x="4236707" y="1828800"/>
            <a:ext cx="3657600" cy="8534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733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Ricsi</a:t>
            </a:r>
            <a:endParaRPr lang="en-US" sz="3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4BAB8FEB-6B8E-A6C2-A475-C9EF837F356D}"/>
              </a:ext>
            </a:extLst>
          </p:cNvPr>
          <p:cNvSpPr/>
          <p:nvPr/>
        </p:nvSpPr>
        <p:spPr>
          <a:xfrm>
            <a:off x="4450083" y="3047996"/>
            <a:ext cx="3413756" cy="6705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533" b="1" i="0" u="none" strike="noStrike" kern="1200" cap="none" spc="0" baseline="0">
                <a:solidFill>
                  <a:srgbClr val="E9456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Backend</a:t>
            </a:r>
            <a:r>
              <a:rPr lang="en-US" sz="1533" b="1" i="0" u="none" strike="noStrike" kern="1200" cap="none" spc="0" baseline="0">
                <a:solidFill>
                  <a:srgbClr val="E9456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fejlesztő</a:t>
            </a:r>
            <a:endParaRPr lang="en-US" sz="15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Shape 22">
            <a:extLst>
              <a:ext uri="{FF2B5EF4-FFF2-40B4-BE49-F238E27FC236}">
                <a16:creationId xmlns:a16="http://schemas.microsoft.com/office/drawing/2014/main" id="{A5EB4BF3-C523-922B-0711-0E056011E421}"/>
              </a:ext>
            </a:extLst>
          </p:cNvPr>
          <p:cNvSpPr/>
          <p:nvPr/>
        </p:nvSpPr>
        <p:spPr>
          <a:xfrm>
            <a:off x="4572000" y="3779516"/>
            <a:ext cx="3169923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9528" cap="flat">
            <a:solidFill>
              <a:srgbClr val="E945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1B111418-853E-D77A-0576-5A93A403F5A9}"/>
              </a:ext>
            </a:extLst>
          </p:cNvPr>
          <p:cNvSpPr/>
          <p:nvPr/>
        </p:nvSpPr>
        <p:spPr>
          <a:xfrm>
            <a:off x="4511036" y="3901443"/>
            <a:ext cx="3291840" cy="4267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Feladatok: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" name="Text 25">
            <a:extLst>
              <a:ext uri="{FF2B5EF4-FFF2-40B4-BE49-F238E27FC236}">
                <a16:creationId xmlns:a16="http://schemas.microsoft.com/office/drawing/2014/main" id="{EB7502D7-3575-9797-B0EF-72CA5D10E64E}"/>
              </a:ext>
            </a:extLst>
          </p:cNvPr>
          <p:cNvSpPr/>
          <p:nvPr/>
        </p:nvSpPr>
        <p:spPr>
          <a:xfrm>
            <a:off x="4511036" y="4998723"/>
            <a:ext cx="3291840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33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▸  </a:t>
            </a:r>
            <a:r>
              <a:rPr lang="hu-HU" sz="1533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Admin felület</a:t>
            </a:r>
            <a:endParaRPr lang="en-US" sz="15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1" name="Text 26">
            <a:extLst>
              <a:ext uri="{FF2B5EF4-FFF2-40B4-BE49-F238E27FC236}">
                <a16:creationId xmlns:a16="http://schemas.microsoft.com/office/drawing/2014/main" id="{A2B6317B-2BB3-C734-5FB0-4D2428EFE254}"/>
              </a:ext>
            </a:extLst>
          </p:cNvPr>
          <p:cNvSpPr/>
          <p:nvPr/>
        </p:nvSpPr>
        <p:spPr>
          <a:xfrm>
            <a:off x="4511036" y="5608316"/>
            <a:ext cx="3291840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33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▸  Bootstrap + Tailwind</a:t>
            </a:r>
            <a:endParaRPr lang="en-US" sz="15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2" name="Text 27">
            <a:extLst>
              <a:ext uri="{FF2B5EF4-FFF2-40B4-BE49-F238E27FC236}">
                <a16:creationId xmlns:a16="http://schemas.microsoft.com/office/drawing/2014/main" id="{F42B0DE2-9315-C89E-BA61-A42552764799}"/>
              </a:ext>
            </a:extLst>
          </p:cNvPr>
          <p:cNvSpPr/>
          <p:nvPr/>
        </p:nvSpPr>
        <p:spPr>
          <a:xfrm>
            <a:off x="4511036" y="6217920"/>
            <a:ext cx="3291840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33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▸  Animációk, stílus</a:t>
            </a:r>
            <a:endParaRPr lang="en-US" sz="15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3" name="Shape 28">
            <a:extLst>
              <a:ext uri="{FF2B5EF4-FFF2-40B4-BE49-F238E27FC236}">
                <a16:creationId xmlns:a16="http://schemas.microsoft.com/office/drawing/2014/main" id="{193988EB-F6C4-2022-C1A3-A4DB35A443C5}"/>
              </a:ext>
            </a:extLst>
          </p:cNvPr>
          <p:cNvSpPr/>
          <p:nvPr/>
        </p:nvSpPr>
        <p:spPr>
          <a:xfrm>
            <a:off x="8229600" y="1706883"/>
            <a:ext cx="3657600" cy="4995668"/>
          </a:xfrm>
          <a:prstGeom prst="rect">
            <a:avLst/>
          </a:prstGeom>
          <a:solidFill>
            <a:srgbClr val="EFF6FF"/>
          </a:solidFill>
          <a:ln w="25402" cap="flat">
            <a:solidFill>
              <a:srgbClr val="05966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33EDA870-6FB5-6B06-C0DC-FB52727DCDFE}"/>
              </a:ext>
            </a:extLst>
          </p:cNvPr>
          <p:cNvSpPr/>
          <p:nvPr/>
        </p:nvSpPr>
        <p:spPr>
          <a:xfrm>
            <a:off x="8229600" y="1706883"/>
            <a:ext cx="3657600" cy="1219196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5" name="Text 31">
            <a:extLst>
              <a:ext uri="{FF2B5EF4-FFF2-40B4-BE49-F238E27FC236}">
                <a16:creationId xmlns:a16="http://schemas.microsoft.com/office/drawing/2014/main" id="{25486657-41E8-F402-C16E-91E3B714893C}"/>
              </a:ext>
            </a:extLst>
          </p:cNvPr>
          <p:cNvSpPr/>
          <p:nvPr/>
        </p:nvSpPr>
        <p:spPr>
          <a:xfrm>
            <a:off x="8229600" y="1828800"/>
            <a:ext cx="3657600" cy="85343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733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Norbi</a:t>
            </a:r>
            <a:endParaRPr lang="en-US" sz="3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6" name="Text 32">
            <a:extLst>
              <a:ext uri="{FF2B5EF4-FFF2-40B4-BE49-F238E27FC236}">
                <a16:creationId xmlns:a16="http://schemas.microsoft.com/office/drawing/2014/main" id="{F3A95EF3-FEE7-BDD3-3080-C25589A5B27D}"/>
              </a:ext>
            </a:extLst>
          </p:cNvPr>
          <p:cNvSpPr/>
          <p:nvPr/>
        </p:nvSpPr>
        <p:spPr>
          <a:xfrm>
            <a:off x="8351516" y="3047996"/>
            <a:ext cx="3413756" cy="6705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33" b="1" i="0" u="none" strike="noStrike" kern="1200" cap="none" spc="0" baseline="0">
                <a:solidFill>
                  <a:srgbClr val="0596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Backend </a:t>
            </a:r>
            <a:endParaRPr lang="en-US" sz="15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7" name="Shape 33">
            <a:extLst>
              <a:ext uri="{FF2B5EF4-FFF2-40B4-BE49-F238E27FC236}">
                <a16:creationId xmlns:a16="http://schemas.microsoft.com/office/drawing/2014/main" id="{167F68CC-0E18-6370-35DB-CBCC909232BE}"/>
              </a:ext>
            </a:extLst>
          </p:cNvPr>
          <p:cNvSpPr/>
          <p:nvPr/>
        </p:nvSpPr>
        <p:spPr>
          <a:xfrm>
            <a:off x="8473443" y="3779516"/>
            <a:ext cx="3169923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9528" cap="flat">
            <a:solidFill>
              <a:srgbClr val="05966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8" name="Text 34">
            <a:extLst>
              <a:ext uri="{FF2B5EF4-FFF2-40B4-BE49-F238E27FC236}">
                <a16:creationId xmlns:a16="http://schemas.microsoft.com/office/drawing/2014/main" id="{8A79357F-8BB7-1ED8-BE74-B556D0035D69}"/>
              </a:ext>
            </a:extLst>
          </p:cNvPr>
          <p:cNvSpPr/>
          <p:nvPr/>
        </p:nvSpPr>
        <p:spPr>
          <a:xfrm>
            <a:off x="8412480" y="3901443"/>
            <a:ext cx="3291840" cy="4267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Feladatok: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9" name="Text 35">
            <a:extLst>
              <a:ext uri="{FF2B5EF4-FFF2-40B4-BE49-F238E27FC236}">
                <a16:creationId xmlns:a16="http://schemas.microsoft.com/office/drawing/2014/main" id="{3CACAB90-E4EA-393B-FEC6-E88FBAEFBD0D}"/>
              </a:ext>
            </a:extLst>
          </p:cNvPr>
          <p:cNvSpPr/>
          <p:nvPr/>
        </p:nvSpPr>
        <p:spPr>
          <a:xfrm>
            <a:off x="8412480" y="4389120"/>
            <a:ext cx="3291840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33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▸  API végpontok</a:t>
            </a:r>
            <a:endParaRPr lang="en-US" sz="15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0" name="Text 36">
            <a:extLst>
              <a:ext uri="{FF2B5EF4-FFF2-40B4-BE49-F238E27FC236}">
                <a16:creationId xmlns:a16="http://schemas.microsoft.com/office/drawing/2014/main" id="{A6853950-A86A-E69D-F21B-322A35296248}"/>
              </a:ext>
            </a:extLst>
          </p:cNvPr>
          <p:cNvSpPr/>
          <p:nvPr/>
        </p:nvSpPr>
        <p:spPr>
          <a:xfrm>
            <a:off x="8412480" y="4998723"/>
            <a:ext cx="3291840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33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▸  Felhasználókezelés</a:t>
            </a:r>
            <a:endParaRPr lang="en-US" sz="15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1" name="Text 37">
            <a:extLst>
              <a:ext uri="{FF2B5EF4-FFF2-40B4-BE49-F238E27FC236}">
                <a16:creationId xmlns:a16="http://schemas.microsoft.com/office/drawing/2014/main" id="{8634CD91-FD9C-11C0-A29C-2A99FA45C516}"/>
              </a:ext>
            </a:extLst>
          </p:cNvPr>
          <p:cNvSpPr/>
          <p:nvPr/>
        </p:nvSpPr>
        <p:spPr>
          <a:xfrm>
            <a:off x="8412480" y="5608316"/>
            <a:ext cx="3291840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33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▸  </a:t>
            </a:r>
            <a:r>
              <a:rPr lang="hu-HU" sz="1533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Adatbázis tervezés</a:t>
            </a:r>
            <a:endParaRPr lang="en-US" sz="15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2" name="Text 38">
            <a:extLst>
              <a:ext uri="{FF2B5EF4-FFF2-40B4-BE49-F238E27FC236}">
                <a16:creationId xmlns:a16="http://schemas.microsoft.com/office/drawing/2014/main" id="{B2424D97-75D6-5F04-8BAB-9F3C3EDE7D16}"/>
              </a:ext>
            </a:extLst>
          </p:cNvPr>
          <p:cNvSpPr/>
          <p:nvPr/>
        </p:nvSpPr>
        <p:spPr>
          <a:xfrm>
            <a:off x="609593" y="6153912"/>
            <a:ext cx="3291840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33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▸  Tesztelés, hibakeresés</a:t>
            </a:r>
            <a:endParaRPr lang="en-US" sz="15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71E5F419-A98F-2711-A4D4-85BDADE60E34}"/>
              </a:ext>
            </a:extLst>
          </p:cNvPr>
          <p:cNvSpPr/>
          <p:nvPr/>
        </p:nvSpPr>
        <p:spPr>
          <a:xfrm>
            <a:off x="4498848" y="4389120"/>
            <a:ext cx="3291840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33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▸  </a:t>
            </a:r>
            <a:r>
              <a:rPr lang="hu-HU" sz="1533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Backend fejlesztés</a:t>
            </a:r>
            <a:endParaRPr lang="en-US" sz="15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458DA0E-CAB1-E381-1203-FBDCD03FBBCF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8268E0E-0DBE-23EA-AAF3-9C8D009A9386}"/>
              </a:ext>
            </a:extLst>
          </p:cNvPr>
          <p:cNvSpPr/>
          <p:nvPr/>
        </p:nvSpPr>
        <p:spPr>
          <a:xfrm>
            <a:off x="0" y="0"/>
            <a:ext cx="12191996" cy="1463040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AB4FC9CB-185F-12E8-1623-72504AB6FA79}"/>
              </a:ext>
            </a:extLst>
          </p:cNvPr>
          <p:cNvSpPr/>
          <p:nvPr/>
        </p:nvSpPr>
        <p:spPr>
          <a:xfrm>
            <a:off x="487676" y="182880"/>
            <a:ext cx="10972800" cy="9753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Használt technológiák</a:t>
            </a:r>
            <a:endParaRPr lang="en-US" sz="3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6370BE3F-802E-E070-7134-46938F7F80CF}"/>
              </a:ext>
            </a:extLst>
          </p:cNvPr>
          <p:cNvSpPr/>
          <p:nvPr/>
        </p:nvSpPr>
        <p:spPr>
          <a:xfrm>
            <a:off x="426723" y="1706883"/>
            <a:ext cx="5730243" cy="2231136"/>
          </a:xfrm>
          <a:prstGeom prst="rect">
            <a:avLst/>
          </a:prstGeom>
          <a:solidFill>
            <a:srgbClr val="EFF6FF"/>
          </a:solidFill>
          <a:ln w="19046" cap="flat">
            <a:solidFill>
              <a:srgbClr val="1D4ED8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6B7D7920-8466-E2C3-7B0A-8E5AC56C16CA}"/>
              </a:ext>
            </a:extLst>
          </p:cNvPr>
          <p:cNvSpPr/>
          <p:nvPr/>
        </p:nvSpPr>
        <p:spPr>
          <a:xfrm>
            <a:off x="426723" y="1706883"/>
            <a:ext cx="5730243" cy="609603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51B62068-4A48-B4EC-9842-A7C8813AF9A8}"/>
              </a:ext>
            </a:extLst>
          </p:cNvPr>
          <p:cNvSpPr/>
          <p:nvPr/>
        </p:nvSpPr>
        <p:spPr>
          <a:xfrm>
            <a:off x="426723" y="2072643"/>
            <a:ext cx="5730243" cy="268220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D7D2D87F-F3A5-91E1-CFC6-99DBD403FFFE}"/>
              </a:ext>
            </a:extLst>
          </p:cNvPr>
          <p:cNvSpPr/>
          <p:nvPr/>
        </p:nvSpPr>
        <p:spPr>
          <a:xfrm>
            <a:off x="548640" y="1780035"/>
            <a:ext cx="5486400" cy="48767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Frontend</a:t>
            </a:r>
            <a:endParaRPr lang="en-US" sz="18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351BFA65-3384-060E-45EF-09336BA367E9}"/>
              </a:ext>
            </a:extLst>
          </p:cNvPr>
          <p:cNvSpPr/>
          <p:nvPr/>
        </p:nvSpPr>
        <p:spPr>
          <a:xfrm>
            <a:off x="548640" y="2234180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HTML5 + CSS3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FD4906AD-F93B-8E77-DC7E-553F34A579E4}"/>
              </a:ext>
            </a:extLst>
          </p:cNvPr>
          <p:cNvSpPr/>
          <p:nvPr/>
        </p:nvSpPr>
        <p:spPr>
          <a:xfrm>
            <a:off x="3352803" y="2237235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Bootstrap 4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E9636A19-D8FC-E29A-C739-90019923ACC6}"/>
              </a:ext>
            </a:extLst>
          </p:cNvPr>
          <p:cNvSpPr/>
          <p:nvPr/>
        </p:nvSpPr>
        <p:spPr>
          <a:xfrm>
            <a:off x="548640" y="2773676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Tailwind CSS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6F94B3B6-B35A-8E7D-7AB1-B5656A20B35F}"/>
              </a:ext>
            </a:extLst>
          </p:cNvPr>
          <p:cNvSpPr/>
          <p:nvPr/>
        </p:nvSpPr>
        <p:spPr>
          <a:xfrm>
            <a:off x="3352803" y="2773676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JavaScript (ES6+)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8BD048D6-0D61-FE71-6355-CDAE26B9C251}"/>
              </a:ext>
            </a:extLst>
          </p:cNvPr>
          <p:cNvSpPr/>
          <p:nvPr/>
        </p:nvSpPr>
        <p:spPr>
          <a:xfrm>
            <a:off x="579116" y="3294884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jQuery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BF808328-3055-7137-0EA3-59DD8FC05370}"/>
              </a:ext>
            </a:extLst>
          </p:cNvPr>
          <p:cNvSpPr/>
          <p:nvPr/>
        </p:nvSpPr>
        <p:spPr>
          <a:xfrm>
            <a:off x="3352803" y="3322316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Font Awesome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DF8E6A80-FF44-9750-40F0-4A6086373723}"/>
              </a:ext>
            </a:extLst>
          </p:cNvPr>
          <p:cNvSpPr/>
          <p:nvPr/>
        </p:nvSpPr>
        <p:spPr>
          <a:xfrm>
            <a:off x="6400800" y="1706883"/>
            <a:ext cx="5730243" cy="2231136"/>
          </a:xfrm>
          <a:prstGeom prst="rect">
            <a:avLst/>
          </a:prstGeom>
          <a:solidFill>
            <a:srgbClr val="EFF6FF"/>
          </a:solidFill>
          <a:ln w="19046" cap="flat">
            <a:solidFill>
              <a:srgbClr val="1E3A8A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DC876756-921C-21B9-FB24-DB1E915C33E0}"/>
              </a:ext>
            </a:extLst>
          </p:cNvPr>
          <p:cNvSpPr/>
          <p:nvPr/>
        </p:nvSpPr>
        <p:spPr>
          <a:xfrm>
            <a:off x="6400800" y="1706883"/>
            <a:ext cx="5730243" cy="609603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2B082ADC-14E0-96BE-4EA7-CAF475B96104}"/>
              </a:ext>
            </a:extLst>
          </p:cNvPr>
          <p:cNvSpPr/>
          <p:nvPr/>
        </p:nvSpPr>
        <p:spPr>
          <a:xfrm>
            <a:off x="6400800" y="2072643"/>
            <a:ext cx="5730243" cy="268220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FE0BE54A-761A-487F-6773-672A533FA847}"/>
              </a:ext>
            </a:extLst>
          </p:cNvPr>
          <p:cNvSpPr/>
          <p:nvPr/>
        </p:nvSpPr>
        <p:spPr>
          <a:xfrm>
            <a:off x="6522716" y="1780035"/>
            <a:ext cx="5486400" cy="48767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Backend</a:t>
            </a:r>
            <a:endParaRPr lang="en-US" sz="18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F9D36880-1768-DED8-3DCE-98EC2A3A1585}"/>
              </a:ext>
            </a:extLst>
          </p:cNvPr>
          <p:cNvSpPr/>
          <p:nvPr/>
        </p:nvSpPr>
        <p:spPr>
          <a:xfrm>
            <a:off x="6522716" y="2243324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Node.js v24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85D10EDC-E71C-7170-465B-D667CF626C70}"/>
              </a:ext>
            </a:extLst>
          </p:cNvPr>
          <p:cNvSpPr/>
          <p:nvPr/>
        </p:nvSpPr>
        <p:spPr>
          <a:xfrm>
            <a:off x="9326880" y="2267712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Express.js v5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49C4753A-5944-DA3D-149B-F9251C2A9495}"/>
              </a:ext>
            </a:extLst>
          </p:cNvPr>
          <p:cNvSpPr/>
          <p:nvPr/>
        </p:nvSpPr>
        <p:spPr>
          <a:xfrm>
            <a:off x="6522716" y="2791964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bcrypt (jelszó hash)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8CC0E82D-4F82-CDC9-4519-7DFD71F792E2}"/>
              </a:ext>
            </a:extLst>
          </p:cNvPr>
          <p:cNvSpPr/>
          <p:nvPr/>
        </p:nvSpPr>
        <p:spPr>
          <a:xfrm>
            <a:off x="9326880" y="2795019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express-session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65AB8163-8E20-422E-9280-65C4F68B2B80}"/>
              </a:ext>
            </a:extLst>
          </p:cNvPr>
          <p:cNvSpPr/>
          <p:nvPr/>
        </p:nvSpPr>
        <p:spPr>
          <a:xfrm>
            <a:off x="6522716" y="3310128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multer (fájlfeltöltés)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C53C4105-8965-900A-87C1-63EABA085E0B}"/>
              </a:ext>
            </a:extLst>
          </p:cNvPr>
          <p:cNvSpPr/>
          <p:nvPr/>
        </p:nvSpPr>
        <p:spPr>
          <a:xfrm>
            <a:off x="9326880" y="3319262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nodemailer (e-mail)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DC53FABF-7ECB-45E0-16B0-F4E11683FB66}"/>
              </a:ext>
            </a:extLst>
          </p:cNvPr>
          <p:cNvSpPr/>
          <p:nvPr/>
        </p:nvSpPr>
        <p:spPr>
          <a:xfrm>
            <a:off x="426723" y="4526280"/>
            <a:ext cx="5730243" cy="2231136"/>
          </a:xfrm>
          <a:prstGeom prst="rect">
            <a:avLst/>
          </a:prstGeom>
          <a:solidFill>
            <a:srgbClr val="EFF6FF"/>
          </a:solidFill>
          <a:ln w="19046" cap="flat">
            <a:solidFill>
              <a:srgbClr val="05966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6" name="Shape 27">
            <a:extLst>
              <a:ext uri="{FF2B5EF4-FFF2-40B4-BE49-F238E27FC236}">
                <a16:creationId xmlns:a16="http://schemas.microsoft.com/office/drawing/2014/main" id="{D972E7AE-1C93-4F8C-3487-F75B25287EA9}"/>
              </a:ext>
            </a:extLst>
          </p:cNvPr>
          <p:cNvSpPr/>
          <p:nvPr/>
        </p:nvSpPr>
        <p:spPr>
          <a:xfrm>
            <a:off x="426723" y="4526280"/>
            <a:ext cx="5730243" cy="609603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4560EB54-A203-9AE3-360A-214F06E23964}"/>
              </a:ext>
            </a:extLst>
          </p:cNvPr>
          <p:cNvSpPr/>
          <p:nvPr/>
        </p:nvSpPr>
        <p:spPr>
          <a:xfrm>
            <a:off x="548640" y="4602476"/>
            <a:ext cx="5486400" cy="48767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Adatbázis</a:t>
            </a:r>
            <a:endParaRPr lang="en-US" sz="18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721C0896-9175-A284-8127-FA3821EE9598}"/>
              </a:ext>
            </a:extLst>
          </p:cNvPr>
          <p:cNvSpPr/>
          <p:nvPr/>
        </p:nvSpPr>
        <p:spPr>
          <a:xfrm>
            <a:off x="487676" y="5093208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MySQL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27841066-C84F-64AF-860F-F4517E7E0111}"/>
              </a:ext>
            </a:extLst>
          </p:cNvPr>
          <p:cNvSpPr/>
          <p:nvPr/>
        </p:nvSpPr>
        <p:spPr>
          <a:xfrm>
            <a:off x="3352803" y="5135883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phpMyAdmin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0" name="Text 32">
            <a:extLst>
              <a:ext uri="{FF2B5EF4-FFF2-40B4-BE49-F238E27FC236}">
                <a16:creationId xmlns:a16="http://schemas.microsoft.com/office/drawing/2014/main" id="{7D1C4886-9B51-6B78-860D-13C1E224D739}"/>
              </a:ext>
            </a:extLst>
          </p:cNvPr>
          <p:cNvSpPr/>
          <p:nvPr/>
        </p:nvSpPr>
        <p:spPr>
          <a:xfrm>
            <a:off x="487676" y="5594600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mysql2 driver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1" name="Text 33">
            <a:extLst>
              <a:ext uri="{FF2B5EF4-FFF2-40B4-BE49-F238E27FC236}">
                <a16:creationId xmlns:a16="http://schemas.microsoft.com/office/drawing/2014/main" id="{07F5190C-F740-BF16-14EE-52A1C9F5F85E}"/>
              </a:ext>
            </a:extLst>
          </p:cNvPr>
          <p:cNvSpPr/>
          <p:nvPr/>
        </p:nvSpPr>
        <p:spPr>
          <a:xfrm>
            <a:off x="3352803" y="5644892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Relációs adatbázis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E9730416-9472-DB27-7464-87A5D62CDC15}"/>
              </a:ext>
            </a:extLst>
          </p:cNvPr>
          <p:cNvSpPr/>
          <p:nvPr/>
        </p:nvSpPr>
        <p:spPr>
          <a:xfrm>
            <a:off x="487676" y="6126480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5 adattábla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3" name="Text 35">
            <a:extLst>
              <a:ext uri="{FF2B5EF4-FFF2-40B4-BE49-F238E27FC236}">
                <a16:creationId xmlns:a16="http://schemas.microsoft.com/office/drawing/2014/main" id="{3D84BEDB-F163-AE73-6028-E57A7EA79E79}"/>
              </a:ext>
            </a:extLst>
          </p:cNvPr>
          <p:cNvSpPr/>
          <p:nvPr/>
        </p:nvSpPr>
        <p:spPr>
          <a:xfrm>
            <a:off x="3352803" y="6141723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SQL JOIN lekérdezések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4" name="Shape 36">
            <a:extLst>
              <a:ext uri="{FF2B5EF4-FFF2-40B4-BE49-F238E27FC236}">
                <a16:creationId xmlns:a16="http://schemas.microsoft.com/office/drawing/2014/main" id="{AE56A0C7-C6F1-091C-2D69-F5A66D37BFDA}"/>
              </a:ext>
            </a:extLst>
          </p:cNvPr>
          <p:cNvSpPr/>
          <p:nvPr/>
        </p:nvSpPr>
        <p:spPr>
          <a:xfrm>
            <a:off x="6400800" y="5111496"/>
            <a:ext cx="5730243" cy="1636776"/>
          </a:xfrm>
          <a:prstGeom prst="rect">
            <a:avLst/>
          </a:prstGeom>
          <a:solidFill>
            <a:srgbClr val="EFF6FF"/>
          </a:solidFill>
          <a:ln w="19046" cap="flat">
            <a:solidFill>
              <a:srgbClr val="E945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5" name="Shape 37">
            <a:extLst>
              <a:ext uri="{FF2B5EF4-FFF2-40B4-BE49-F238E27FC236}">
                <a16:creationId xmlns:a16="http://schemas.microsoft.com/office/drawing/2014/main" id="{E09EDA27-C327-EBCE-94F9-B0295F15D132}"/>
              </a:ext>
            </a:extLst>
          </p:cNvPr>
          <p:cNvSpPr/>
          <p:nvPr/>
        </p:nvSpPr>
        <p:spPr>
          <a:xfrm>
            <a:off x="6400800" y="4523235"/>
            <a:ext cx="5730243" cy="609603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6" name="Text 39">
            <a:extLst>
              <a:ext uri="{FF2B5EF4-FFF2-40B4-BE49-F238E27FC236}">
                <a16:creationId xmlns:a16="http://schemas.microsoft.com/office/drawing/2014/main" id="{B12FA3FC-3A8C-E5EA-6876-1709F7798703}"/>
              </a:ext>
            </a:extLst>
          </p:cNvPr>
          <p:cNvSpPr/>
          <p:nvPr/>
        </p:nvSpPr>
        <p:spPr>
          <a:xfrm>
            <a:off x="6522716" y="4568955"/>
            <a:ext cx="5486400" cy="48767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Eszközök</a:t>
            </a:r>
            <a:endParaRPr lang="en-US" sz="18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7" name="Text 40">
            <a:extLst>
              <a:ext uri="{FF2B5EF4-FFF2-40B4-BE49-F238E27FC236}">
                <a16:creationId xmlns:a16="http://schemas.microsoft.com/office/drawing/2014/main" id="{115A0E0C-6304-E77D-C635-4AD0EB8CFDF3}"/>
              </a:ext>
            </a:extLst>
          </p:cNvPr>
          <p:cNvSpPr/>
          <p:nvPr/>
        </p:nvSpPr>
        <p:spPr>
          <a:xfrm>
            <a:off x="6522716" y="5059676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VS Code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8" name="Text 41">
            <a:extLst>
              <a:ext uri="{FF2B5EF4-FFF2-40B4-BE49-F238E27FC236}">
                <a16:creationId xmlns:a16="http://schemas.microsoft.com/office/drawing/2014/main" id="{A99C201B-53A9-0DFE-A6B6-5B127792DABA}"/>
              </a:ext>
            </a:extLst>
          </p:cNvPr>
          <p:cNvSpPr/>
          <p:nvPr/>
        </p:nvSpPr>
        <p:spPr>
          <a:xfrm>
            <a:off x="9204963" y="5045960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XAMPP / Laragon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9" name="Text 42">
            <a:extLst>
              <a:ext uri="{FF2B5EF4-FFF2-40B4-BE49-F238E27FC236}">
                <a16:creationId xmlns:a16="http://schemas.microsoft.com/office/drawing/2014/main" id="{F6C12817-ADFA-9076-8601-48AC907137C7}"/>
              </a:ext>
            </a:extLst>
          </p:cNvPr>
          <p:cNvSpPr/>
          <p:nvPr/>
        </p:nvSpPr>
        <p:spPr>
          <a:xfrm>
            <a:off x="6522716" y="5577840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Git + GitHub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0" name="Text 43">
            <a:extLst>
              <a:ext uri="{FF2B5EF4-FFF2-40B4-BE49-F238E27FC236}">
                <a16:creationId xmlns:a16="http://schemas.microsoft.com/office/drawing/2014/main" id="{D74E8D1F-007F-469E-EF74-5578174ADD45}"/>
              </a:ext>
            </a:extLst>
          </p:cNvPr>
          <p:cNvSpPr/>
          <p:nvPr/>
        </p:nvSpPr>
        <p:spPr>
          <a:xfrm>
            <a:off x="9204963" y="5577840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dotenv (.env fájl)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1" name="Text 44">
            <a:extLst>
              <a:ext uri="{FF2B5EF4-FFF2-40B4-BE49-F238E27FC236}">
                <a16:creationId xmlns:a16="http://schemas.microsoft.com/office/drawing/2014/main" id="{AEFA8AD0-00A0-8749-458F-3E80B852A4F8}"/>
              </a:ext>
            </a:extLst>
          </p:cNvPr>
          <p:cNvSpPr/>
          <p:nvPr/>
        </p:nvSpPr>
        <p:spPr>
          <a:xfrm>
            <a:off x="6522716" y="6126480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Postman (API teszt)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2" name="Text 45">
            <a:extLst>
              <a:ext uri="{FF2B5EF4-FFF2-40B4-BE49-F238E27FC236}">
                <a16:creationId xmlns:a16="http://schemas.microsoft.com/office/drawing/2014/main" id="{FB853438-C51F-48E2-E9AC-99B21D826BFA}"/>
              </a:ext>
            </a:extLst>
          </p:cNvPr>
          <p:cNvSpPr/>
          <p:nvPr/>
        </p:nvSpPr>
        <p:spPr>
          <a:xfrm>
            <a:off x="9204963" y="6132579"/>
            <a:ext cx="2682236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• npm csomagkezelő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EC1A0E-230E-DE16-C82F-3D70E0271488}"/>
              </a:ext>
            </a:extLst>
          </p:cNvPr>
          <p:cNvSpPr/>
          <p:nvPr/>
        </p:nvSpPr>
        <p:spPr>
          <a:xfrm>
            <a:off x="0" y="-9144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0B6DBE4-B81A-77BE-E5A1-96C8C23879C7}"/>
              </a:ext>
            </a:extLst>
          </p:cNvPr>
          <p:cNvSpPr/>
          <p:nvPr/>
        </p:nvSpPr>
        <p:spPr>
          <a:xfrm>
            <a:off x="0" y="0"/>
            <a:ext cx="12191996" cy="1463040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DF2FE47-6C03-2F4E-8E45-64721FF31702}"/>
              </a:ext>
            </a:extLst>
          </p:cNvPr>
          <p:cNvSpPr/>
          <p:nvPr/>
        </p:nvSpPr>
        <p:spPr>
          <a:xfrm>
            <a:off x="487676" y="182880"/>
            <a:ext cx="10972800" cy="9753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Rendszerarchitektúra</a:t>
            </a:r>
            <a:endParaRPr lang="en-US" sz="3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E7FDF47B-2B5B-5C91-BBC3-AC17C034F990}"/>
              </a:ext>
            </a:extLst>
          </p:cNvPr>
          <p:cNvSpPr/>
          <p:nvPr/>
        </p:nvSpPr>
        <p:spPr>
          <a:xfrm>
            <a:off x="1219196" y="1487427"/>
            <a:ext cx="9753603" cy="1158243"/>
          </a:xfrm>
          <a:prstGeom prst="rect">
            <a:avLst/>
          </a:prstGeom>
          <a:solidFill>
            <a:srgbClr val="3B82F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90336EF6-A3DB-DD32-B8BC-6E857B5608C6}"/>
              </a:ext>
            </a:extLst>
          </p:cNvPr>
          <p:cNvSpPr/>
          <p:nvPr/>
        </p:nvSpPr>
        <p:spPr>
          <a:xfrm>
            <a:off x="1402076" y="1633731"/>
            <a:ext cx="9387843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BÖNGÉSZŐ – Felhasználó</a:t>
            </a:r>
            <a:endParaRPr lang="en-US" sz="18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D5C97894-4FDD-910E-567F-F4256E6EEC1B}"/>
              </a:ext>
            </a:extLst>
          </p:cNvPr>
          <p:cNvSpPr/>
          <p:nvPr/>
        </p:nvSpPr>
        <p:spPr>
          <a:xfrm>
            <a:off x="1402076" y="2157984"/>
            <a:ext cx="9387843" cy="4267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1" u="none" strike="noStrike" kern="1200" cap="none" spc="0" baseline="0">
                <a:solidFill>
                  <a:srgbClr val="DBEAFE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HTML / CSS / JavaScript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623DD464-EEA6-A57C-F1F7-2261EB6947BC}"/>
              </a:ext>
            </a:extLst>
          </p:cNvPr>
          <p:cNvSpPr/>
          <p:nvPr/>
        </p:nvSpPr>
        <p:spPr>
          <a:xfrm>
            <a:off x="5730243" y="2645660"/>
            <a:ext cx="731520" cy="3047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67" b="0" i="0" u="none" strike="noStrike" kern="1200" cap="none" spc="0" baseline="0">
                <a:solidFill>
                  <a:srgbClr val="64748B"/>
                </a:solidFill>
                <a:uFillTx/>
                <a:latin typeface="Aptos"/>
              </a:rPr>
              <a:t>⬇</a:t>
            </a:r>
            <a:endParaRPr lang="en-US" sz="18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EF3E1B69-3A3A-D2B8-94BF-1C9BB99B078C}"/>
              </a:ext>
            </a:extLst>
          </p:cNvPr>
          <p:cNvSpPr/>
          <p:nvPr/>
        </p:nvSpPr>
        <p:spPr>
          <a:xfrm>
            <a:off x="1219196" y="2877315"/>
            <a:ext cx="9753603" cy="1158243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01864CFD-6C47-CD9D-7F15-B6209F0816E1}"/>
              </a:ext>
            </a:extLst>
          </p:cNvPr>
          <p:cNvSpPr/>
          <p:nvPr/>
        </p:nvSpPr>
        <p:spPr>
          <a:xfrm>
            <a:off x="1402076" y="2962656"/>
            <a:ext cx="9387843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WEBSZERVER – Express.js (Node.js)</a:t>
            </a:r>
            <a:endParaRPr lang="en-US" sz="18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A0E8C75C-9741-DE6F-D3D9-74DD69C05D2B}"/>
              </a:ext>
            </a:extLst>
          </p:cNvPr>
          <p:cNvSpPr/>
          <p:nvPr/>
        </p:nvSpPr>
        <p:spPr>
          <a:xfrm>
            <a:off x="1402076" y="3520439"/>
            <a:ext cx="9387843" cy="4267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1" u="none" strike="noStrike" kern="1200" cap="none" spc="0" baseline="0">
                <a:solidFill>
                  <a:srgbClr val="DBEAFE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API végpontok, session kezelés, middleware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FF06AD6A-9660-22A3-3F97-3BA6E7E50D0C}"/>
              </a:ext>
            </a:extLst>
          </p:cNvPr>
          <p:cNvSpPr/>
          <p:nvPr/>
        </p:nvSpPr>
        <p:spPr>
          <a:xfrm>
            <a:off x="5730243" y="4017260"/>
            <a:ext cx="731520" cy="3047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67" b="0" i="0" u="none" strike="noStrike" kern="1200" cap="none" spc="0" baseline="0">
                <a:solidFill>
                  <a:srgbClr val="64748B"/>
                </a:solidFill>
                <a:uFillTx/>
                <a:latin typeface="Aptos"/>
              </a:rPr>
              <a:t>⬇</a:t>
            </a:r>
            <a:endParaRPr lang="en-US" sz="18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ED4DD038-6D2B-DB5E-3B86-0103904796EF}"/>
              </a:ext>
            </a:extLst>
          </p:cNvPr>
          <p:cNvSpPr/>
          <p:nvPr/>
        </p:nvSpPr>
        <p:spPr>
          <a:xfrm>
            <a:off x="1219196" y="4249673"/>
            <a:ext cx="9753603" cy="1158243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6E41CDB0-D19A-6068-8826-B7BBFAE6FCF6}"/>
              </a:ext>
            </a:extLst>
          </p:cNvPr>
          <p:cNvSpPr/>
          <p:nvPr/>
        </p:nvSpPr>
        <p:spPr>
          <a:xfrm>
            <a:off x="1402076" y="4364732"/>
            <a:ext cx="9387843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ÜZLETI LOGIKA – Server.js</a:t>
            </a:r>
            <a:endParaRPr lang="en-US" sz="18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99189421-49EF-694D-FBF5-5B72C596649D}"/>
              </a:ext>
            </a:extLst>
          </p:cNvPr>
          <p:cNvSpPr/>
          <p:nvPr/>
        </p:nvSpPr>
        <p:spPr>
          <a:xfrm>
            <a:off x="1466084" y="4943859"/>
            <a:ext cx="9387843" cy="4267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1" u="none" strike="noStrike" kern="1200" cap="none" spc="0" baseline="0">
                <a:solidFill>
                  <a:srgbClr val="DBEAFE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Adatvalidáció, bcrypt, nodemailer, multer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2022DFA6-0BBD-1E55-7296-2D434597FAA3}"/>
              </a:ext>
            </a:extLst>
          </p:cNvPr>
          <p:cNvSpPr/>
          <p:nvPr/>
        </p:nvSpPr>
        <p:spPr>
          <a:xfrm>
            <a:off x="5730243" y="5393432"/>
            <a:ext cx="731520" cy="3047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67" b="0" i="0" u="none" strike="noStrike" kern="1200" cap="none" spc="0" baseline="0">
                <a:solidFill>
                  <a:srgbClr val="64748B"/>
                </a:solidFill>
                <a:uFillTx/>
                <a:latin typeface="Aptos"/>
              </a:rPr>
              <a:t>⬇</a:t>
            </a:r>
            <a:endParaRPr lang="en-US" sz="18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DB00426E-F3E8-EB39-79E1-95E5AAD89001}"/>
              </a:ext>
            </a:extLst>
          </p:cNvPr>
          <p:cNvSpPr/>
          <p:nvPr/>
        </p:nvSpPr>
        <p:spPr>
          <a:xfrm>
            <a:off x="1219196" y="5638803"/>
            <a:ext cx="9753603" cy="1158243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BEF80370-A97E-35B5-A549-1C3A2C9E70EC}"/>
              </a:ext>
            </a:extLst>
          </p:cNvPr>
          <p:cNvSpPr/>
          <p:nvPr/>
        </p:nvSpPr>
        <p:spPr>
          <a:xfrm>
            <a:off x="1466084" y="5838444"/>
            <a:ext cx="9387843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ADATBÁZIS – MySQL </a:t>
            </a:r>
            <a:endParaRPr lang="en-US" sz="18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4FF95056-4FC3-D826-09F6-A8D3EA30328A}"/>
              </a:ext>
            </a:extLst>
          </p:cNvPr>
          <p:cNvSpPr/>
          <p:nvPr/>
        </p:nvSpPr>
        <p:spPr>
          <a:xfrm>
            <a:off x="1466084" y="6372609"/>
            <a:ext cx="9387843" cy="4267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1" u="none" strike="noStrike" kern="1200" cap="none" spc="0" baseline="0">
                <a:solidFill>
                  <a:srgbClr val="DBEAFE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kutyak, felhasznalok, orokbefogadasok, fajtak, orvosi_vizsgalatok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85636DEA-C528-5256-DB3A-80DB6CCA0372}"/>
              </a:ext>
            </a:extLst>
          </p:cNvPr>
          <p:cNvSpPr/>
          <p:nvPr/>
        </p:nvSpPr>
        <p:spPr>
          <a:xfrm>
            <a:off x="0" y="0"/>
            <a:ext cx="12191996" cy="1463040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788B5F28-4487-D133-7ACF-19CBC6B3EE5C}"/>
              </a:ext>
            </a:extLst>
          </p:cNvPr>
          <p:cNvSpPr/>
          <p:nvPr/>
        </p:nvSpPr>
        <p:spPr>
          <a:xfrm>
            <a:off x="487676" y="182880"/>
            <a:ext cx="10972800" cy="9753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Adatbázis-tervezés</a:t>
            </a:r>
            <a:endParaRPr lang="en-US" sz="3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4" name="Picture 78">
            <a:extLst>
              <a:ext uri="{FF2B5EF4-FFF2-40B4-BE49-F238E27FC236}">
                <a16:creationId xmlns:a16="http://schemas.microsoft.com/office/drawing/2014/main" id="{63D50613-2475-05D8-A7AA-B9F14363F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845" y="2523744"/>
            <a:ext cx="4992239" cy="370410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80">
            <a:extLst>
              <a:ext uri="{FF2B5EF4-FFF2-40B4-BE49-F238E27FC236}">
                <a16:creationId xmlns:a16="http://schemas.microsoft.com/office/drawing/2014/main" id="{3C12A41E-3F8F-F2CA-454D-501C3FD7D0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93" y="2706624"/>
            <a:ext cx="5478600" cy="299075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Box 81">
            <a:extLst>
              <a:ext uri="{FF2B5EF4-FFF2-40B4-BE49-F238E27FC236}">
                <a16:creationId xmlns:a16="http://schemas.microsoft.com/office/drawing/2014/main" id="{AA875544-7F38-52B5-3AFA-FF79F89FCF23}"/>
              </a:ext>
            </a:extLst>
          </p:cNvPr>
          <p:cNvSpPr txBox="1"/>
          <p:nvPr/>
        </p:nvSpPr>
        <p:spPr>
          <a:xfrm>
            <a:off x="617393" y="1900168"/>
            <a:ext cx="1563249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UML diagram:</a:t>
            </a:r>
          </a:p>
        </p:txBody>
      </p:sp>
      <p:sp>
        <p:nvSpPr>
          <p:cNvPr id="7" name="TextBox 82">
            <a:extLst>
              <a:ext uri="{FF2B5EF4-FFF2-40B4-BE49-F238E27FC236}">
                <a16:creationId xmlns:a16="http://schemas.microsoft.com/office/drawing/2014/main" id="{5B66C981-C444-8743-6A09-D681A0127EEB}"/>
              </a:ext>
            </a:extLst>
          </p:cNvPr>
          <p:cNvSpPr txBox="1"/>
          <p:nvPr/>
        </p:nvSpPr>
        <p:spPr>
          <a:xfrm>
            <a:off x="6848856" y="1898376"/>
            <a:ext cx="1727457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Kész adatbázis: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57C617-C460-17F1-ACED-E820D4C5A89C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DA748D9-9D49-9D2E-B33E-5816F3833303}"/>
              </a:ext>
            </a:extLst>
          </p:cNvPr>
          <p:cNvSpPr/>
          <p:nvPr/>
        </p:nvSpPr>
        <p:spPr>
          <a:xfrm>
            <a:off x="0" y="0"/>
            <a:ext cx="12191996" cy="1182630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2BD2BEEE-440A-E92C-A7D1-0D502428608B}"/>
              </a:ext>
            </a:extLst>
          </p:cNvPr>
          <p:cNvSpPr/>
          <p:nvPr/>
        </p:nvSpPr>
        <p:spPr>
          <a:xfrm>
            <a:off x="487660" y="121955"/>
            <a:ext cx="10972800" cy="9753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67" b="1" i="0" u="none" strike="noStrike" kern="1200" cap="none" spc="0" baseline="0" dirty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Frontend</a:t>
            </a:r>
            <a:endParaRPr lang="en-US" sz="3467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BA13A913-08B6-B265-0364-07569CEAC454}"/>
              </a:ext>
            </a:extLst>
          </p:cNvPr>
          <p:cNvSpPr/>
          <p:nvPr/>
        </p:nvSpPr>
        <p:spPr>
          <a:xfrm>
            <a:off x="365762" y="1207017"/>
            <a:ext cx="11460476" cy="1121667"/>
          </a:xfrm>
          <a:prstGeom prst="rect">
            <a:avLst/>
          </a:prstGeom>
          <a:solidFill>
            <a:srgbClr val="EFF6FF"/>
          </a:solidFill>
          <a:ln w="7616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9C2E9FE8-08E6-BC40-0F4D-7FD8260576EE}"/>
              </a:ext>
            </a:extLst>
          </p:cNvPr>
          <p:cNvSpPr/>
          <p:nvPr/>
        </p:nvSpPr>
        <p:spPr>
          <a:xfrm>
            <a:off x="487678" y="1328944"/>
            <a:ext cx="670556" cy="731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🏠</a:t>
            </a: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78263DE6-EAE2-FCBA-2489-F17F586DF585}"/>
              </a:ext>
            </a:extLst>
          </p:cNvPr>
          <p:cNvSpPr/>
          <p:nvPr/>
        </p:nvSpPr>
        <p:spPr>
          <a:xfrm>
            <a:off x="1219198" y="1304557"/>
            <a:ext cx="4876796" cy="4632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Főoldal (index.html)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2DCD6CB1-D2DB-66C1-0DF7-AAC5F52AE0AA}"/>
              </a:ext>
            </a:extLst>
          </p:cNvPr>
          <p:cNvSpPr/>
          <p:nvPr/>
        </p:nvSpPr>
        <p:spPr>
          <a:xfrm>
            <a:off x="1219198" y="1780045"/>
            <a:ext cx="10424160" cy="4632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Kutyák listázása szűréssel (fajta, nem, kor), keresés, adomány szekció, visszajelzések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2BFC9731-CF64-18FB-A670-8BD255A593DA}"/>
              </a:ext>
            </a:extLst>
          </p:cNvPr>
          <p:cNvSpPr/>
          <p:nvPr/>
        </p:nvSpPr>
        <p:spPr>
          <a:xfrm>
            <a:off x="365762" y="2310392"/>
            <a:ext cx="11460476" cy="1121667"/>
          </a:xfrm>
          <a:prstGeom prst="rect">
            <a:avLst/>
          </a:prstGeom>
          <a:solidFill>
            <a:srgbClr val="F8FAFC"/>
          </a:solidFill>
          <a:ln w="7616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B1BBFC2E-DC3E-E3D5-F9F9-364BDB9E69C6}"/>
              </a:ext>
            </a:extLst>
          </p:cNvPr>
          <p:cNvSpPr/>
          <p:nvPr/>
        </p:nvSpPr>
        <p:spPr>
          <a:xfrm>
            <a:off x="487678" y="2432309"/>
            <a:ext cx="670556" cy="731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👤</a:t>
            </a: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8896B4A1-F605-0A80-FD5C-3893070C0283}"/>
              </a:ext>
            </a:extLst>
          </p:cNvPr>
          <p:cNvSpPr/>
          <p:nvPr/>
        </p:nvSpPr>
        <p:spPr>
          <a:xfrm>
            <a:off x="1219198" y="2407921"/>
            <a:ext cx="4876796" cy="4632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Regisztráció / Bejelentkezés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F828FD06-F8DE-56DE-9E06-0A650642D324}"/>
              </a:ext>
            </a:extLst>
          </p:cNvPr>
          <p:cNvSpPr/>
          <p:nvPr/>
        </p:nvSpPr>
        <p:spPr>
          <a:xfrm>
            <a:off x="1219198" y="2883409"/>
            <a:ext cx="10424160" cy="4632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Felhasználói fiók létrehozása bcrypt jelszóval, session alapú belépés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C92ACDC3-D3C9-88F1-4492-6F35AF1FAAC3}"/>
              </a:ext>
            </a:extLst>
          </p:cNvPr>
          <p:cNvSpPr/>
          <p:nvPr/>
        </p:nvSpPr>
        <p:spPr>
          <a:xfrm>
            <a:off x="365756" y="3407677"/>
            <a:ext cx="11460476" cy="1121667"/>
          </a:xfrm>
          <a:prstGeom prst="rect">
            <a:avLst/>
          </a:prstGeom>
          <a:solidFill>
            <a:srgbClr val="EFF6FF"/>
          </a:solidFill>
          <a:ln w="7616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BE450AF1-7A04-2F2F-30D9-27395E501FF2}"/>
              </a:ext>
            </a:extLst>
          </p:cNvPr>
          <p:cNvSpPr/>
          <p:nvPr/>
        </p:nvSpPr>
        <p:spPr>
          <a:xfrm>
            <a:off x="487672" y="3529593"/>
            <a:ext cx="670556" cy="731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🔑</a:t>
            </a: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2ED9C70B-E069-1EA8-267F-6A4188604E59}"/>
              </a:ext>
            </a:extLst>
          </p:cNvPr>
          <p:cNvSpPr/>
          <p:nvPr/>
        </p:nvSpPr>
        <p:spPr>
          <a:xfrm>
            <a:off x="1219192" y="3505216"/>
            <a:ext cx="4876796" cy="4632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Elfelejtett jelszó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4F54AEC9-012A-D1BF-CE70-36F3B420E733}"/>
              </a:ext>
            </a:extLst>
          </p:cNvPr>
          <p:cNvSpPr/>
          <p:nvPr/>
        </p:nvSpPr>
        <p:spPr>
          <a:xfrm>
            <a:off x="1219192" y="3980704"/>
            <a:ext cx="10424160" cy="4632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Email alapú token rendszer, 30 perces érvényességi idő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91341E11-B71C-A1F4-4D5E-DAB2207D2396}"/>
              </a:ext>
            </a:extLst>
          </p:cNvPr>
          <p:cNvSpPr/>
          <p:nvPr/>
        </p:nvSpPr>
        <p:spPr>
          <a:xfrm>
            <a:off x="365750" y="4529344"/>
            <a:ext cx="11460476" cy="1121667"/>
          </a:xfrm>
          <a:prstGeom prst="rect">
            <a:avLst/>
          </a:prstGeom>
          <a:solidFill>
            <a:srgbClr val="F8FAFC"/>
          </a:solidFill>
          <a:ln w="7616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29FF446E-A5D8-B704-F506-9EEC11AFFB53}"/>
              </a:ext>
            </a:extLst>
          </p:cNvPr>
          <p:cNvSpPr/>
          <p:nvPr/>
        </p:nvSpPr>
        <p:spPr>
          <a:xfrm>
            <a:off x="487666" y="4651271"/>
            <a:ext cx="670556" cy="731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🛠️</a:t>
            </a: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29439A86-6E9A-42C5-E85D-8C9E50C808D6}"/>
              </a:ext>
            </a:extLst>
          </p:cNvPr>
          <p:cNvSpPr/>
          <p:nvPr/>
        </p:nvSpPr>
        <p:spPr>
          <a:xfrm>
            <a:off x="1219186" y="4626883"/>
            <a:ext cx="4876796" cy="4632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Admin felület (admin.html)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FE64BCEF-6ED5-4DCD-4034-5FCCCB7E07C6}"/>
              </a:ext>
            </a:extLst>
          </p:cNvPr>
          <p:cNvSpPr/>
          <p:nvPr/>
        </p:nvSpPr>
        <p:spPr>
          <a:xfrm>
            <a:off x="1219186" y="5102372"/>
            <a:ext cx="10424160" cy="4632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Új kutya hozzáadása képpel, fajta kezelés, örökbefogadások kezelése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6D2C819C-A5C9-0DB5-86D8-459EDCE5F9FA}"/>
              </a:ext>
            </a:extLst>
          </p:cNvPr>
          <p:cNvSpPr/>
          <p:nvPr/>
        </p:nvSpPr>
        <p:spPr>
          <a:xfrm>
            <a:off x="365744" y="5650992"/>
            <a:ext cx="11460476" cy="1121667"/>
          </a:xfrm>
          <a:prstGeom prst="rect">
            <a:avLst/>
          </a:prstGeom>
          <a:solidFill>
            <a:srgbClr val="EFF6FF"/>
          </a:solidFill>
          <a:ln w="7616" cap="flat">
            <a:solidFill>
              <a:srgbClr val="CBD5E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116B3F97-6674-9D4E-E16E-AD1EE4AB82C6}"/>
              </a:ext>
            </a:extLst>
          </p:cNvPr>
          <p:cNvSpPr/>
          <p:nvPr/>
        </p:nvSpPr>
        <p:spPr>
          <a:xfrm>
            <a:off x="487660" y="5772909"/>
            <a:ext cx="670556" cy="731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👤</a:t>
            </a:r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183B4E95-46B8-9414-E599-C73AA8D6FD2E}"/>
              </a:ext>
            </a:extLst>
          </p:cNvPr>
          <p:cNvSpPr/>
          <p:nvPr/>
        </p:nvSpPr>
        <p:spPr>
          <a:xfrm>
            <a:off x="1219180" y="5748521"/>
            <a:ext cx="4876796" cy="4632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Profil oldal (profil.html)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434AAF76-16DD-8EF4-8521-A84A6C19006D}"/>
              </a:ext>
            </a:extLst>
          </p:cNvPr>
          <p:cNvSpPr/>
          <p:nvPr/>
        </p:nvSpPr>
        <p:spPr>
          <a:xfrm>
            <a:off x="1219180" y="6224009"/>
            <a:ext cx="10424160" cy="4632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Profilkép feltöltés, adatok megtekintése, örökbefogadási kérelmek státusza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12D77D2-5804-0545-ACC3-4E13BA3E72FB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886825F-DC77-470F-4EF7-B7DF533B8C91}"/>
              </a:ext>
            </a:extLst>
          </p:cNvPr>
          <p:cNvSpPr/>
          <p:nvPr/>
        </p:nvSpPr>
        <p:spPr>
          <a:xfrm>
            <a:off x="0" y="0"/>
            <a:ext cx="12191996" cy="1463040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3842B587-E967-7FD7-FCCC-92373C7BA58C}"/>
              </a:ext>
            </a:extLst>
          </p:cNvPr>
          <p:cNvSpPr/>
          <p:nvPr/>
        </p:nvSpPr>
        <p:spPr>
          <a:xfrm>
            <a:off x="487676" y="182880"/>
            <a:ext cx="10972800" cy="9753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Backend és API végpontok</a:t>
            </a:r>
            <a:endParaRPr lang="en-US" sz="3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FDF24419-3498-940A-DFDA-63302FA5E0E9}"/>
              </a:ext>
            </a:extLst>
          </p:cNvPr>
          <p:cNvSpPr/>
          <p:nvPr/>
        </p:nvSpPr>
        <p:spPr>
          <a:xfrm>
            <a:off x="182878" y="1492303"/>
            <a:ext cx="4876800" cy="582171"/>
          </a:xfrm>
          <a:prstGeom prst="rect">
            <a:avLst/>
          </a:prstGeom>
          <a:solidFill>
            <a:srgbClr val="EFF6FF"/>
          </a:solidFill>
          <a:ln w="15243" cap="flat">
            <a:solidFill>
              <a:srgbClr val="05966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C2CE5443-1A39-637D-545F-02B87A30817B}"/>
              </a:ext>
            </a:extLst>
          </p:cNvPr>
          <p:cNvSpPr/>
          <p:nvPr/>
        </p:nvSpPr>
        <p:spPr>
          <a:xfrm>
            <a:off x="182877" y="1492303"/>
            <a:ext cx="913099" cy="232869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C7141031-0DB3-764F-943B-81F85C6C4077}"/>
              </a:ext>
            </a:extLst>
          </p:cNvPr>
          <p:cNvSpPr/>
          <p:nvPr/>
        </p:nvSpPr>
        <p:spPr>
          <a:xfrm>
            <a:off x="182877" y="1492303"/>
            <a:ext cx="913099" cy="2328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POST</a:t>
            </a:r>
            <a:endParaRPr lang="en-US" sz="12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7FA64CD6-AAE9-C1F9-27E9-94C519A12869}"/>
              </a:ext>
            </a:extLst>
          </p:cNvPr>
          <p:cNvSpPr/>
          <p:nvPr/>
        </p:nvSpPr>
        <p:spPr>
          <a:xfrm>
            <a:off x="1316733" y="1541078"/>
            <a:ext cx="3787303" cy="20835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/register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BFDA59E8-30FA-2827-5FCA-4D23397AD937}"/>
              </a:ext>
            </a:extLst>
          </p:cNvPr>
          <p:cNvSpPr/>
          <p:nvPr/>
        </p:nvSpPr>
        <p:spPr>
          <a:xfrm>
            <a:off x="268218" y="2077519"/>
            <a:ext cx="4721158" cy="2328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33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Felhasználó regisztrálása (bcrypt hash, email küldés)</a:t>
            </a:r>
            <a:endParaRPr lang="en-US" sz="13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32996B4D-78E0-94A7-1DC2-3B92444CD390}"/>
              </a:ext>
            </a:extLst>
          </p:cNvPr>
          <p:cNvSpPr/>
          <p:nvPr/>
        </p:nvSpPr>
        <p:spPr>
          <a:xfrm>
            <a:off x="7132322" y="1494432"/>
            <a:ext cx="4876800" cy="582171"/>
          </a:xfrm>
          <a:prstGeom prst="rect">
            <a:avLst/>
          </a:prstGeom>
          <a:solidFill>
            <a:srgbClr val="EFF6FF"/>
          </a:solidFill>
          <a:ln w="15243" cap="flat">
            <a:solidFill>
              <a:srgbClr val="1D4ED8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1123815E-AEC5-4498-6673-19A9912772F3}"/>
              </a:ext>
            </a:extLst>
          </p:cNvPr>
          <p:cNvSpPr/>
          <p:nvPr/>
        </p:nvSpPr>
        <p:spPr>
          <a:xfrm>
            <a:off x="7132321" y="1494432"/>
            <a:ext cx="913099" cy="232869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18E93727-313F-8B32-54D0-E767E64E960C}"/>
              </a:ext>
            </a:extLst>
          </p:cNvPr>
          <p:cNvSpPr/>
          <p:nvPr/>
        </p:nvSpPr>
        <p:spPr>
          <a:xfrm>
            <a:off x="7132321" y="1494432"/>
            <a:ext cx="913099" cy="2328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POST</a:t>
            </a:r>
            <a:endParaRPr lang="en-US" sz="12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A9F5364A-0592-CCDE-A09D-B810DA5026AE}"/>
              </a:ext>
            </a:extLst>
          </p:cNvPr>
          <p:cNvSpPr/>
          <p:nvPr/>
        </p:nvSpPr>
        <p:spPr>
          <a:xfrm>
            <a:off x="8266177" y="1543207"/>
            <a:ext cx="3787303" cy="20835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/login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E74DF83D-4165-3079-B0E9-8E4E034E2AE3}"/>
              </a:ext>
            </a:extLst>
          </p:cNvPr>
          <p:cNvSpPr/>
          <p:nvPr/>
        </p:nvSpPr>
        <p:spPr>
          <a:xfrm>
            <a:off x="7217663" y="2079648"/>
            <a:ext cx="4721158" cy="2328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33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Bejelentkezés, session generálás</a:t>
            </a:r>
            <a:endParaRPr lang="en-US" sz="13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D193FF33-2353-9426-D982-1BB63CDC25FC}"/>
              </a:ext>
            </a:extLst>
          </p:cNvPr>
          <p:cNvSpPr/>
          <p:nvPr/>
        </p:nvSpPr>
        <p:spPr>
          <a:xfrm>
            <a:off x="182877" y="2430568"/>
            <a:ext cx="4876800" cy="582171"/>
          </a:xfrm>
          <a:prstGeom prst="rect">
            <a:avLst/>
          </a:prstGeom>
          <a:solidFill>
            <a:srgbClr val="EFF6FF"/>
          </a:solidFill>
          <a:ln w="15243" cap="flat">
            <a:solidFill>
              <a:srgbClr val="3B82F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98C01C59-032F-C547-7477-107740A074EB}"/>
              </a:ext>
            </a:extLst>
          </p:cNvPr>
          <p:cNvSpPr/>
          <p:nvPr/>
        </p:nvSpPr>
        <p:spPr>
          <a:xfrm>
            <a:off x="182876" y="2430568"/>
            <a:ext cx="913099" cy="232869"/>
          </a:xfrm>
          <a:prstGeom prst="rect">
            <a:avLst/>
          </a:prstGeom>
          <a:solidFill>
            <a:srgbClr val="3B82F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68FE11D9-3E9B-41C4-1535-73E8235F0C98}"/>
              </a:ext>
            </a:extLst>
          </p:cNvPr>
          <p:cNvSpPr/>
          <p:nvPr/>
        </p:nvSpPr>
        <p:spPr>
          <a:xfrm>
            <a:off x="182876" y="2430568"/>
            <a:ext cx="913099" cy="2328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GET</a:t>
            </a:r>
            <a:endParaRPr lang="en-US" sz="12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F7A3A9F9-8F2D-BF3A-D11B-C9987BD244B9}"/>
              </a:ext>
            </a:extLst>
          </p:cNvPr>
          <p:cNvSpPr/>
          <p:nvPr/>
        </p:nvSpPr>
        <p:spPr>
          <a:xfrm>
            <a:off x="1316732" y="2479343"/>
            <a:ext cx="3787303" cy="20835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/kutyak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1F2B623B-66DB-FF83-F329-10A67051C180}"/>
              </a:ext>
            </a:extLst>
          </p:cNvPr>
          <p:cNvSpPr/>
          <p:nvPr/>
        </p:nvSpPr>
        <p:spPr>
          <a:xfrm>
            <a:off x="268217" y="3015784"/>
            <a:ext cx="4721158" cy="2328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33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Összes elérhető kutya lekérdezése JOIN-nal</a:t>
            </a:r>
            <a:endParaRPr lang="en-US" sz="13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626FFB4F-D0A3-96B6-9B44-996F3F4514E8}"/>
              </a:ext>
            </a:extLst>
          </p:cNvPr>
          <p:cNvSpPr/>
          <p:nvPr/>
        </p:nvSpPr>
        <p:spPr>
          <a:xfrm>
            <a:off x="7132322" y="2437488"/>
            <a:ext cx="4876800" cy="582171"/>
          </a:xfrm>
          <a:prstGeom prst="rect">
            <a:avLst/>
          </a:prstGeom>
          <a:solidFill>
            <a:srgbClr val="EFF6FF"/>
          </a:solidFill>
          <a:ln w="15243" cap="flat">
            <a:solidFill>
              <a:srgbClr val="05966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45568531-269A-242A-84C9-288FA9DE7DBB}"/>
              </a:ext>
            </a:extLst>
          </p:cNvPr>
          <p:cNvSpPr/>
          <p:nvPr/>
        </p:nvSpPr>
        <p:spPr>
          <a:xfrm>
            <a:off x="7132321" y="2437488"/>
            <a:ext cx="913099" cy="232869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CB167B84-D917-D377-A403-588D7BBD1E59}"/>
              </a:ext>
            </a:extLst>
          </p:cNvPr>
          <p:cNvSpPr/>
          <p:nvPr/>
        </p:nvSpPr>
        <p:spPr>
          <a:xfrm>
            <a:off x="7132321" y="2437488"/>
            <a:ext cx="913099" cy="2328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POST</a:t>
            </a:r>
            <a:endParaRPr lang="en-US" sz="12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70963469-40F5-1A09-7AB9-7CBADF3A8DB0}"/>
              </a:ext>
            </a:extLst>
          </p:cNvPr>
          <p:cNvSpPr/>
          <p:nvPr/>
        </p:nvSpPr>
        <p:spPr>
          <a:xfrm>
            <a:off x="8266177" y="2486263"/>
            <a:ext cx="3787303" cy="20835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/kutyak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B17E9B35-2860-7E83-266D-6DCD8944B12E}"/>
              </a:ext>
            </a:extLst>
          </p:cNvPr>
          <p:cNvSpPr/>
          <p:nvPr/>
        </p:nvSpPr>
        <p:spPr>
          <a:xfrm>
            <a:off x="7217663" y="3022704"/>
            <a:ext cx="4721158" cy="2328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33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Új kutya hozzáadása (admin) képfeltöltéssel</a:t>
            </a:r>
            <a:endParaRPr lang="en-US" sz="13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33F8C73D-555A-00BC-0F35-F13AC44DF8AA}"/>
              </a:ext>
            </a:extLst>
          </p:cNvPr>
          <p:cNvSpPr/>
          <p:nvPr/>
        </p:nvSpPr>
        <p:spPr>
          <a:xfrm>
            <a:off x="182876" y="3401631"/>
            <a:ext cx="4876800" cy="582171"/>
          </a:xfrm>
          <a:prstGeom prst="rect">
            <a:avLst/>
          </a:prstGeom>
          <a:solidFill>
            <a:srgbClr val="EFF6FF"/>
          </a:solidFill>
          <a:ln w="15243" cap="flat">
            <a:solidFill>
              <a:srgbClr val="05966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6" name="Shape 27">
            <a:extLst>
              <a:ext uri="{FF2B5EF4-FFF2-40B4-BE49-F238E27FC236}">
                <a16:creationId xmlns:a16="http://schemas.microsoft.com/office/drawing/2014/main" id="{F689CA1A-DEDD-9F4A-1296-AC0DD0897F1E}"/>
              </a:ext>
            </a:extLst>
          </p:cNvPr>
          <p:cNvSpPr/>
          <p:nvPr/>
        </p:nvSpPr>
        <p:spPr>
          <a:xfrm>
            <a:off x="182875" y="3401631"/>
            <a:ext cx="913099" cy="232869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5E6022EE-D1D9-CF4D-E069-EA66FFC20761}"/>
              </a:ext>
            </a:extLst>
          </p:cNvPr>
          <p:cNvSpPr/>
          <p:nvPr/>
        </p:nvSpPr>
        <p:spPr>
          <a:xfrm>
            <a:off x="182875" y="3401631"/>
            <a:ext cx="913099" cy="2328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POST</a:t>
            </a:r>
            <a:endParaRPr lang="en-US" sz="12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0101733D-3037-BCB2-369A-5CE13705C4DC}"/>
              </a:ext>
            </a:extLst>
          </p:cNvPr>
          <p:cNvSpPr/>
          <p:nvPr/>
        </p:nvSpPr>
        <p:spPr>
          <a:xfrm>
            <a:off x="1316731" y="3450406"/>
            <a:ext cx="3787303" cy="20835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/orokbefogadasok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608F2D2A-6DD2-F988-8BC9-6FF4B553D075}"/>
              </a:ext>
            </a:extLst>
          </p:cNvPr>
          <p:cNvSpPr/>
          <p:nvPr/>
        </p:nvSpPr>
        <p:spPr>
          <a:xfrm>
            <a:off x="268216" y="3986847"/>
            <a:ext cx="4721158" cy="2328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33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Örökbefogadási kérelem beküldése</a:t>
            </a:r>
            <a:endParaRPr lang="en-US" sz="13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0" name="Shape 31">
            <a:extLst>
              <a:ext uri="{FF2B5EF4-FFF2-40B4-BE49-F238E27FC236}">
                <a16:creationId xmlns:a16="http://schemas.microsoft.com/office/drawing/2014/main" id="{EE9BB509-E8AA-3B7E-E142-D92EEFA104E5}"/>
              </a:ext>
            </a:extLst>
          </p:cNvPr>
          <p:cNvSpPr/>
          <p:nvPr/>
        </p:nvSpPr>
        <p:spPr>
          <a:xfrm>
            <a:off x="7046984" y="3429000"/>
            <a:ext cx="4876800" cy="582171"/>
          </a:xfrm>
          <a:prstGeom prst="rect">
            <a:avLst/>
          </a:prstGeom>
          <a:solidFill>
            <a:srgbClr val="EFF6FF"/>
          </a:solidFill>
          <a:ln w="15243" cap="flat">
            <a:solidFill>
              <a:srgbClr val="F59E0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1" name="Shape 32">
            <a:extLst>
              <a:ext uri="{FF2B5EF4-FFF2-40B4-BE49-F238E27FC236}">
                <a16:creationId xmlns:a16="http://schemas.microsoft.com/office/drawing/2014/main" id="{FA1B00E3-4B11-F6EF-DC98-F08F26B46F4C}"/>
              </a:ext>
            </a:extLst>
          </p:cNvPr>
          <p:cNvSpPr/>
          <p:nvPr/>
        </p:nvSpPr>
        <p:spPr>
          <a:xfrm>
            <a:off x="7046983" y="3429000"/>
            <a:ext cx="913099" cy="232869"/>
          </a:xfrm>
          <a:prstGeom prst="rect">
            <a:avLst/>
          </a:prstGeom>
          <a:solidFill>
            <a:srgbClr val="F59E0B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2" name="Text 33">
            <a:extLst>
              <a:ext uri="{FF2B5EF4-FFF2-40B4-BE49-F238E27FC236}">
                <a16:creationId xmlns:a16="http://schemas.microsoft.com/office/drawing/2014/main" id="{1687F715-84C2-C99E-1E8C-528B8DD9A078}"/>
              </a:ext>
            </a:extLst>
          </p:cNvPr>
          <p:cNvSpPr/>
          <p:nvPr/>
        </p:nvSpPr>
        <p:spPr>
          <a:xfrm>
            <a:off x="7046983" y="3429000"/>
            <a:ext cx="913099" cy="2328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GET</a:t>
            </a:r>
            <a:endParaRPr lang="en-US" sz="12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3" name="Text 34">
            <a:extLst>
              <a:ext uri="{FF2B5EF4-FFF2-40B4-BE49-F238E27FC236}">
                <a16:creationId xmlns:a16="http://schemas.microsoft.com/office/drawing/2014/main" id="{37B31BAE-AF69-BCE0-E736-5CEF654249D7}"/>
              </a:ext>
            </a:extLst>
          </p:cNvPr>
          <p:cNvSpPr/>
          <p:nvPr/>
        </p:nvSpPr>
        <p:spPr>
          <a:xfrm>
            <a:off x="8180839" y="3477775"/>
            <a:ext cx="3787303" cy="20835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/admin/orokbefogadasok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4" name="Text 35">
            <a:extLst>
              <a:ext uri="{FF2B5EF4-FFF2-40B4-BE49-F238E27FC236}">
                <a16:creationId xmlns:a16="http://schemas.microsoft.com/office/drawing/2014/main" id="{F5FF43B0-0EDE-7B8B-330E-F40D31186E91}"/>
              </a:ext>
            </a:extLst>
          </p:cNvPr>
          <p:cNvSpPr/>
          <p:nvPr/>
        </p:nvSpPr>
        <p:spPr>
          <a:xfrm>
            <a:off x="7132325" y="4014216"/>
            <a:ext cx="4721158" cy="2328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33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Kérelmek listázása (admin only)</a:t>
            </a:r>
            <a:endParaRPr lang="en-US" sz="13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5" name="Shape 36">
            <a:extLst>
              <a:ext uri="{FF2B5EF4-FFF2-40B4-BE49-F238E27FC236}">
                <a16:creationId xmlns:a16="http://schemas.microsoft.com/office/drawing/2014/main" id="{7F74CFA6-CDFA-EF1C-F54F-803B71EB3FEA}"/>
              </a:ext>
            </a:extLst>
          </p:cNvPr>
          <p:cNvSpPr/>
          <p:nvPr/>
        </p:nvSpPr>
        <p:spPr>
          <a:xfrm>
            <a:off x="182876" y="4452883"/>
            <a:ext cx="4876800" cy="582171"/>
          </a:xfrm>
          <a:prstGeom prst="rect">
            <a:avLst/>
          </a:prstGeom>
          <a:solidFill>
            <a:srgbClr val="EFF6FF"/>
          </a:solidFill>
          <a:ln w="15243" cap="flat">
            <a:solidFill>
              <a:srgbClr val="F59E0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6" name="Shape 37">
            <a:extLst>
              <a:ext uri="{FF2B5EF4-FFF2-40B4-BE49-F238E27FC236}">
                <a16:creationId xmlns:a16="http://schemas.microsoft.com/office/drawing/2014/main" id="{E080E799-FB3F-400D-8249-585AC45AE1F1}"/>
              </a:ext>
            </a:extLst>
          </p:cNvPr>
          <p:cNvSpPr/>
          <p:nvPr/>
        </p:nvSpPr>
        <p:spPr>
          <a:xfrm>
            <a:off x="182875" y="4452883"/>
            <a:ext cx="913099" cy="232869"/>
          </a:xfrm>
          <a:prstGeom prst="rect">
            <a:avLst/>
          </a:prstGeom>
          <a:solidFill>
            <a:srgbClr val="F59E0B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7" name="Text 38">
            <a:extLst>
              <a:ext uri="{FF2B5EF4-FFF2-40B4-BE49-F238E27FC236}">
                <a16:creationId xmlns:a16="http://schemas.microsoft.com/office/drawing/2014/main" id="{ADF80761-4778-D419-A381-6D3EBE583A00}"/>
              </a:ext>
            </a:extLst>
          </p:cNvPr>
          <p:cNvSpPr/>
          <p:nvPr/>
        </p:nvSpPr>
        <p:spPr>
          <a:xfrm>
            <a:off x="182875" y="4452883"/>
            <a:ext cx="913099" cy="2328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PUT</a:t>
            </a:r>
            <a:endParaRPr lang="en-US" sz="12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137A93CD-CFCA-41B9-11E4-072081FC85B3}"/>
              </a:ext>
            </a:extLst>
          </p:cNvPr>
          <p:cNvSpPr/>
          <p:nvPr/>
        </p:nvSpPr>
        <p:spPr>
          <a:xfrm>
            <a:off x="1316731" y="4501658"/>
            <a:ext cx="3787303" cy="20835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/admin/kérelem/:id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9" name="Text 40">
            <a:extLst>
              <a:ext uri="{FF2B5EF4-FFF2-40B4-BE49-F238E27FC236}">
                <a16:creationId xmlns:a16="http://schemas.microsoft.com/office/drawing/2014/main" id="{49AB7D32-C4D6-4B26-3E8F-CFC352828CB8}"/>
              </a:ext>
            </a:extLst>
          </p:cNvPr>
          <p:cNvSpPr/>
          <p:nvPr/>
        </p:nvSpPr>
        <p:spPr>
          <a:xfrm>
            <a:off x="268216" y="5038099"/>
            <a:ext cx="4721158" cy="2328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33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Kérelem státusz módosítása</a:t>
            </a:r>
            <a:endParaRPr lang="en-US" sz="13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0" name="Shape 41">
            <a:extLst>
              <a:ext uri="{FF2B5EF4-FFF2-40B4-BE49-F238E27FC236}">
                <a16:creationId xmlns:a16="http://schemas.microsoft.com/office/drawing/2014/main" id="{107BB25B-00A4-879A-2AB7-F2A2A9748463}"/>
              </a:ext>
            </a:extLst>
          </p:cNvPr>
          <p:cNvSpPr/>
          <p:nvPr/>
        </p:nvSpPr>
        <p:spPr>
          <a:xfrm>
            <a:off x="7132321" y="4452883"/>
            <a:ext cx="4876800" cy="582171"/>
          </a:xfrm>
          <a:prstGeom prst="rect">
            <a:avLst/>
          </a:prstGeom>
          <a:solidFill>
            <a:srgbClr val="EFF6FF"/>
          </a:solidFill>
          <a:ln w="15243" cap="flat">
            <a:solidFill>
              <a:srgbClr val="E945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1" name="Shape 42">
            <a:extLst>
              <a:ext uri="{FF2B5EF4-FFF2-40B4-BE49-F238E27FC236}">
                <a16:creationId xmlns:a16="http://schemas.microsoft.com/office/drawing/2014/main" id="{4BF753FE-42AA-B826-5FD5-66693FEA6983}"/>
              </a:ext>
            </a:extLst>
          </p:cNvPr>
          <p:cNvSpPr/>
          <p:nvPr/>
        </p:nvSpPr>
        <p:spPr>
          <a:xfrm>
            <a:off x="7132320" y="4452883"/>
            <a:ext cx="913099" cy="232869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2" name="Text 43">
            <a:extLst>
              <a:ext uri="{FF2B5EF4-FFF2-40B4-BE49-F238E27FC236}">
                <a16:creationId xmlns:a16="http://schemas.microsoft.com/office/drawing/2014/main" id="{19421D69-63D2-C17D-9179-2F8FE8440AF4}"/>
              </a:ext>
            </a:extLst>
          </p:cNvPr>
          <p:cNvSpPr/>
          <p:nvPr/>
        </p:nvSpPr>
        <p:spPr>
          <a:xfrm>
            <a:off x="7132320" y="4452883"/>
            <a:ext cx="913099" cy="2328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POST</a:t>
            </a:r>
            <a:endParaRPr lang="en-US" sz="12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3" name="Text 44">
            <a:extLst>
              <a:ext uri="{FF2B5EF4-FFF2-40B4-BE49-F238E27FC236}">
                <a16:creationId xmlns:a16="http://schemas.microsoft.com/office/drawing/2014/main" id="{2CE4483A-BFBF-0CB5-B5C3-86423FA4837C}"/>
              </a:ext>
            </a:extLst>
          </p:cNvPr>
          <p:cNvSpPr/>
          <p:nvPr/>
        </p:nvSpPr>
        <p:spPr>
          <a:xfrm>
            <a:off x="8266176" y="4501658"/>
            <a:ext cx="3787303" cy="20835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/forgot-password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4" name="Text 45">
            <a:extLst>
              <a:ext uri="{FF2B5EF4-FFF2-40B4-BE49-F238E27FC236}">
                <a16:creationId xmlns:a16="http://schemas.microsoft.com/office/drawing/2014/main" id="{7F349A78-70A9-EDE1-ECF4-E1933135974A}"/>
              </a:ext>
            </a:extLst>
          </p:cNvPr>
          <p:cNvSpPr/>
          <p:nvPr/>
        </p:nvSpPr>
        <p:spPr>
          <a:xfrm>
            <a:off x="7217662" y="5038099"/>
            <a:ext cx="4721158" cy="2328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33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Jelszó visszaállítás emailben tokennel</a:t>
            </a:r>
            <a:endParaRPr lang="en-US" sz="13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5" name="Shape 46">
            <a:extLst>
              <a:ext uri="{FF2B5EF4-FFF2-40B4-BE49-F238E27FC236}">
                <a16:creationId xmlns:a16="http://schemas.microsoft.com/office/drawing/2014/main" id="{34D83C9B-73DF-449F-9B67-EC8775A2CC9D}"/>
              </a:ext>
            </a:extLst>
          </p:cNvPr>
          <p:cNvSpPr/>
          <p:nvPr/>
        </p:nvSpPr>
        <p:spPr>
          <a:xfrm>
            <a:off x="3624143" y="5476766"/>
            <a:ext cx="4980559" cy="582171"/>
          </a:xfrm>
          <a:prstGeom prst="rect">
            <a:avLst/>
          </a:prstGeom>
          <a:solidFill>
            <a:srgbClr val="EFF6FF"/>
          </a:solidFill>
          <a:ln w="15243" cap="flat">
            <a:solidFill>
              <a:srgbClr val="E945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6" name="Shape 47">
            <a:extLst>
              <a:ext uri="{FF2B5EF4-FFF2-40B4-BE49-F238E27FC236}">
                <a16:creationId xmlns:a16="http://schemas.microsoft.com/office/drawing/2014/main" id="{5C4E1D5D-C4D8-B71C-7A83-66D670A6664F}"/>
              </a:ext>
            </a:extLst>
          </p:cNvPr>
          <p:cNvSpPr/>
          <p:nvPr/>
        </p:nvSpPr>
        <p:spPr>
          <a:xfrm>
            <a:off x="3624143" y="5476766"/>
            <a:ext cx="1037613" cy="245122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7" name="Text 48">
            <a:extLst>
              <a:ext uri="{FF2B5EF4-FFF2-40B4-BE49-F238E27FC236}">
                <a16:creationId xmlns:a16="http://schemas.microsoft.com/office/drawing/2014/main" id="{954C508A-85AD-020D-6EB4-2C6DA8821998}"/>
              </a:ext>
            </a:extLst>
          </p:cNvPr>
          <p:cNvSpPr/>
          <p:nvPr/>
        </p:nvSpPr>
        <p:spPr>
          <a:xfrm>
            <a:off x="3624143" y="5476766"/>
            <a:ext cx="1037613" cy="24512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33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POST</a:t>
            </a:r>
            <a:endParaRPr lang="en-US" sz="13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8" name="Text 49">
            <a:extLst>
              <a:ext uri="{FF2B5EF4-FFF2-40B4-BE49-F238E27FC236}">
                <a16:creationId xmlns:a16="http://schemas.microsoft.com/office/drawing/2014/main" id="{ACA790A4-BB21-765E-8C96-82A8C4739231}"/>
              </a:ext>
            </a:extLst>
          </p:cNvPr>
          <p:cNvSpPr/>
          <p:nvPr/>
        </p:nvSpPr>
        <p:spPr>
          <a:xfrm>
            <a:off x="4904303" y="5525541"/>
            <a:ext cx="3735419" cy="2206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/reset-password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9" name="Text 50">
            <a:extLst>
              <a:ext uri="{FF2B5EF4-FFF2-40B4-BE49-F238E27FC236}">
                <a16:creationId xmlns:a16="http://schemas.microsoft.com/office/drawing/2014/main" id="{D9D47E7B-4DDD-819A-8F85-1FFD4930A8A6}"/>
              </a:ext>
            </a:extLst>
          </p:cNvPr>
          <p:cNvSpPr/>
          <p:nvPr/>
        </p:nvSpPr>
        <p:spPr>
          <a:xfrm>
            <a:off x="3709484" y="6061982"/>
            <a:ext cx="4773032" cy="2328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33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Jelszó megváltoztatása token alapján</a:t>
            </a:r>
            <a:endParaRPr lang="en-US" sz="13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023752-D95A-14D9-2BB8-047970590BC6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64E5681-C7B6-2BA4-3C83-29A5A16583DB}"/>
              </a:ext>
            </a:extLst>
          </p:cNvPr>
          <p:cNvSpPr/>
          <p:nvPr/>
        </p:nvSpPr>
        <p:spPr>
          <a:xfrm>
            <a:off x="0" y="0"/>
            <a:ext cx="12191996" cy="1463040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525657EA-FC9C-B4B8-DF82-C745167729B2}"/>
              </a:ext>
            </a:extLst>
          </p:cNvPr>
          <p:cNvSpPr/>
          <p:nvPr/>
        </p:nvSpPr>
        <p:spPr>
          <a:xfrm>
            <a:off x="487676" y="182880"/>
            <a:ext cx="10972800" cy="9753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Felhasználói funkciók</a:t>
            </a:r>
            <a:endParaRPr lang="en-US" sz="3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A2510ACC-539F-000E-EDC8-1219EB955B06}"/>
              </a:ext>
            </a:extLst>
          </p:cNvPr>
          <p:cNvSpPr/>
          <p:nvPr/>
        </p:nvSpPr>
        <p:spPr>
          <a:xfrm>
            <a:off x="182878" y="1539238"/>
            <a:ext cx="5001307" cy="1566668"/>
          </a:xfrm>
          <a:prstGeom prst="rect">
            <a:avLst/>
          </a:prstGeom>
          <a:solidFill>
            <a:srgbClr val="EFF6FF"/>
          </a:solidFill>
          <a:ln w="12701" cap="flat">
            <a:solidFill>
              <a:srgbClr val="3B82F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9676734A-9BC8-6825-CE99-2564F277CDDD}"/>
              </a:ext>
            </a:extLst>
          </p:cNvPr>
          <p:cNvSpPr/>
          <p:nvPr/>
        </p:nvSpPr>
        <p:spPr>
          <a:xfrm>
            <a:off x="304793" y="1661164"/>
            <a:ext cx="596367" cy="70674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🔍</a:t>
            </a: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D2175404-E589-E823-6EE9-8BEB659B822D}"/>
              </a:ext>
            </a:extLst>
          </p:cNvPr>
          <p:cNvSpPr/>
          <p:nvPr/>
        </p:nvSpPr>
        <p:spPr>
          <a:xfrm>
            <a:off x="1036314" y="1685541"/>
            <a:ext cx="4228806" cy="494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 dirty="0" err="1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Kutyák</a:t>
            </a:r>
            <a:r>
              <a:rPr lang="en-US" sz="1733" b="1" i="0" u="none" strike="noStrike" kern="1200" cap="none" spc="0" baseline="0" dirty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733" b="1" i="0" u="none" strike="noStrike" kern="1200" cap="none" spc="0" baseline="0" dirty="0" err="1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böngészése</a:t>
            </a:r>
            <a:endParaRPr lang="en-US" sz="1733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B2EA1C0D-0A6D-4A1E-2C1D-A19E37E9DDB0}"/>
              </a:ext>
            </a:extLst>
          </p:cNvPr>
          <p:cNvSpPr/>
          <p:nvPr/>
        </p:nvSpPr>
        <p:spPr>
          <a:xfrm>
            <a:off x="304793" y="2331721"/>
            <a:ext cx="4879392" cy="94232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Szűrés fajta, nem és kor szerint. Keresés kutya neve alapján. Részletes leírás megtekintése kártyákban.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1FA982DA-B2F9-EBEB-8181-FF97AABAB5F5}"/>
              </a:ext>
            </a:extLst>
          </p:cNvPr>
          <p:cNvSpPr/>
          <p:nvPr/>
        </p:nvSpPr>
        <p:spPr>
          <a:xfrm>
            <a:off x="6096001" y="1539238"/>
            <a:ext cx="5082243" cy="1566668"/>
          </a:xfrm>
          <a:prstGeom prst="rect">
            <a:avLst/>
          </a:prstGeom>
          <a:solidFill>
            <a:srgbClr val="EFF6FF"/>
          </a:solidFill>
          <a:ln w="12701" cap="flat">
            <a:solidFill>
              <a:srgbClr val="3B82F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126E4825-F5D4-64DA-6EB2-3A5D9F9BC71B}"/>
              </a:ext>
            </a:extLst>
          </p:cNvPr>
          <p:cNvSpPr/>
          <p:nvPr/>
        </p:nvSpPr>
        <p:spPr>
          <a:xfrm>
            <a:off x="6217917" y="1661164"/>
            <a:ext cx="596367" cy="70674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📝</a:t>
            </a: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4117F5BD-AA5C-8A6B-A9D4-86CF163C3408}"/>
              </a:ext>
            </a:extLst>
          </p:cNvPr>
          <p:cNvSpPr/>
          <p:nvPr/>
        </p:nvSpPr>
        <p:spPr>
          <a:xfrm>
            <a:off x="6949438" y="1685541"/>
            <a:ext cx="4228806" cy="494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Regisztráció &amp; Bejelentkezés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41892AF4-C5F7-A37B-BEF7-B393F0BF4231}"/>
              </a:ext>
            </a:extLst>
          </p:cNvPr>
          <p:cNvSpPr/>
          <p:nvPr/>
        </p:nvSpPr>
        <p:spPr>
          <a:xfrm>
            <a:off x="6217917" y="2331721"/>
            <a:ext cx="4879392" cy="94232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Email + jelszó alapú fiók, bcrypt jelszó hash, session cookie alapú bejelentkezés.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5E2BB623-4340-23E2-4D61-0551A0A6BE1C}"/>
              </a:ext>
            </a:extLst>
          </p:cNvPr>
          <p:cNvSpPr/>
          <p:nvPr/>
        </p:nvSpPr>
        <p:spPr>
          <a:xfrm>
            <a:off x="192091" y="3232493"/>
            <a:ext cx="5021287" cy="1560579"/>
          </a:xfrm>
          <a:prstGeom prst="rect">
            <a:avLst/>
          </a:prstGeom>
          <a:solidFill>
            <a:srgbClr val="EFF6FF"/>
          </a:solidFill>
          <a:ln w="12701" cap="flat">
            <a:solidFill>
              <a:srgbClr val="3B82F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5EC46AD2-FF67-585B-238E-14EA38501402}"/>
              </a:ext>
            </a:extLst>
          </p:cNvPr>
          <p:cNvSpPr/>
          <p:nvPr/>
        </p:nvSpPr>
        <p:spPr>
          <a:xfrm>
            <a:off x="314006" y="3354410"/>
            <a:ext cx="596367" cy="70674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🏠</a:t>
            </a: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A857C349-AD5D-1A75-FB68-035D2EC89B2C}"/>
              </a:ext>
            </a:extLst>
          </p:cNvPr>
          <p:cNvSpPr/>
          <p:nvPr/>
        </p:nvSpPr>
        <p:spPr>
          <a:xfrm>
            <a:off x="1045527" y="3378797"/>
            <a:ext cx="4228806" cy="494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Örökbefogadási kérelem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3E403C36-0C91-13DC-8F21-A1BC2A016E68}"/>
              </a:ext>
            </a:extLst>
          </p:cNvPr>
          <p:cNvSpPr/>
          <p:nvPr/>
        </p:nvSpPr>
        <p:spPr>
          <a:xfrm>
            <a:off x="314006" y="4024977"/>
            <a:ext cx="4879392" cy="94232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Lakás adatai, kert, tapasztalat, állatok megadása. Állapot követése (folyamatban / elfogadva / elutasítva).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20B74F7F-AC05-36A6-D32E-E744559AADA6}"/>
              </a:ext>
            </a:extLst>
          </p:cNvPr>
          <p:cNvSpPr/>
          <p:nvPr/>
        </p:nvSpPr>
        <p:spPr>
          <a:xfrm>
            <a:off x="6096001" y="3232499"/>
            <a:ext cx="5082243" cy="1584956"/>
          </a:xfrm>
          <a:prstGeom prst="rect">
            <a:avLst/>
          </a:prstGeom>
          <a:solidFill>
            <a:srgbClr val="EFF6FF"/>
          </a:solidFill>
          <a:ln w="12701" cap="flat">
            <a:solidFill>
              <a:srgbClr val="3B82F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54118632-DADD-EFFD-541A-4631C629E58F}"/>
              </a:ext>
            </a:extLst>
          </p:cNvPr>
          <p:cNvSpPr/>
          <p:nvPr/>
        </p:nvSpPr>
        <p:spPr>
          <a:xfrm>
            <a:off x="6217917" y="3354415"/>
            <a:ext cx="596367" cy="70674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📸</a:t>
            </a: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EAF8A4AB-B5D2-0754-AA58-E48959A5DB31}"/>
              </a:ext>
            </a:extLst>
          </p:cNvPr>
          <p:cNvSpPr/>
          <p:nvPr/>
        </p:nvSpPr>
        <p:spPr>
          <a:xfrm>
            <a:off x="6949438" y="3378802"/>
            <a:ext cx="4228806" cy="494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Profilkezelés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896BF25D-31BB-B87C-3CFD-CA9B6280E1DA}"/>
              </a:ext>
            </a:extLst>
          </p:cNvPr>
          <p:cNvSpPr/>
          <p:nvPr/>
        </p:nvSpPr>
        <p:spPr>
          <a:xfrm>
            <a:off x="6217917" y="4024982"/>
            <a:ext cx="4879392" cy="94232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Profilkép feltöltése (multer), saját örökbefogadási kérelmek megtekintése.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0841E41D-3969-5740-625A-54BA4F9F06A7}"/>
              </a:ext>
            </a:extLst>
          </p:cNvPr>
          <p:cNvSpPr/>
          <p:nvPr/>
        </p:nvSpPr>
        <p:spPr>
          <a:xfrm>
            <a:off x="178077" y="5060862"/>
            <a:ext cx="5096256" cy="1511308"/>
          </a:xfrm>
          <a:prstGeom prst="rect">
            <a:avLst/>
          </a:prstGeom>
          <a:solidFill>
            <a:srgbClr val="EFF6FF"/>
          </a:solidFill>
          <a:ln w="12701" cap="flat">
            <a:solidFill>
              <a:srgbClr val="3B82F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C9C2E233-9801-A01E-E037-E233810C0EA3}"/>
              </a:ext>
            </a:extLst>
          </p:cNvPr>
          <p:cNvSpPr/>
          <p:nvPr/>
        </p:nvSpPr>
        <p:spPr>
          <a:xfrm>
            <a:off x="299992" y="5182778"/>
            <a:ext cx="596367" cy="70674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🔑</a:t>
            </a:r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0A9A6512-E4F3-071E-89E7-CFE1715FB64A}"/>
              </a:ext>
            </a:extLst>
          </p:cNvPr>
          <p:cNvSpPr/>
          <p:nvPr/>
        </p:nvSpPr>
        <p:spPr>
          <a:xfrm>
            <a:off x="1031513" y="5207165"/>
            <a:ext cx="4228806" cy="494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Jelszó visszaállítás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1AE600B2-AB5A-F6C6-F557-94C550ED3A4B}"/>
              </a:ext>
            </a:extLst>
          </p:cNvPr>
          <p:cNvSpPr/>
          <p:nvPr/>
        </p:nvSpPr>
        <p:spPr>
          <a:xfrm>
            <a:off x="299992" y="5853334"/>
            <a:ext cx="4879392" cy="94232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Email-es token rendszer, 30 perces lejárat, egyszeri használat – biztonságos folyamat.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A315F122-89FD-1E93-DDDC-A9DB113DD97A}"/>
              </a:ext>
            </a:extLst>
          </p:cNvPr>
          <p:cNvSpPr/>
          <p:nvPr/>
        </p:nvSpPr>
        <p:spPr>
          <a:xfrm>
            <a:off x="6096000" y="5060862"/>
            <a:ext cx="5059685" cy="1584956"/>
          </a:xfrm>
          <a:prstGeom prst="rect">
            <a:avLst/>
          </a:prstGeom>
          <a:solidFill>
            <a:srgbClr val="EFF6FF"/>
          </a:solidFill>
          <a:ln w="12701" cap="flat">
            <a:solidFill>
              <a:srgbClr val="3B82F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9747A770-582D-C9A7-539E-3426816FE0C2}"/>
              </a:ext>
            </a:extLst>
          </p:cNvPr>
          <p:cNvSpPr/>
          <p:nvPr/>
        </p:nvSpPr>
        <p:spPr>
          <a:xfrm>
            <a:off x="6217916" y="5182778"/>
            <a:ext cx="596367" cy="70674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💬</a:t>
            </a:r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BA401E77-F8CC-36AB-4E1A-F9B28428DB61}"/>
              </a:ext>
            </a:extLst>
          </p:cNvPr>
          <p:cNvSpPr/>
          <p:nvPr/>
        </p:nvSpPr>
        <p:spPr>
          <a:xfrm>
            <a:off x="6949437" y="5207165"/>
            <a:ext cx="4228806" cy="494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Visszajelzés küldése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1EF29B10-EF9D-22E5-A934-BE570588FA14}"/>
              </a:ext>
            </a:extLst>
          </p:cNvPr>
          <p:cNvSpPr/>
          <p:nvPr/>
        </p:nvSpPr>
        <p:spPr>
          <a:xfrm>
            <a:off x="6217916" y="5853334"/>
            <a:ext cx="4879392" cy="94232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Üzenet az adminnak emailen, automatikus visszaigazoló email a felhasználónak.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A030EF-2DFD-8354-96AE-8727527255F1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D7A357C-84BD-57E8-A6F2-874710697783}"/>
              </a:ext>
            </a:extLst>
          </p:cNvPr>
          <p:cNvSpPr/>
          <p:nvPr/>
        </p:nvSpPr>
        <p:spPr>
          <a:xfrm>
            <a:off x="0" y="0"/>
            <a:ext cx="12191996" cy="1463040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710E7F75-595A-6094-D367-BB600815E253}"/>
              </a:ext>
            </a:extLst>
          </p:cNvPr>
          <p:cNvSpPr/>
          <p:nvPr/>
        </p:nvSpPr>
        <p:spPr>
          <a:xfrm>
            <a:off x="487676" y="182880"/>
            <a:ext cx="10972800" cy="9753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Admin felület</a:t>
            </a:r>
            <a:endParaRPr lang="en-US" sz="3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2506EE9B-A501-954B-9313-9FD49128BFC8}"/>
              </a:ext>
            </a:extLst>
          </p:cNvPr>
          <p:cNvSpPr/>
          <p:nvPr/>
        </p:nvSpPr>
        <p:spPr>
          <a:xfrm>
            <a:off x="365760" y="1645920"/>
            <a:ext cx="11460476" cy="609603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9DDB9DCC-C75E-D6B3-7FC4-99323A0BAEBE}"/>
              </a:ext>
            </a:extLst>
          </p:cNvPr>
          <p:cNvSpPr/>
          <p:nvPr/>
        </p:nvSpPr>
        <p:spPr>
          <a:xfrm>
            <a:off x="487676" y="1719072"/>
            <a:ext cx="11216643" cy="48767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1" u="none" strike="noStrike" kern="1200" cap="none" spc="0" baseline="0">
                <a:solidFill>
                  <a:srgbClr val="B0C4DE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Az admin szerepkör kizárólag bejelentkezés után érhető el – isAdmin() middleware védi az összes admin végpontot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3673D62B-3C7C-B676-0974-A119397A0621}"/>
              </a:ext>
            </a:extLst>
          </p:cNvPr>
          <p:cNvSpPr/>
          <p:nvPr/>
        </p:nvSpPr>
        <p:spPr>
          <a:xfrm>
            <a:off x="100583" y="2328675"/>
            <a:ext cx="3941065" cy="4529325"/>
          </a:xfrm>
          <a:prstGeom prst="rect">
            <a:avLst/>
          </a:prstGeom>
          <a:solidFill>
            <a:srgbClr val="EFF6FF"/>
          </a:solidFill>
          <a:ln w="19046" cap="flat">
            <a:solidFill>
              <a:srgbClr val="1E3A8A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1BE2102C-86AC-117A-076D-556A5CA1CDD0}"/>
              </a:ext>
            </a:extLst>
          </p:cNvPr>
          <p:cNvSpPr/>
          <p:nvPr/>
        </p:nvSpPr>
        <p:spPr>
          <a:xfrm>
            <a:off x="100583" y="2328675"/>
            <a:ext cx="3941065" cy="684669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ADF3BCF0-9DE3-F628-2191-34C1AC619F1F}"/>
              </a:ext>
            </a:extLst>
          </p:cNvPr>
          <p:cNvSpPr/>
          <p:nvPr/>
        </p:nvSpPr>
        <p:spPr>
          <a:xfrm>
            <a:off x="100583" y="2816352"/>
            <a:ext cx="3941065" cy="284400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A96CBD86-CEDF-BCA5-D559-6FE77BE629B6}"/>
              </a:ext>
            </a:extLst>
          </p:cNvPr>
          <p:cNvSpPr/>
          <p:nvPr/>
        </p:nvSpPr>
        <p:spPr>
          <a:xfrm>
            <a:off x="198122" y="2401826"/>
            <a:ext cx="572091" cy="54772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E9456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01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B332D2CD-FE27-FF2F-86CD-0410576C3FD3}"/>
              </a:ext>
            </a:extLst>
          </p:cNvPr>
          <p:cNvSpPr/>
          <p:nvPr/>
        </p:nvSpPr>
        <p:spPr>
          <a:xfrm>
            <a:off x="771140" y="2450591"/>
            <a:ext cx="3114719" cy="54772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Új kutya hozzáadása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021A5268-BD9C-A18A-A6FF-C7D698EDDD69}"/>
              </a:ext>
            </a:extLst>
          </p:cNvPr>
          <p:cNvSpPr/>
          <p:nvPr/>
        </p:nvSpPr>
        <p:spPr>
          <a:xfrm>
            <a:off x="283464" y="3279651"/>
            <a:ext cx="88988" cy="73730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D729452C-B94E-AFE8-A284-64FE057B3BC5}"/>
              </a:ext>
            </a:extLst>
          </p:cNvPr>
          <p:cNvSpPr/>
          <p:nvPr/>
        </p:nvSpPr>
        <p:spPr>
          <a:xfrm>
            <a:off x="441955" y="3218688"/>
            <a:ext cx="3457973" cy="6846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Név, életkor, nem, fajta megadása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F84302B0-BB66-AE17-CE5D-488AB5F013AB}"/>
              </a:ext>
            </a:extLst>
          </p:cNvPr>
          <p:cNvSpPr/>
          <p:nvPr/>
        </p:nvSpPr>
        <p:spPr>
          <a:xfrm>
            <a:off x="283464" y="4279392"/>
            <a:ext cx="88988" cy="73730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46272C6C-A633-E396-D5D7-F753C71062D1}"/>
              </a:ext>
            </a:extLst>
          </p:cNvPr>
          <p:cNvSpPr/>
          <p:nvPr/>
        </p:nvSpPr>
        <p:spPr>
          <a:xfrm>
            <a:off x="441955" y="4218428"/>
            <a:ext cx="3457973" cy="6846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Kép feltöltése (multer)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1C7BF76A-E8B5-6093-5378-D189B9E6A670}"/>
              </a:ext>
            </a:extLst>
          </p:cNvPr>
          <p:cNvSpPr/>
          <p:nvPr/>
        </p:nvSpPr>
        <p:spPr>
          <a:xfrm>
            <a:off x="283464" y="5279132"/>
            <a:ext cx="88988" cy="73730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6DA28154-D8BB-D299-7C43-4B3386FDC0EA}"/>
              </a:ext>
            </a:extLst>
          </p:cNvPr>
          <p:cNvSpPr/>
          <p:nvPr/>
        </p:nvSpPr>
        <p:spPr>
          <a:xfrm>
            <a:off x="441955" y="5218179"/>
            <a:ext cx="3457973" cy="6846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Leírás szövegszerkesztővel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6FA023A5-9A4F-8A1B-B9A9-E416E87880F5}"/>
              </a:ext>
            </a:extLst>
          </p:cNvPr>
          <p:cNvSpPr/>
          <p:nvPr/>
        </p:nvSpPr>
        <p:spPr>
          <a:xfrm>
            <a:off x="283464" y="6278883"/>
            <a:ext cx="88988" cy="73730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E5EE5D3D-0E49-628E-38DE-06D3EB219CC1}"/>
              </a:ext>
            </a:extLst>
          </p:cNvPr>
          <p:cNvSpPr/>
          <p:nvPr/>
        </p:nvSpPr>
        <p:spPr>
          <a:xfrm>
            <a:off x="441956" y="6217920"/>
            <a:ext cx="3425880" cy="64043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Orvosi vizsgálat rögzítése (dátum, oltás)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69EE043A-E477-8ABD-4543-51F65F49B563}"/>
              </a:ext>
            </a:extLst>
          </p:cNvPr>
          <p:cNvSpPr/>
          <p:nvPr/>
        </p:nvSpPr>
        <p:spPr>
          <a:xfrm>
            <a:off x="4087367" y="2328675"/>
            <a:ext cx="3941065" cy="4529325"/>
          </a:xfrm>
          <a:prstGeom prst="rect">
            <a:avLst/>
          </a:prstGeom>
          <a:solidFill>
            <a:srgbClr val="EFF6FF"/>
          </a:solidFill>
          <a:ln w="19046" cap="flat">
            <a:solidFill>
              <a:srgbClr val="1E3A8A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F7506609-0BED-60E7-E583-39306D3FE419}"/>
              </a:ext>
            </a:extLst>
          </p:cNvPr>
          <p:cNvSpPr/>
          <p:nvPr/>
        </p:nvSpPr>
        <p:spPr>
          <a:xfrm>
            <a:off x="4087367" y="2328675"/>
            <a:ext cx="3941065" cy="684669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EE836A07-E63B-4C17-45F6-C20F240A4796}"/>
              </a:ext>
            </a:extLst>
          </p:cNvPr>
          <p:cNvSpPr/>
          <p:nvPr/>
        </p:nvSpPr>
        <p:spPr>
          <a:xfrm>
            <a:off x="4087367" y="2816352"/>
            <a:ext cx="3941065" cy="284400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8D76ED2A-AB00-B960-18AC-6DD7ADCF020D}"/>
              </a:ext>
            </a:extLst>
          </p:cNvPr>
          <p:cNvSpPr/>
          <p:nvPr/>
        </p:nvSpPr>
        <p:spPr>
          <a:xfrm>
            <a:off x="4184906" y="2401826"/>
            <a:ext cx="572091" cy="54772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E9456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02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73C6E556-2528-68B5-726C-1861D2D6B898}"/>
              </a:ext>
            </a:extLst>
          </p:cNvPr>
          <p:cNvSpPr/>
          <p:nvPr/>
        </p:nvSpPr>
        <p:spPr>
          <a:xfrm>
            <a:off x="4757924" y="2450591"/>
            <a:ext cx="3114719" cy="54772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Örökbefogadások kezelése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FC65F475-569C-89D4-32C0-8235FA6914F0}"/>
              </a:ext>
            </a:extLst>
          </p:cNvPr>
          <p:cNvSpPr/>
          <p:nvPr/>
        </p:nvSpPr>
        <p:spPr>
          <a:xfrm>
            <a:off x="4270248" y="3279651"/>
            <a:ext cx="88988" cy="73730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227A0C84-F15A-3E9A-06DA-7957FACF2F48}"/>
              </a:ext>
            </a:extLst>
          </p:cNvPr>
          <p:cNvSpPr/>
          <p:nvPr/>
        </p:nvSpPr>
        <p:spPr>
          <a:xfrm>
            <a:off x="4428739" y="3218688"/>
            <a:ext cx="3457973" cy="6846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Összes kérelem megtekintése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7" name="Shape 28">
            <a:extLst>
              <a:ext uri="{FF2B5EF4-FFF2-40B4-BE49-F238E27FC236}">
                <a16:creationId xmlns:a16="http://schemas.microsoft.com/office/drawing/2014/main" id="{BB4EBF15-8D59-1E71-9EAA-272BA8611480}"/>
              </a:ext>
            </a:extLst>
          </p:cNvPr>
          <p:cNvSpPr/>
          <p:nvPr/>
        </p:nvSpPr>
        <p:spPr>
          <a:xfrm>
            <a:off x="4270248" y="4279392"/>
            <a:ext cx="88988" cy="73730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963C8A9F-7F62-A18C-D52A-47233B4DF811}"/>
              </a:ext>
            </a:extLst>
          </p:cNvPr>
          <p:cNvSpPr/>
          <p:nvPr/>
        </p:nvSpPr>
        <p:spPr>
          <a:xfrm>
            <a:off x="4428739" y="4218428"/>
            <a:ext cx="3457973" cy="6846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Státusz módosítása (folyamatban / interjú / elfogadva / elutasítva)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9" name="Shape 30">
            <a:extLst>
              <a:ext uri="{FF2B5EF4-FFF2-40B4-BE49-F238E27FC236}">
                <a16:creationId xmlns:a16="http://schemas.microsoft.com/office/drawing/2014/main" id="{2B7E8A40-FDA8-4A14-20C8-AAE0EDEC253C}"/>
              </a:ext>
            </a:extLst>
          </p:cNvPr>
          <p:cNvSpPr/>
          <p:nvPr/>
        </p:nvSpPr>
        <p:spPr>
          <a:xfrm>
            <a:off x="4270248" y="5279132"/>
            <a:ext cx="88988" cy="73730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0" name="Text 31">
            <a:extLst>
              <a:ext uri="{FF2B5EF4-FFF2-40B4-BE49-F238E27FC236}">
                <a16:creationId xmlns:a16="http://schemas.microsoft.com/office/drawing/2014/main" id="{742FE08D-6642-E41B-7C02-6637B6FAE9F8}"/>
              </a:ext>
            </a:extLst>
          </p:cNvPr>
          <p:cNvSpPr/>
          <p:nvPr/>
        </p:nvSpPr>
        <p:spPr>
          <a:xfrm>
            <a:off x="4428739" y="5218179"/>
            <a:ext cx="3457973" cy="6846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Kérelmező adatainak megtekintése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1" name="Shape 32">
            <a:extLst>
              <a:ext uri="{FF2B5EF4-FFF2-40B4-BE49-F238E27FC236}">
                <a16:creationId xmlns:a16="http://schemas.microsoft.com/office/drawing/2014/main" id="{2E61B17C-578D-6942-A3AF-26C3E3E9D68B}"/>
              </a:ext>
            </a:extLst>
          </p:cNvPr>
          <p:cNvSpPr/>
          <p:nvPr/>
        </p:nvSpPr>
        <p:spPr>
          <a:xfrm>
            <a:off x="4270248" y="6278883"/>
            <a:ext cx="88988" cy="73730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2" name="Text 33">
            <a:extLst>
              <a:ext uri="{FF2B5EF4-FFF2-40B4-BE49-F238E27FC236}">
                <a16:creationId xmlns:a16="http://schemas.microsoft.com/office/drawing/2014/main" id="{C09069FF-8438-6CA6-70F6-1E8C0729A42D}"/>
              </a:ext>
            </a:extLst>
          </p:cNvPr>
          <p:cNvSpPr/>
          <p:nvPr/>
        </p:nvSpPr>
        <p:spPr>
          <a:xfrm>
            <a:off x="4428740" y="6217920"/>
            <a:ext cx="3425880" cy="64043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Kutya elérhetőség ki/be kapcsolása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3" name="Shape 34">
            <a:extLst>
              <a:ext uri="{FF2B5EF4-FFF2-40B4-BE49-F238E27FC236}">
                <a16:creationId xmlns:a16="http://schemas.microsoft.com/office/drawing/2014/main" id="{E1F381F2-4A6D-027E-542C-08F5D351FAD8}"/>
              </a:ext>
            </a:extLst>
          </p:cNvPr>
          <p:cNvSpPr/>
          <p:nvPr/>
        </p:nvSpPr>
        <p:spPr>
          <a:xfrm>
            <a:off x="8074150" y="2328675"/>
            <a:ext cx="3941065" cy="4529325"/>
          </a:xfrm>
          <a:prstGeom prst="rect">
            <a:avLst/>
          </a:prstGeom>
          <a:solidFill>
            <a:srgbClr val="EFF6FF"/>
          </a:solidFill>
          <a:ln w="19046" cap="flat">
            <a:solidFill>
              <a:srgbClr val="1E3A8A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4" name="Shape 35">
            <a:extLst>
              <a:ext uri="{FF2B5EF4-FFF2-40B4-BE49-F238E27FC236}">
                <a16:creationId xmlns:a16="http://schemas.microsoft.com/office/drawing/2014/main" id="{0CA8E85C-806E-BE0E-F0BA-7E76FDDD6E14}"/>
              </a:ext>
            </a:extLst>
          </p:cNvPr>
          <p:cNvSpPr/>
          <p:nvPr/>
        </p:nvSpPr>
        <p:spPr>
          <a:xfrm>
            <a:off x="8074150" y="2328675"/>
            <a:ext cx="3941065" cy="684669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5" name="Shape 36">
            <a:extLst>
              <a:ext uri="{FF2B5EF4-FFF2-40B4-BE49-F238E27FC236}">
                <a16:creationId xmlns:a16="http://schemas.microsoft.com/office/drawing/2014/main" id="{C9684904-2EDF-D8F9-B9CE-779D4EEFE38E}"/>
              </a:ext>
            </a:extLst>
          </p:cNvPr>
          <p:cNvSpPr/>
          <p:nvPr/>
        </p:nvSpPr>
        <p:spPr>
          <a:xfrm>
            <a:off x="8074150" y="2816352"/>
            <a:ext cx="3941065" cy="284400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6" name="Text 37">
            <a:extLst>
              <a:ext uri="{FF2B5EF4-FFF2-40B4-BE49-F238E27FC236}">
                <a16:creationId xmlns:a16="http://schemas.microsoft.com/office/drawing/2014/main" id="{BA744EC2-BB58-4F61-02C1-B469FB94CEAC}"/>
              </a:ext>
            </a:extLst>
          </p:cNvPr>
          <p:cNvSpPr/>
          <p:nvPr/>
        </p:nvSpPr>
        <p:spPr>
          <a:xfrm>
            <a:off x="8171690" y="2401826"/>
            <a:ext cx="572091" cy="54772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E9456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03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7" name="Text 38">
            <a:extLst>
              <a:ext uri="{FF2B5EF4-FFF2-40B4-BE49-F238E27FC236}">
                <a16:creationId xmlns:a16="http://schemas.microsoft.com/office/drawing/2014/main" id="{4A6F2BDE-B361-428A-01E4-A2DC05E06A5A}"/>
              </a:ext>
            </a:extLst>
          </p:cNvPr>
          <p:cNvSpPr/>
          <p:nvPr/>
        </p:nvSpPr>
        <p:spPr>
          <a:xfrm>
            <a:off x="8744708" y="2450591"/>
            <a:ext cx="3114719" cy="54772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Kutyák szerkesztése / törlése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8" name="Shape 39">
            <a:extLst>
              <a:ext uri="{FF2B5EF4-FFF2-40B4-BE49-F238E27FC236}">
                <a16:creationId xmlns:a16="http://schemas.microsoft.com/office/drawing/2014/main" id="{C751A717-897C-0228-3F71-2C77982A2D67}"/>
              </a:ext>
            </a:extLst>
          </p:cNvPr>
          <p:cNvSpPr/>
          <p:nvPr/>
        </p:nvSpPr>
        <p:spPr>
          <a:xfrm>
            <a:off x="8257032" y="3279651"/>
            <a:ext cx="88988" cy="73730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9" name="Text 40">
            <a:extLst>
              <a:ext uri="{FF2B5EF4-FFF2-40B4-BE49-F238E27FC236}">
                <a16:creationId xmlns:a16="http://schemas.microsoft.com/office/drawing/2014/main" id="{5D60A191-E0F1-40FB-B753-105D960AE33F}"/>
              </a:ext>
            </a:extLst>
          </p:cNvPr>
          <p:cNvSpPr/>
          <p:nvPr/>
        </p:nvSpPr>
        <p:spPr>
          <a:xfrm>
            <a:off x="8415523" y="3218688"/>
            <a:ext cx="3457973" cy="6846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Meglévő kutya adatainak módosítása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0" name="Shape 41">
            <a:extLst>
              <a:ext uri="{FF2B5EF4-FFF2-40B4-BE49-F238E27FC236}">
                <a16:creationId xmlns:a16="http://schemas.microsoft.com/office/drawing/2014/main" id="{AE24DF12-9FF7-85F7-0747-5343EC889FF5}"/>
              </a:ext>
            </a:extLst>
          </p:cNvPr>
          <p:cNvSpPr/>
          <p:nvPr/>
        </p:nvSpPr>
        <p:spPr>
          <a:xfrm>
            <a:off x="8257032" y="4279392"/>
            <a:ext cx="88988" cy="73730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1" name="Text 42">
            <a:extLst>
              <a:ext uri="{FF2B5EF4-FFF2-40B4-BE49-F238E27FC236}">
                <a16:creationId xmlns:a16="http://schemas.microsoft.com/office/drawing/2014/main" id="{B953B852-3F54-D2DF-8CE4-020F68621F0C}"/>
              </a:ext>
            </a:extLst>
          </p:cNvPr>
          <p:cNvSpPr/>
          <p:nvPr/>
        </p:nvSpPr>
        <p:spPr>
          <a:xfrm>
            <a:off x="8415523" y="4218428"/>
            <a:ext cx="3457973" cy="6846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Kutya törlése az adatbázisból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2" name="Shape 43">
            <a:extLst>
              <a:ext uri="{FF2B5EF4-FFF2-40B4-BE49-F238E27FC236}">
                <a16:creationId xmlns:a16="http://schemas.microsoft.com/office/drawing/2014/main" id="{EAA1AF03-4DB7-9A65-62D4-2836689D7340}"/>
              </a:ext>
            </a:extLst>
          </p:cNvPr>
          <p:cNvSpPr/>
          <p:nvPr/>
        </p:nvSpPr>
        <p:spPr>
          <a:xfrm>
            <a:off x="8257032" y="5279132"/>
            <a:ext cx="88988" cy="73730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3" name="Text 44">
            <a:extLst>
              <a:ext uri="{FF2B5EF4-FFF2-40B4-BE49-F238E27FC236}">
                <a16:creationId xmlns:a16="http://schemas.microsoft.com/office/drawing/2014/main" id="{22DD909F-A0B6-1D76-A587-EEF101B31617}"/>
              </a:ext>
            </a:extLst>
          </p:cNvPr>
          <p:cNvSpPr/>
          <p:nvPr/>
        </p:nvSpPr>
        <p:spPr>
          <a:xfrm>
            <a:off x="8415523" y="5218179"/>
            <a:ext cx="3457973" cy="6846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Képcsere lehetőség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4" name="Shape 45">
            <a:extLst>
              <a:ext uri="{FF2B5EF4-FFF2-40B4-BE49-F238E27FC236}">
                <a16:creationId xmlns:a16="http://schemas.microsoft.com/office/drawing/2014/main" id="{B3AEC7EB-D852-3C36-EE20-BCF22FAFDB92}"/>
              </a:ext>
            </a:extLst>
          </p:cNvPr>
          <p:cNvSpPr/>
          <p:nvPr/>
        </p:nvSpPr>
        <p:spPr>
          <a:xfrm>
            <a:off x="8257032" y="6278883"/>
            <a:ext cx="88988" cy="73730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5" name="Text 46">
            <a:extLst>
              <a:ext uri="{FF2B5EF4-FFF2-40B4-BE49-F238E27FC236}">
                <a16:creationId xmlns:a16="http://schemas.microsoft.com/office/drawing/2014/main" id="{DB493CC9-2B61-4D4D-A699-E4BA4A033E89}"/>
              </a:ext>
            </a:extLst>
          </p:cNvPr>
          <p:cNvSpPr/>
          <p:nvPr/>
        </p:nvSpPr>
        <p:spPr>
          <a:xfrm>
            <a:off x="8415524" y="6217920"/>
            <a:ext cx="3425880" cy="64043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Orvosi históriák kezelése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C94123-6B02-0549-5F7E-3FB8623403EF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8D3CD28-6EA8-B61A-1F50-7CA670BD98CA}"/>
              </a:ext>
            </a:extLst>
          </p:cNvPr>
          <p:cNvSpPr/>
          <p:nvPr/>
        </p:nvSpPr>
        <p:spPr>
          <a:xfrm>
            <a:off x="0" y="0"/>
            <a:ext cx="12191996" cy="1463040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1C17A785-941F-EC5C-22E2-FE873A5C6DD2}"/>
              </a:ext>
            </a:extLst>
          </p:cNvPr>
          <p:cNvSpPr/>
          <p:nvPr/>
        </p:nvSpPr>
        <p:spPr>
          <a:xfrm>
            <a:off x="487676" y="182880"/>
            <a:ext cx="10972800" cy="9753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E-mail értesítési rendszer</a:t>
            </a:r>
            <a:endParaRPr lang="en-US" sz="3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FC1B3DEB-8A93-F9C7-8FF1-D28007AA6553}"/>
              </a:ext>
            </a:extLst>
          </p:cNvPr>
          <p:cNvSpPr/>
          <p:nvPr/>
        </p:nvSpPr>
        <p:spPr>
          <a:xfrm>
            <a:off x="304796" y="1391031"/>
            <a:ext cx="11338560" cy="7071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67" b="0" i="0" u="none" strike="noStrike" kern="1200" cap="none" spc="0" baseline="0" dirty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Az </a:t>
            </a:r>
            <a:r>
              <a:rPr lang="en-US" sz="1667" b="0" i="0" u="none" strike="noStrike" kern="1200" cap="none" spc="0" baseline="0" dirty="0" err="1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alkalmazás</a:t>
            </a:r>
            <a:r>
              <a:rPr lang="en-US" sz="1667" b="0" i="0" u="none" strike="noStrike" kern="1200" cap="none" spc="0" baseline="0" dirty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4 </a:t>
            </a:r>
            <a:r>
              <a:rPr lang="en-US" sz="1667" b="0" i="0" u="none" strike="noStrike" kern="1200" cap="none" spc="0" baseline="0" dirty="0" err="1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különböző</a:t>
            </a:r>
            <a:r>
              <a:rPr lang="en-US" sz="1667" b="0" i="0" u="none" strike="noStrike" kern="1200" cap="none" spc="0" baseline="0" dirty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e-mail </a:t>
            </a:r>
            <a:r>
              <a:rPr lang="en-US" sz="1667" b="0" i="0" u="none" strike="noStrike" kern="1200" cap="none" spc="0" baseline="0" dirty="0" err="1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típust</a:t>
            </a:r>
            <a:r>
              <a:rPr lang="en-US" sz="1667" b="0" i="0" u="none" strike="noStrike" kern="1200" cap="none" spc="0" baseline="0" dirty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667" b="0" i="0" u="none" strike="noStrike" kern="1200" cap="none" spc="0" baseline="0" dirty="0" err="1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küld</a:t>
            </a:r>
            <a:r>
              <a:rPr lang="en-US" sz="1667" b="0" i="0" u="none" strike="noStrike" kern="1200" cap="none" spc="0" baseline="0" dirty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667" b="0" i="0" u="none" strike="noStrike" kern="1200" cap="none" spc="0" baseline="0" dirty="0" err="1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automatikusan</a:t>
            </a:r>
            <a:r>
              <a:rPr lang="en-US" sz="1667" b="0" i="0" u="none" strike="noStrike" kern="1200" cap="none" spc="0" baseline="0" dirty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, </a:t>
            </a:r>
            <a:r>
              <a:rPr lang="en-US" sz="1667" b="0" i="0" u="none" strike="noStrike" kern="1200" cap="none" spc="0" baseline="0" dirty="0" err="1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igényes</a:t>
            </a:r>
            <a:r>
              <a:rPr lang="en-US" sz="1667" b="0" i="0" u="none" strike="noStrike" kern="1200" cap="none" spc="0" baseline="0" dirty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HTML </a:t>
            </a:r>
            <a:r>
              <a:rPr lang="en-US" sz="1667" b="0" i="0" u="none" strike="noStrike" kern="1200" cap="none" spc="0" baseline="0" dirty="0" err="1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sablonnal</a:t>
            </a:r>
            <a:r>
              <a:rPr lang="en-US" sz="1667" b="0" i="0" u="none" strike="noStrike" kern="1200" cap="none" spc="0" baseline="0" dirty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, </a:t>
            </a:r>
            <a:r>
              <a:rPr lang="en-US" sz="1667" b="0" i="0" u="none" strike="noStrike" kern="1200" cap="none" spc="0" baseline="0" dirty="0" err="1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mobilbarát</a:t>
            </a:r>
            <a:r>
              <a:rPr lang="en-US" sz="1667" b="0" i="0" u="none" strike="noStrike" kern="1200" cap="none" spc="0" baseline="0" dirty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667" b="0" i="0" u="none" strike="noStrike" kern="1200" cap="none" spc="0" baseline="0" dirty="0" err="1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reszponzív</a:t>
            </a:r>
            <a:r>
              <a:rPr lang="en-US" sz="1667" b="0" i="0" u="none" strike="noStrike" kern="1200" cap="none" spc="0" baseline="0" dirty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667" b="0" i="0" u="none" strike="noStrike" kern="1200" cap="none" spc="0" baseline="0" dirty="0" err="1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dizájnnal</a:t>
            </a:r>
            <a:r>
              <a:rPr lang="en-US" sz="1667" b="0" i="0" u="none" strike="noStrike" kern="1200" cap="none" spc="0" baseline="0" dirty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, </a:t>
            </a:r>
            <a:r>
              <a:rPr lang="en-US" sz="1667" b="0" i="0" u="none" strike="noStrike" kern="1200" cap="none" spc="0" baseline="0" dirty="0" err="1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sötét</a:t>
            </a:r>
            <a:r>
              <a:rPr lang="en-US" sz="1667" b="0" i="0" u="none" strike="noStrike" kern="1200" cap="none" spc="0" baseline="0" dirty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667" b="0" i="0" u="none" strike="noStrike" kern="1200" cap="none" spc="0" baseline="0" dirty="0" err="1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mód</a:t>
            </a:r>
            <a:r>
              <a:rPr lang="en-US" sz="1667" b="0" i="0" u="none" strike="noStrike" kern="1200" cap="none" spc="0" baseline="0" dirty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667" b="0" i="0" u="none" strike="noStrike" kern="1200" cap="none" spc="0" baseline="0" dirty="0" err="1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támogatással</a:t>
            </a:r>
            <a:r>
              <a:rPr lang="en-US" sz="1667" b="0" i="0" u="none" strike="noStrike" kern="1200" cap="none" spc="0" baseline="0" dirty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.</a:t>
            </a:r>
            <a:endParaRPr lang="en-US" sz="1667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07D58C4C-77E0-3CA9-3B69-FCE9DDF15741}"/>
              </a:ext>
            </a:extLst>
          </p:cNvPr>
          <p:cNvSpPr/>
          <p:nvPr/>
        </p:nvSpPr>
        <p:spPr>
          <a:xfrm>
            <a:off x="182875" y="2098164"/>
            <a:ext cx="5913113" cy="2191516"/>
          </a:xfrm>
          <a:prstGeom prst="rect">
            <a:avLst/>
          </a:prstGeom>
          <a:solidFill>
            <a:srgbClr val="EFF6FF"/>
          </a:solidFill>
          <a:ln w="19046" cap="flat">
            <a:solidFill>
              <a:srgbClr val="05966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3E53D835-F56D-A720-BB6D-750C2E08AA75}"/>
              </a:ext>
            </a:extLst>
          </p:cNvPr>
          <p:cNvSpPr/>
          <p:nvPr/>
        </p:nvSpPr>
        <p:spPr>
          <a:xfrm>
            <a:off x="182875" y="2098163"/>
            <a:ext cx="5913113" cy="602663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7D657278-BAC9-1F7D-52C1-A646FC2C3405}"/>
              </a:ext>
            </a:extLst>
          </p:cNvPr>
          <p:cNvSpPr/>
          <p:nvPr/>
        </p:nvSpPr>
        <p:spPr>
          <a:xfrm>
            <a:off x="182875" y="2585839"/>
            <a:ext cx="5913113" cy="186281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664A2C88-6683-8AED-6EC0-30FCB5BB7612}"/>
              </a:ext>
            </a:extLst>
          </p:cNvPr>
          <p:cNvSpPr/>
          <p:nvPr/>
        </p:nvSpPr>
        <p:spPr>
          <a:xfrm>
            <a:off x="304791" y="2183503"/>
            <a:ext cx="5661488" cy="4602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✅  Regisztrációs üdvözlő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BCAA7A8E-64FE-ECF2-D8B3-5C32B8891D79}"/>
              </a:ext>
            </a:extLst>
          </p:cNvPr>
          <p:cNvSpPr/>
          <p:nvPr/>
        </p:nvSpPr>
        <p:spPr>
          <a:xfrm>
            <a:off x="304791" y="2890646"/>
            <a:ext cx="5661488" cy="4382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0596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⟶ Új felhasználó regisztrálása után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BDA108EC-C88C-AF61-3F2A-506F3730F58A}"/>
              </a:ext>
            </a:extLst>
          </p:cNvPr>
          <p:cNvSpPr/>
          <p:nvPr/>
        </p:nvSpPr>
        <p:spPr>
          <a:xfrm>
            <a:off x="304791" y="3439286"/>
            <a:ext cx="5661488" cy="82181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Fiókadatok, teendők listája, menhely statisztikák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1BCA6950-6FF5-8FA4-EB07-2A2C129321B9}"/>
              </a:ext>
            </a:extLst>
          </p:cNvPr>
          <p:cNvSpPr/>
          <p:nvPr/>
        </p:nvSpPr>
        <p:spPr>
          <a:xfrm>
            <a:off x="6095998" y="2098164"/>
            <a:ext cx="5913113" cy="2191516"/>
          </a:xfrm>
          <a:prstGeom prst="rect">
            <a:avLst/>
          </a:prstGeom>
          <a:solidFill>
            <a:srgbClr val="EFF6FF"/>
          </a:solidFill>
          <a:ln w="19046" cap="flat">
            <a:solidFill>
              <a:srgbClr val="E945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FCB48BCE-BEB0-685D-6239-4B5BD6C81514}"/>
              </a:ext>
            </a:extLst>
          </p:cNvPr>
          <p:cNvSpPr/>
          <p:nvPr/>
        </p:nvSpPr>
        <p:spPr>
          <a:xfrm>
            <a:off x="6095998" y="2098163"/>
            <a:ext cx="5913113" cy="602663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BC97E595-8F08-1F05-90C8-22D79C42D7F0}"/>
              </a:ext>
            </a:extLst>
          </p:cNvPr>
          <p:cNvSpPr/>
          <p:nvPr/>
        </p:nvSpPr>
        <p:spPr>
          <a:xfrm>
            <a:off x="6095998" y="2585839"/>
            <a:ext cx="5913113" cy="186281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23DD72B6-A10C-FF75-B760-DD5F765C5A57}"/>
              </a:ext>
            </a:extLst>
          </p:cNvPr>
          <p:cNvSpPr/>
          <p:nvPr/>
        </p:nvSpPr>
        <p:spPr>
          <a:xfrm>
            <a:off x="6217915" y="2183503"/>
            <a:ext cx="5661488" cy="4602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🔐  Jelszó-visszaállítás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3B34BD8C-8457-66AB-83A9-D320321A8954}"/>
              </a:ext>
            </a:extLst>
          </p:cNvPr>
          <p:cNvSpPr/>
          <p:nvPr/>
        </p:nvSpPr>
        <p:spPr>
          <a:xfrm>
            <a:off x="6217915" y="2890646"/>
            <a:ext cx="5661488" cy="4382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E9456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⟶ Elfelejtett jelszó kérés esetén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D4D22B82-88E1-2634-ADB1-3D7B112F13A4}"/>
              </a:ext>
            </a:extLst>
          </p:cNvPr>
          <p:cNvSpPr/>
          <p:nvPr/>
        </p:nvSpPr>
        <p:spPr>
          <a:xfrm>
            <a:off x="6217915" y="3439286"/>
            <a:ext cx="5661488" cy="82181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30 perces érvényes token link, biztonsági figyelmeztetések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E8B074D0-1551-2D8E-B6EA-21CEDFC089B6}"/>
              </a:ext>
            </a:extLst>
          </p:cNvPr>
          <p:cNvSpPr/>
          <p:nvPr/>
        </p:nvSpPr>
        <p:spPr>
          <a:xfrm>
            <a:off x="182875" y="4483604"/>
            <a:ext cx="5913113" cy="2191516"/>
          </a:xfrm>
          <a:prstGeom prst="rect">
            <a:avLst/>
          </a:prstGeom>
          <a:solidFill>
            <a:srgbClr val="EFF6FF"/>
          </a:solidFill>
          <a:ln w="19046" cap="flat">
            <a:solidFill>
              <a:srgbClr val="1E3A8A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A6FA343E-FF11-FC59-2A73-C923EB97F154}"/>
              </a:ext>
            </a:extLst>
          </p:cNvPr>
          <p:cNvSpPr/>
          <p:nvPr/>
        </p:nvSpPr>
        <p:spPr>
          <a:xfrm>
            <a:off x="182875" y="4483603"/>
            <a:ext cx="5913113" cy="602663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9B9F8332-DBCC-91B2-CC5D-385D3AE418CE}"/>
              </a:ext>
            </a:extLst>
          </p:cNvPr>
          <p:cNvSpPr/>
          <p:nvPr/>
        </p:nvSpPr>
        <p:spPr>
          <a:xfrm>
            <a:off x="182875" y="4971290"/>
            <a:ext cx="5913113" cy="186281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F80F6394-02E2-63F5-0F3D-5A8BA9E2D367}"/>
              </a:ext>
            </a:extLst>
          </p:cNvPr>
          <p:cNvSpPr/>
          <p:nvPr/>
        </p:nvSpPr>
        <p:spPr>
          <a:xfrm>
            <a:off x="304791" y="4568954"/>
            <a:ext cx="5661488" cy="4602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📬  Visszajelzés (admin)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917E5096-2C49-8C6A-0BA5-8DD957731177}"/>
              </a:ext>
            </a:extLst>
          </p:cNvPr>
          <p:cNvSpPr/>
          <p:nvPr/>
        </p:nvSpPr>
        <p:spPr>
          <a:xfrm>
            <a:off x="304791" y="5276087"/>
            <a:ext cx="5661488" cy="4382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⟶ Kontakt form beküldésekor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59C1A1D0-F913-777B-CA11-9C5B7446F574}"/>
              </a:ext>
            </a:extLst>
          </p:cNvPr>
          <p:cNvSpPr/>
          <p:nvPr/>
        </p:nvSpPr>
        <p:spPr>
          <a:xfrm>
            <a:off x="304791" y="5824727"/>
            <a:ext cx="5661488" cy="82181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Feladó adatai, üzenet tartalma, beérkezés időpontja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C231BAED-B672-CDA4-66B0-924C69E163DC}"/>
              </a:ext>
            </a:extLst>
          </p:cNvPr>
          <p:cNvSpPr/>
          <p:nvPr/>
        </p:nvSpPr>
        <p:spPr>
          <a:xfrm>
            <a:off x="6095998" y="4483604"/>
            <a:ext cx="5913113" cy="2191516"/>
          </a:xfrm>
          <a:prstGeom prst="rect">
            <a:avLst/>
          </a:prstGeom>
          <a:solidFill>
            <a:srgbClr val="EFF6FF"/>
          </a:solidFill>
          <a:ln w="19046" cap="flat">
            <a:solidFill>
              <a:srgbClr val="1D4ED8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54D13C52-D546-5512-0216-01712BBEB815}"/>
              </a:ext>
            </a:extLst>
          </p:cNvPr>
          <p:cNvSpPr/>
          <p:nvPr/>
        </p:nvSpPr>
        <p:spPr>
          <a:xfrm>
            <a:off x="6095998" y="4483603"/>
            <a:ext cx="5913113" cy="602663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6" name="Shape 27">
            <a:extLst>
              <a:ext uri="{FF2B5EF4-FFF2-40B4-BE49-F238E27FC236}">
                <a16:creationId xmlns:a16="http://schemas.microsoft.com/office/drawing/2014/main" id="{8B928D40-175E-22B7-A201-5A5E0AAB9A2F}"/>
              </a:ext>
            </a:extLst>
          </p:cNvPr>
          <p:cNvSpPr/>
          <p:nvPr/>
        </p:nvSpPr>
        <p:spPr>
          <a:xfrm>
            <a:off x="6095998" y="4971290"/>
            <a:ext cx="5913113" cy="186281"/>
          </a:xfrm>
          <a:prstGeom prst="rect">
            <a:avLst/>
          </a:prstGeom>
          <a:solidFill>
            <a:srgbClr val="1D4ED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BE07FC9F-58FA-30C6-C149-44EFA23DEB2D}"/>
              </a:ext>
            </a:extLst>
          </p:cNvPr>
          <p:cNvSpPr/>
          <p:nvPr/>
        </p:nvSpPr>
        <p:spPr>
          <a:xfrm>
            <a:off x="6217915" y="4568954"/>
            <a:ext cx="5661488" cy="4602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💌  Visszajelzés visszaigazolás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47E569B1-E8EB-FE34-BC79-5020E2DE3928}"/>
              </a:ext>
            </a:extLst>
          </p:cNvPr>
          <p:cNvSpPr/>
          <p:nvPr/>
        </p:nvSpPr>
        <p:spPr>
          <a:xfrm>
            <a:off x="6217915" y="5276087"/>
            <a:ext cx="5661488" cy="4382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1D4ED8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⟶ Kontakt form beküldésekor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39332AA8-62CC-0DA0-BA9C-F4ED2F848DA8}"/>
              </a:ext>
            </a:extLst>
          </p:cNvPr>
          <p:cNvSpPr/>
          <p:nvPr/>
        </p:nvSpPr>
        <p:spPr>
          <a:xfrm>
            <a:off x="6217915" y="5824727"/>
            <a:ext cx="5661488" cy="82181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Köszönet, 48h válasz ígéret, menhely statisztikák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F888F0-D95F-D8BC-683A-92ACFE0D4CDD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F78621B-C33A-E3E5-D867-1440A5E14AF1}"/>
              </a:ext>
            </a:extLst>
          </p:cNvPr>
          <p:cNvSpPr/>
          <p:nvPr/>
        </p:nvSpPr>
        <p:spPr>
          <a:xfrm>
            <a:off x="0" y="0"/>
            <a:ext cx="12191996" cy="1463040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AD022C4D-01FE-E872-D350-BEEB301E07EA}"/>
              </a:ext>
            </a:extLst>
          </p:cNvPr>
          <p:cNvSpPr/>
          <p:nvPr/>
        </p:nvSpPr>
        <p:spPr>
          <a:xfrm>
            <a:off x="487676" y="182880"/>
            <a:ext cx="10972800" cy="9753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Biztonság</a:t>
            </a:r>
            <a:endParaRPr lang="en-US" sz="3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BC94E802-D116-CE69-9FD0-BFE34CF9361F}"/>
              </a:ext>
            </a:extLst>
          </p:cNvPr>
          <p:cNvSpPr/>
          <p:nvPr/>
        </p:nvSpPr>
        <p:spPr>
          <a:xfrm>
            <a:off x="176780" y="1561207"/>
            <a:ext cx="2804163" cy="2764533"/>
          </a:xfrm>
          <a:prstGeom prst="rect">
            <a:avLst/>
          </a:prstGeom>
          <a:solidFill>
            <a:srgbClr val="EFF6FF"/>
          </a:solidFill>
          <a:ln w="12701" cap="flat">
            <a:solidFill>
              <a:srgbClr val="1E3A8A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02689BA-F9E8-98AC-A7EE-4E4A916EFE2E}"/>
              </a:ext>
            </a:extLst>
          </p:cNvPr>
          <p:cNvSpPr/>
          <p:nvPr/>
        </p:nvSpPr>
        <p:spPr>
          <a:xfrm>
            <a:off x="176780" y="1683135"/>
            <a:ext cx="2804163" cy="49328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🔒</a:t>
            </a: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EDFC5566-0B3F-177A-A39E-E4FD7AE1E9FA}"/>
              </a:ext>
            </a:extLst>
          </p:cNvPr>
          <p:cNvSpPr/>
          <p:nvPr/>
        </p:nvSpPr>
        <p:spPr>
          <a:xfrm>
            <a:off x="274320" y="2353691"/>
            <a:ext cx="2609084" cy="44395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Jelszó titkosítás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78D7D9D8-8C6A-7A01-4993-4F8B9A9235F4}"/>
              </a:ext>
            </a:extLst>
          </p:cNvPr>
          <p:cNvSpPr/>
          <p:nvPr/>
        </p:nvSpPr>
        <p:spPr>
          <a:xfrm>
            <a:off x="274320" y="2902332"/>
            <a:ext cx="2609084" cy="10852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67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bcrypt könyvtár, 10 körös salt. A jelszavak soha nem kerülnek szöveges formában tárolásra az adatbázisban.</a:t>
            </a:r>
            <a:endParaRPr lang="en-US" sz="12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F1DBD7FE-112C-EA21-5359-DB6311DC2FB1}"/>
              </a:ext>
            </a:extLst>
          </p:cNvPr>
          <p:cNvSpPr/>
          <p:nvPr/>
        </p:nvSpPr>
        <p:spPr>
          <a:xfrm>
            <a:off x="3163824" y="1561207"/>
            <a:ext cx="2804163" cy="2764533"/>
          </a:xfrm>
          <a:prstGeom prst="rect">
            <a:avLst/>
          </a:prstGeom>
          <a:solidFill>
            <a:srgbClr val="EFF6FF"/>
          </a:solidFill>
          <a:ln w="12701" cap="flat">
            <a:solidFill>
              <a:srgbClr val="1E3A8A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9E8D9CA4-35D0-50BE-09EB-C6ECA0AD0071}"/>
              </a:ext>
            </a:extLst>
          </p:cNvPr>
          <p:cNvSpPr/>
          <p:nvPr/>
        </p:nvSpPr>
        <p:spPr>
          <a:xfrm>
            <a:off x="3163824" y="1683135"/>
            <a:ext cx="2804163" cy="49328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🍪</a:t>
            </a: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F0E96B66-FC3C-1000-FF1D-38198E0EE1BF}"/>
              </a:ext>
            </a:extLst>
          </p:cNvPr>
          <p:cNvSpPr/>
          <p:nvPr/>
        </p:nvSpPr>
        <p:spPr>
          <a:xfrm>
            <a:off x="3261363" y="2353691"/>
            <a:ext cx="2609084" cy="44395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Session kezelés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B4048BDB-A1A6-2846-FADC-39AFF4EEE1D0}"/>
              </a:ext>
            </a:extLst>
          </p:cNvPr>
          <p:cNvSpPr/>
          <p:nvPr/>
        </p:nvSpPr>
        <p:spPr>
          <a:xfrm>
            <a:off x="3261363" y="2902332"/>
            <a:ext cx="2609084" cy="10852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67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express-session, httpOnly cookie, sameSite: lax. A session titkos kulccsal van aláírva.</a:t>
            </a:r>
            <a:endParaRPr lang="en-US" sz="12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D757C23B-275D-1B0D-D053-8B2F64C2CD23}"/>
              </a:ext>
            </a:extLst>
          </p:cNvPr>
          <p:cNvSpPr/>
          <p:nvPr/>
        </p:nvSpPr>
        <p:spPr>
          <a:xfrm>
            <a:off x="6150867" y="1561207"/>
            <a:ext cx="2804163" cy="2764533"/>
          </a:xfrm>
          <a:prstGeom prst="rect">
            <a:avLst/>
          </a:prstGeom>
          <a:solidFill>
            <a:srgbClr val="EFF6FF"/>
          </a:solidFill>
          <a:ln w="12701" cap="flat">
            <a:solidFill>
              <a:srgbClr val="1E3A8A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20B2BF0A-3A4E-758F-7C20-F1AF25307835}"/>
              </a:ext>
            </a:extLst>
          </p:cNvPr>
          <p:cNvSpPr/>
          <p:nvPr/>
        </p:nvSpPr>
        <p:spPr>
          <a:xfrm>
            <a:off x="6150867" y="1683135"/>
            <a:ext cx="2804163" cy="49328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🛡️</a:t>
            </a: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637CD601-3C71-EEA7-41DD-DE6386753B25}"/>
              </a:ext>
            </a:extLst>
          </p:cNvPr>
          <p:cNvSpPr/>
          <p:nvPr/>
        </p:nvSpPr>
        <p:spPr>
          <a:xfrm>
            <a:off x="6248396" y="2353691"/>
            <a:ext cx="2609084" cy="44395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Admin védelem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FD0647B4-4301-5458-8455-D5B465E6A26B}"/>
              </a:ext>
            </a:extLst>
          </p:cNvPr>
          <p:cNvSpPr/>
          <p:nvPr/>
        </p:nvSpPr>
        <p:spPr>
          <a:xfrm>
            <a:off x="6248396" y="2902332"/>
            <a:ext cx="2609084" cy="10852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67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isAdmin() middleware minden admin végponton. Ha nem admin a session, 403 Forbidden visszaküldése.</a:t>
            </a:r>
            <a:endParaRPr lang="en-US" sz="12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DB1FBB1A-2D52-EE85-CF9E-F9D7FFF70B55}"/>
              </a:ext>
            </a:extLst>
          </p:cNvPr>
          <p:cNvSpPr/>
          <p:nvPr/>
        </p:nvSpPr>
        <p:spPr>
          <a:xfrm>
            <a:off x="9137900" y="1561207"/>
            <a:ext cx="2804163" cy="2764533"/>
          </a:xfrm>
          <a:prstGeom prst="rect">
            <a:avLst/>
          </a:prstGeom>
          <a:solidFill>
            <a:srgbClr val="EFF6FF"/>
          </a:solidFill>
          <a:ln w="12701" cap="flat">
            <a:solidFill>
              <a:srgbClr val="1E3A8A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6A37A63D-7F39-47DC-518B-9DBBB3D2F1CE}"/>
              </a:ext>
            </a:extLst>
          </p:cNvPr>
          <p:cNvSpPr/>
          <p:nvPr/>
        </p:nvSpPr>
        <p:spPr>
          <a:xfrm>
            <a:off x="9137900" y="1683135"/>
            <a:ext cx="2804163" cy="49328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📁</a:t>
            </a: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FE9F01DD-7954-AB5C-4AD0-CF777C424B9D}"/>
              </a:ext>
            </a:extLst>
          </p:cNvPr>
          <p:cNvSpPr/>
          <p:nvPr/>
        </p:nvSpPr>
        <p:spPr>
          <a:xfrm>
            <a:off x="9235439" y="2353691"/>
            <a:ext cx="2609084" cy="44395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Fájlfeltöltés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4FD93F49-E685-33D3-4003-6F7F6D42D161}"/>
              </a:ext>
            </a:extLst>
          </p:cNvPr>
          <p:cNvSpPr/>
          <p:nvPr/>
        </p:nvSpPr>
        <p:spPr>
          <a:xfrm>
            <a:off x="9235439" y="2902332"/>
            <a:ext cx="2609084" cy="10852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67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multer library, fájltípus és méret ellenőrzés. Képek külön mappába kerülnek (/img/kutyak/, /img/profilok/).</a:t>
            </a:r>
            <a:endParaRPr lang="en-US" sz="12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72497EC4-5820-8F3C-C8E1-3A8BD0273E90}"/>
              </a:ext>
            </a:extLst>
          </p:cNvPr>
          <p:cNvSpPr/>
          <p:nvPr/>
        </p:nvSpPr>
        <p:spPr>
          <a:xfrm>
            <a:off x="176769" y="4333495"/>
            <a:ext cx="2804163" cy="2269102"/>
          </a:xfrm>
          <a:prstGeom prst="rect">
            <a:avLst/>
          </a:prstGeom>
          <a:solidFill>
            <a:srgbClr val="EFF6FF"/>
          </a:solidFill>
          <a:ln w="12701" cap="flat">
            <a:solidFill>
              <a:srgbClr val="1E3A8A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5299CAA9-DC95-6292-530F-4F62BD474658}"/>
              </a:ext>
            </a:extLst>
          </p:cNvPr>
          <p:cNvSpPr/>
          <p:nvPr/>
        </p:nvSpPr>
        <p:spPr>
          <a:xfrm>
            <a:off x="176769" y="4455411"/>
            <a:ext cx="2804163" cy="49328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🔑</a:t>
            </a:r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C21E07F7-7C13-61EB-B47E-9B3DDE1380F6}"/>
              </a:ext>
            </a:extLst>
          </p:cNvPr>
          <p:cNvSpPr/>
          <p:nvPr/>
        </p:nvSpPr>
        <p:spPr>
          <a:xfrm>
            <a:off x="274309" y="5125967"/>
            <a:ext cx="2609084" cy="44395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Környezeti változók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C1F77BB8-DC05-AE91-99F4-5F5C37078355}"/>
              </a:ext>
            </a:extLst>
          </p:cNvPr>
          <p:cNvSpPr/>
          <p:nvPr/>
        </p:nvSpPr>
        <p:spPr>
          <a:xfrm>
            <a:off x="274309" y="5674608"/>
            <a:ext cx="2609084" cy="10852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67" b="0" i="0" u="none" strike="noStrike" kern="1200" cap="none" spc="0" baseline="0" dirty="0" err="1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dotenv</a:t>
            </a:r>
            <a:r>
              <a:rPr lang="en-US" sz="1267" b="0" i="0" u="none" strike="noStrike" kern="1200" cap="none" spc="0" baseline="0" dirty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(.env </a:t>
            </a:r>
            <a:r>
              <a:rPr lang="en-US" sz="1267" b="0" i="0" u="none" strike="noStrike" kern="1200" cap="none" spc="0" baseline="0" dirty="0" err="1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fájl</a:t>
            </a:r>
            <a:r>
              <a:rPr lang="en-US" sz="1267" b="0" i="0" u="none" strike="noStrike" kern="1200" cap="none" spc="0" baseline="0" dirty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) – </a:t>
            </a:r>
            <a:r>
              <a:rPr lang="en-US" sz="1267" b="0" i="0" u="none" strike="noStrike" kern="1200" cap="none" spc="0" baseline="0" dirty="0" err="1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jelszavak</a:t>
            </a:r>
            <a:r>
              <a:rPr lang="en-US" sz="1267" b="0" i="0" u="none" strike="noStrike" kern="1200" cap="none" spc="0" baseline="0" dirty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, API </a:t>
            </a:r>
            <a:r>
              <a:rPr lang="en-US" sz="1267" b="0" i="0" u="none" strike="noStrike" kern="1200" cap="none" spc="0" baseline="0" dirty="0" err="1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kulcsok</a:t>
            </a:r>
            <a:r>
              <a:rPr lang="en-US" sz="1267" b="0" i="0" u="none" strike="noStrike" kern="1200" cap="none" spc="0" baseline="0" dirty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, email </a:t>
            </a:r>
            <a:r>
              <a:rPr lang="en-US" sz="1267" b="0" i="0" u="none" strike="noStrike" kern="1200" cap="none" spc="0" baseline="0" dirty="0" err="1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hitelesítők</a:t>
            </a:r>
            <a:r>
              <a:rPr lang="en-US" sz="1267" b="0" i="0" u="none" strike="noStrike" kern="1200" cap="none" spc="0" baseline="0" dirty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67" b="0" i="0" u="none" strike="noStrike" kern="1200" cap="none" spc="0" baseline="0" dirty="0" err="1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soha</a:t>
            </a:r>
            <a:r>
              <a:rPr lang="en-US" sz="1267" b="0" i="0" u="none" strike="noStrike" kern="1200" cap="none" spc="0" baseline="0" dirty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67" b="0" i="0" u="none" strike="noStrike" kern="1200" cap="none" spc="0" baseline="0" dirty="0" err="1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nem</a:t>
            </a:r>
            <a:r>
              <a:rPr lang="en-US" sz="1267" b="0" i="0" u="none" strike="noStrike" kern="1200" cap="none" spc="0" baseline="0" dirty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267" b="0" i="0" u="none" strike="noStrike" kern="1200" cap="none" spc="0" baseline="0" dirty="0" err="1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kerülnek</a:t>
            </a:r>
            <a:r>
              <a:rPr lang="en-US" sz="1267" b="0" i="0" u="none" strike="noStrike" kern="1200" cap="none" spc="0" baseline="0" dirty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a </a:t>
            </a:r>
            <a:r>
              <a:rPr lang="en-US" sz="1267" b="0" i="0" u="none" strike="noStrike" kern="1200" cap="none" spc="0" baseline="0" dirty="0" err="1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forráskódba</a:t>
            </a:r>
            <a:r>
              <a:rPr lang="en-US" sz="1267" b="0" i="0" u="none" strike="noStrike" kern="1200" cap="none" spc="0" baseline="0" dirty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.</a:t>
            </a:r>
            <a:endParaRPr lang="en-US" sz="1267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E98A5239-C7DE-27DE-58CB-F294A356F0AF}"/>
              </a:ext>
            </a:extLst>
          </p:cNvPr>
          <p:cNvSpPr/>
          <p:nvPr/>
        </p:nvSpPr>
        <p:spPr>
          <a:xfrm>
            <a:off x="3163813" y="4333495"/>
            <a:ext cx="2804163" cy="2269102"/>
          </a:xfrm>
          <a:prstGeom prst="rect">
            <a:avLst/>
          </a:prstGeom>
          <a:solidFill>
            <a:srgbClr val="EFF6FF"/>
          </a:solidFill>
          <a:ln w="12701" cap="flat">
            <a:solidFill>
              <a:srgbClr val="1E3A8A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79A50063-730D-0F1F-8F9C-89206B601CB6}"/>
              </a:ext>
            </a:extLst>
          </p:cNvPr>
          <p:cNvSpPr/>
          <p:nvPr/>
        </p:nvSpPr>
        <p:spPr>
          <a:xfrm>
            <a:off x="3163813" y="4455411"/>
            <a:ext cx="2804163" cy="49328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💉</a:t>
            </a:r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CAE9C95E-4EBD-9455-C886-C2EA3CFCD976}"/>
              </a:ext>
            </a:extLst>
          </p:cNvPr>
          <p:cNvSpPr/>
          <p:nvPr/>
        </p:nvSpPr>
        <p:spPr>
          <a:xfrm>
            <a:off x="3261352" y="5125967"/>
            <a:ext cx="2609084" cy="44395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SQL Injection védelem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A225AEA6-C162-E4AB-13B0-845BE847A4D0}"/>
              </a:ext>
            </a:extLst>
          </p:cNvPr>
          <p:cNvSpPr/>
          <p:nvPr/>
        </p:nvSpPr>
        <p:spPr>
          <a:xfrm>
            <a:off x="3261352" y="5674608"/>
            <a:ext cx="2609084" cy="10852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67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mysql2 prepared statements (paraméteres lekérdezések) minden SQL query esetén.</a:t>
            </a:r>
            <a:endParaRPr lang="en-US" sz="12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9" name="Shape 30">
            <a:extLst>
              <a:ext uri="{FF2B5EF4-FFF2-40B4-BE49-F238E27FC236}">
                <a16:creationId xmlns:a16="http://schemas.microsoft.com/office/drawing/2014/main" id="{7EA0D787-9626-4183-5FA4-FCE888107B91}"/>
              </a:ext>
            </a:extLst>
          </p:cNvPr>
          <p:cNvSpPr/>
          <p:nvPr/>
        </p:nvSpPr>
        <p:spPr>
          <a:xfrm>
            <a:off x="6150856" y="4333495"/>
            <a:ext cx="2804163" cy="2269102"/>
          </a:xfrm>
          <a:prstGeom prst="rect">
            <a:avLst/>
          </a:prstGeom>
          <a:solidFill>
            <a:srgbClr val="EFF6FF"/>
          </a:solidFill>
          <a:ln w="12701" cap="flat">
            <a:solidFill>
              <a:srgbClr val="1E3A8A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0" name="Text 31">
            <a:extLst>
              <a:ext uri="{FF2B5EF4-FFF2-40B4-BE49-F238E27FC236}">
                <a16:creationId xmlns:a16="http://schemas.microsoft.com/office/drawing/2014/main" id="{DF78A2A4-65C6-8CDF-C051-E61D6D6F6CA3}"/>
              </a:ext>
            </a:extLst>
          </p:cNvPr>
          <p:cNvSpPr/>
          <p:nvPr/>
        </p:nvSpPr>
        <p:spPr>
          <a:xfrm>
            <a:off x="6150856" y="4455411"/>
            <a:ext cx="2804163" cy="49328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⏱️</a:t>
            </a:r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2BC22257-DD7E-B4AB-F645-E4E2A75B8FF3}"/>
              </a:ext>
            </a:extLst>
          </p:cNvPr>
          <p:cNvSpPr/>
          <p:nvPr/>
        </p:nvSpPr>
        <p:spPr>
          <a:xfrm>
            <a:off x="6248385" y="5125967"/>
            <a:ext cx="2609084" cy="44395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Token rendszer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2" name="Text 33">
            <a:extLst>
              <a:ext uri="{FF2B5EF4-FFF2-40B4-BE49-F238E27FC236}">
                <a16:creationId xmlns:a16="http://schemas.microsoft.com/office/drawing/2014/main" id="{A3EFFC1D-EF77-A8C9-3A4E-031592FED52B}"/>
              </a:ext>
            </a:extLst>
          </p:cNvPr>
          <p:cNvSpPr/>
          <p:nvPr/>
        </p:nvSpPr>
        <p:spPr>
          <a:xfrm>
            <a:off x="6248385" y="5674608"/>
            <a:ext cx="2609084" cy="10852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67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Jelszó-visszaállítás crypto.randomBytes(32) tokennel, 30 perces lejárat, egyszeri használat garantált.</a:t>
            </a:r>
            <a:endParaRPr lang="en-US" sz="12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3" name="Shape 34">
            <a:extLst>
              <a:ext uri="{FF2B5EF4-FFF2-40B4-BE49-F238E27FC236}">
                <a16:creationId xmlns:a16="http://schemas.microsoft.com/office/drawing/2014/main" id="{418D6B64-ADC2-07C3-EA60-AEE4B65F8AD4}"/>
              </a:ext>
            </a:extLst>
          </p:cNvPr>
          <p:cNvSpPr/>
          <p:nvPr/>
        </p:nvSpPr>
        <p:spPr>
          <a:xfrm>
            <a:off x="9137889" y="4333495"/>
            <a:ext cx="2804163" cy="2269102"/>
          </a:xfrm>
          <a:prstGeom prst="rect">
            <a:avLst/>
          </a:prstGeom>
          <a:solidFill>
            <a:srgbClr val="EFF6FF"/>
          </a:solidFill>
          <a:ln w="12701" cap="flat">
            <a:solidFill>
              <a:srgbClr val="1E3A8A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4" name="Text 35">
            <a:extLst>
              <a:ext uri="{FF2B5EF4-FFF2-40B4-BE49-F238E27FC236}">
                <a16:creationId xmlns:a16="http://schemas.microsoft.com/office/drawing/2014/main" id="{0B9D9717-3040-5EF0-0B7A-E6510C6EEB2A}"/>
              </a:ext>
            </a:extLst>
          </p:cNvPr>
          <p:cNvSpPr/>
          <p:nvPr/>
        </p:nvSpPr>
        <p:spPr>
          <a:xfrm>
            <a:off x="9137889" y="4455411"/>
            <a:ext cx="2804163" cy="49328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9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5" name="Text 36">
            <a:extLst>
              <a:ext uri="{FF2B5EF4-FFF2-40B4-BE49-F238E27FC236}">
                <a16:creationId xmlns:a16="http://schemas.microsoft.com/office/drawing/2014/main" id="{8DDCCC3B-D51A-D1D9-014A-36FD728E3FB3}"/>
              </a:ext>
            </a:extLst>
          </p:cNvPr>
          <p:cNvSpPr/>
          <p:nvPr/>
        </p:nvSpPr>
        <p:spPr>
          <a:xfrm>
            <a:off x="9235428" y="5125967"/>
            <a:ext cx="2609084" cy="44395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CORS &amp; CSP", icon: "🌐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6" name="Text 37">
            <a:extLst>
              <a:ext uri="{FF2B5EF4-FFF2-40B4-BE49-F238E27FC236}">
                <a16:creationId xmlns:a16="http://schemas.microsoft.com/office/drawing/2014/main" id="{A321C777-3423-6048-7D9D-0F64289EF9DC}"/>
              </a:ext>
            </a:extLst>
          </p:cNvPr>
          <p:cNvSpPr/>
          <p:nvPr/>
        </p:nvSpPr>
        <p:spPr>
          <a:xfrm>
            <a:off x="9235428" y="5674608"/>
            <a:ext cx="2609084" cy="108522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67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CORS middleware, Content-Security-Policy fejléc minden válaszon.</a:t>
            </a:r>
            <a:endParaRPr lang="en-US" sz="12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9" name="Text 40">
            <a:extLst>
              <a:ext uri="{FF2B5EF4-FFF2-40B4-BE49-F238E27FC236}">
                <a16:creationId xmlns:a16="http://schemas.microsoft.com/office/drawing/2014/main" id="{A36C7C59-1915-05B6-35D4-79130BB39B7E}"/>
              </a:ext>
            </a:extLst>
          </p:cNvPr>
          <p:cNvSpPr/>
          <p:nvPr/>
        </p:nvSpPr>
        <p:spPr>
          <a:xfrm>
            <a:off x="10728956" y="8473443"/>
            <a:ext cx="1341123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94A3B8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13 / 18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466545-564A-3609-E285-93FFCC4B7DA0}"/>
              </a:ext>
            </a:extLst>
          </p:cNvPr>
          <p:cNvSpPr/>
          <p:nvPr/>
        </p:nvSpPr>
        <p:spPr>
          <a:xfrm>
            <a:off x="4" y="18288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B58A90F-7030-E656-E16B-D569AF13CBEB}"/>
              </a:ext>
            </a:extLst>
          </p:cNvPr>
          <p:cNvSpPr/>
          <p:nvPr/>
        </p:nvSpPr>
        <p:spPr>
          <a:xfrm>
            <a:off x="0" y="0"/>
            <a:ext cx="12191996" cy="1018060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E98ABE4-2994-A891-7AFE-255188EDB614}"/>
              </a:ext>
            </a:extLst>
          </p:cNvPr>
          <p:cNvSpPr/>
          <p:nvPr/>
        </p:nvSpPr>
        <p:spPr>
          <a:xfrm>
            <a:off x="121915" y="-24365"/>
            <a:ext cx="10972800" cy="9753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67" b="1" i="0" u="none" strike="noStrike" kern="1200" cap="none" spc="0" baseline="0" dirty="0" err="1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Tesztelés</a:t>
            </a:r>
            <a:r>
              <a:rPr lang="en-US" sz="3467" b="1" i="0" u="none" strike="noStrike" kern="1200" cap="none" spc="0" baseline="0" dirty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3467" b="1" i="0" u="none" strike="noStrike" kern="1200" cap="none" spc="0" baseline="0" dirty="0" err="1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és</a:t>
            </a:r>
            <a:r>
              <a:rPr lang="en-US" sz="3467" b="1" i="0" u="none" strike="noStrike" kern="1200" cap="none" spc="0" baseline="0" dirty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3467" b="1" i="0" u="none" strike="noStrike" kern="1200" cap="none" spc="0" baseline="0" dirty="0" err="1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hibakezelés</a:t>
            </a:r>
            <a:endParaRPr lang="en-US" sz="3467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6E122499-175C-DE04-12CB-BCB357D11BEC}"/>
              </a:ext>
            </a:extLst>
          </p:cNvPr>
          <p:cNvSpPr/>
          <p:nvPr/>
        </p:nvSpPr>
        <p:spPr>
          <a:xfrm>
            <a:off x="121915" y="1121674"/>
            <a:ext cx="5364483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133" b="1" i="0" u="none" strike="noStrike" kern="1200" cap="none" spc="0" baseline="0" dirty="0" err="1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Tesztelési</a:t>
            </a:r>
            <a:r>
              <a:rPr lang="en-US" sz="2133" b="1" i="0" u="none" strike="noStrike" kern="1200" cap="none" spc="0" baseline="0" dirty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2133" b="1" i="0" u="none" strike="noStrike" kern="1200" cap="none" spc="0" baseline="0" dirty="0" err="1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módszerek</a:t>
            </a:r>
            <a:endParaRPr lang="en-US" sz="2133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E447DA13-6E5B-0D3B-592A-EE9B62AE50C4}"/>
              </a:ext>
            </a:extLst>
          </p:cNvPr>
          <p:cNvSpPr/>
          <p:nvPr/>
        </p:nvSpPr>
        <p:spPr>
          <a:xfrm>
            <a:off x="6095988" y="914426"/>
            <a:ext cx="5852160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133" b="1" i="0" u="none" strike="noStrike" kern="1200" cap="none" spc="0" baseline="0" dirty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Fontos </a:t>
            </a:r>
            <a:r>
              <a:rPr lang="en-US" sz="2133" b="1" i="0" u="none" strike="noStrike" kern="1200" cap="none" spc="0" baseline="0" dirty="0" err="1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hibakezelési</a:t>
            </a:r>
            <a:r>
              <a:rPr lang="en-US" sz="2133" b="1" i="0" u="none" strike="noStrike" kern="1200" cap="none" spc="0" baseline="0" dirty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2133" b="1" i="0" u="none" strike="noStrike" kern="1200" cap="none" spc="0" baseline="0" dirty="0" err="1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megoldások</a:t>
            </a:r>
            <a:endParaRPr lang="en-US" sz="2133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8ADC1E80-74A5-6C51-DB66-49F4CF2ADE87}"/>
              </a:ext>
            </a:extLst>
          </p:cNvPr>
          <p:cNvSpPr/>
          <p:nvPr/>
        </p:nvSpPr>
        <p:spPr>
          <a:xfrm>
            <a:off x="121915" y="1865387"/>
            <a:ext cx="5547352" cy="883924"/>
          </a:xfrm>
          <a:prstGeom prst="rect">
            <a:avLst/>
          </a:prstGeom>
          <a:solidFill>
            <a:srgbClr val="EFF6FF"/>
          </a:solidFill>
          <a:ln w="10158" cap="flat">
            <a:solidFill>
              <a:srgbClr val="3B82F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FCECB26D-C4ED-FF2C-F526-21C9AD99E614}"/>
              </a:ext>
            </a:extLst>
          </p:cNvPr>
          <p:cNvSpPr/>
          <p:nvPr/>
        </p:nvSpPr>
        <p:spPr>
          <a:xfrm>
            <a:off x="219453" y="1962926"/>
            <a:ext cx="554735" cy="60960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🌐</a:t>
            </a: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ED87C889-8B0B-74E9-C650-BF8A988B4011}"/>
              </a:ext>
            </a:extLst>
          </p:cNvPr>
          <p:cNvSpPr/>
          <p:nvPr/>
        </p:nvSpPr>
        <p:spPr>
          <a:xfrm>
            <a:off x="816859" y="1950727"/>
            <a:ext cx="4684434" cy="3901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Manuális böngésző tesztelés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26AC476C-8594-9BAA-AA33-8E3494BA7F47}"/>
              </a:ext>
            </a:extLst>
          </p:cNvPr>
          <p:cNvSpPr/>
          <p:nvPr/>
        </p:nvSpPr>
        <p:spPr>
          <a:xfrm>
            <a:off x="816859" y="2340875"/>
            <a:ext cx="4684434" cy="3413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Minden funkciót kézzel teszteltünk Chrome-ban és mobilon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16232D9F-116D-FB9F-6F5E-9B2675D97EB0}"/>
              </a:ext>
            </a:extLst>
          </p:cNvPr>
          <p:cNvSpPr/>
          <p:nvPr/>
        </p:nvSpPr>
        <p:spPr>
          <a:xfrm>
            <a:off x="121915" y="2877326"/>
            <a:ext cx="5547352" cy="890012"/>
          </a:xfrm>
          <a:prstGeom prst="rect">
            <a:avLst/>
          </a:prstGeom>
          <a:solidFill>
            <a:srgbClr val="EFF6FF"/>
          </a:solidFill>
          <a:ln w="10158" cap="flat">
            <a:solidFill>
              <a:srgbClr val="3B82F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AB10432B-4D38-1DC9-FACA-66293C1588AE}"/>
              </a:ext>
            </a:extLst>
          </p:cNvPr>
          <p:cNvSpPr/>
          <p:nvPr/>
        </p:nvSpPr>
        <p:spPr>
          <a:xfrm>
            <a:off x="219453" y="2974855"/>
            <a:ext cx="554735" cy="60960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📮</a:t>
            </a:r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1846B6B4-0B12-78A6-C76F-BBA5732CA51E}"/>
              </a:ext>
            </a:extLst>
          </p:cNvPr>
          <p:cNvSpPr/>
          <p:nvPr/>
        </p:nvSpPr>
        <p:spPr>
          <a:xfrm>
            <a:off x="816859" y="2962667"/>
            <a:ext cx="4684434" cy="3901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Postman API teszt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6E4C2653-7D7A-EBC3-664C-9B7FB6D2FAF7}"/>
              </a:ext>
            </a:extLst>
          </p:cNvPr>
          <p:cNvSpPr/>
          <p:nvPr/>
        </p:nvSpPr>
        <p:spPr>
          <a:xfrm>
            <a:off x="816859" y="3352814"/>
            <a:ext cx="4684434" cy="3413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REST API végpontok tesztelése különböző HTTP metódusokkal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05AB5B6C-DE3B-F5D8-37D7-9900026F4916}"/>
              </a:ext>
            </a:extLst>
          </p:cNvPr>
          <p:cNvSpPr/>
          <p:nvPr/>
        </p:nvSpPr>
        <p:spPr>
          <a:xfrm>
            <a:off x="121915" y="3889255"/>
            <a:ext cx="5547352" cy="890012"/>
          </a:xfrm>
          <a:prstGeom prst="rect">
            <a:avLst/>
          </a:prstGeom>
          <a:solidFill>
            <a:srgbClr val="EFF6FF"/>
          </a:solidFill>
          <a:ln w="10158" cap="flat">
            <a:solidFill>
              <a:srgbClr val="3B82F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5BAD2C87-ABB8-B4BC-F5E4-C76AB225B875}"/>
              </a:ext>
            </a:extLst>
          </p:cNvPr>
          <p:cNvSpPr/>
          <p:nvPr/>
        </p:nvSpPr>
        <p:spPr>
          <a:xfrm>
            <a:off x="219453" y="3986795"/>
            <a:ext cx="554735" cy="60960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📊</a:t>
            </a: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D9515BF4-1EA1-1E1D-4C26-FCB8DD295710}"/>
              </a:ext>
            </a:extLst>
          </p:cNvPr>
          <p:cNvSpPr/>
          <p:nvPr/>
        </p:nvSpPr>
        <p:spPr>
          <a:xfrm>
            <a:off x="816859" y="3974606"/>
            <a:ext cx="4684434" cy="3901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phpMyAdmin ellenőrzés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06DEEC63-DE05-A65C-E273-36B9FD19E793}"/>
              </a:ext>
            </a:extLst>
          </p:cNvPr>
          <p:cNvSpPr/>
          <p:nvPr/>
        </p:nvSpPr>
        <p:spPr>
          <a:xfrm>
            <a:off x="816859" y="4364743"/>
            <a:ext cx="4684434" cy="3413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Adatbázis műveletek közvetlen ellenőrzése az adatbázisban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ADF1BABD-5B11-E5BC-4BCB-FAA8DECA016A}"/>
              </a:ext>
            </a:extLst>
          </p:cNvPr>
          <p:cNvSpPr/>
          <p:nvPr/>
        </p:nvSpPr>
        <p:spPr>
          <a:xfrm>
            <a:off x="121915" y="4901195"/>
            <a:ext cx="5547352" cy="890012"/>
          </a:xfrm>
          <a:prstGeom prst="rect">
            <a:avLst/>
          </a:prstGeom>
          <a:solidFill>
            <a:srgbClr val="EFF6FF"/>
          </a:solidFill>
          <a:ln w="10158" cap="flat">
            <a:solidFill>
              <a:srgbClr val="3B82F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1343F427-D382-9852-295B-E6C64A59360E}"/>
              </a:ext>
            </a:extLst>
          </p:cNvPr>
          <p:cNvSpPr/>
          <p:nvPr/>
        </p:nvSpPr>
        <p:spPr>
          <a:xfrm>
            <a:off x="219453" y="4998734"/>
            <a:ext cx="554735" cy="60960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📧</a:t>
            </a: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13E498AF-56F0-C3D0-2F02-074111377BEB}"/>
              </a:ext>
            </a:extLst>
          </p:cNvPr>
          <p:cNvSpPr/>
          <p:nvPr/>
        </p:nvSpPr>
        <p:spPr>
          <a:xfrm>
            <a:off x="816859" y="4986535"/>
            <a:ext cx="4684434" cy="3901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Email tesztelés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2377ECBD-37E9-231E-3843-3135145F90A0}"/>
              </a:ext>
            </a:extLst>
          </p:cNvPr>
          <p:cNvSpPr/>
          <p:nvPr/>
        </p:nvSpPr>
        <p:spPr>
          <a:xfrm>
            <a:off x="816859" y="5376683"/>
            <a:ext cx="4684434" cy="3413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SMTP konfiguráció ellenőrzése, összes email sablon tesztelése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3" name="Shape 24">
            <a:extLst>
              <a:ext uri="{FF2B5EF4-FFF2-40B4-BE49-F238E27FC236}">
                <a16:creationId xmlns:a16="http://schemas.microsoft.com/office/drawing/2014/main" id="{C6F3E0D5-EAAD-F039-50F8-F1CACE51392D}"/>
              </a:ext>
            </a:extLst>
          </p:cNvPr>
          <p:cNvSpPr/>
          <p:nvPr/>
        </p:nvSpPr>
        <p:spPr>
          <a:xfrm>
            <a:off x="121915" y="5913134"/>
            <a:ext cx="5547352" cy="890012"/>
          </a:xfrm>
          <a:prstGeom prst="rect">
            <a:avLst/>
          </a:prstGeom>
          <a:solidFill>
            <a:srgbClr val="EFF6FF"/>
          </a:solidFill>
          <a:ln w="10158" cap="flat">
            <a:solidFill>
              <a:srgbClr val="3B82F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EACB3CFE-CA25-B336-7934-10CFCDE21686}"/>
              </a:ext>
            </a:extLst>
          </p:cNvPr>
          <p:cNvSpPr/>
          <p:nvPr/>
        </p:nvSpPr>
        <p:spPr>
          <a:xfrm>
            <a:off x="219453" y="6010663"/>
            <a:ext cx="554735" cy="60960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📱</a:t>
            </a:r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66BAC162-8A94-92FF-9960-CE177424D27A}"/>
              </a:ext>
            </a:extLst>
          </p:cNvPr>
          <p:cNvSpPr/>
          <p:nvPr/>
        </p:nvSpPr>
        <p:spPr>
          <a:xfrm>
            <a:off x="816859" y="5998475"/>
            <a:ext cx="4684434" cy="3901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Reszponzív teszt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C3E6B0EF-D117-BCDA-0E7F-A77C4F1C82D7}"/>
              </a:ext>
            </a:extLst>
          </p:cNvPr>
          <p:cNvSpPr/>
          <p:nvPr/>
        </p:nvSpPr>
        <p:spPr>
          <a:xfrm>
            <a:off x="816859" y="6388622"/>
            <a:ext cx="4684434" cy="3413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Különböző képernyőméretek: mobil, tablet, desktop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7" name="Shape 28">
            <a:extLst>
              <a:ext uri="{FF2B5EF4-FFF2-40B4-BE49-F238E27FC236}">
                <a16:creationId xmlns:a16="http://schemas.microsoft.com/office/drawing/2014/main" id="{9109DB9D-25BC-2474-5886-EFB1674C43E4}"/>
              </a:ext>
            </a:extLst>
          </p:cNvPr>
          <p:cNvSpPr/>
          <p:nvPr/>
        </p:nvSpPr>
        <p:spPr>
          <a:xfrm>
            <a:off x="5931414" y="1359432"/>
            <a:ext cx="6138671" cy="981442"/>
          </a:xfrm>
          <a:prstGeom prst="rect">
            <a:avLst/>
          </a:prstGeom>
          <a:solidFill>
            <a:srgbClr val="FFF5F5"/>
          </a:solidFill>
          <a:ln w="10158" cap="flat">
            <a:solidFill>
              <a:srgbClr val="E945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7AF0970E-2C29-ADC8-277C-0E7010E6F05E}"/>
              </a:ext>
            </a:extLst>
          </p:cNvPr>
          <p:cNvSpPr/>
          <p:nvPr/>
        </p:nvSpPr>
        <p:spPr>
          <a:xfrm>
            <a:off x="6053342" y="1424872"/>
            <a:ext cx="5880208" cy="36099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 dirty="0">
                <a:solidFill>
                  <a:srgbClr val="E9456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⚠ MySQL </a:t>
            </a:r>
            <a:r>
              <a:rPr lang="en-US" sz="1467" b="1" i="0" u="none" strike="noStrike" kern="1200" cap="none" spc="0" baseline="0" dirty="0" err="1">
                <a:solidFill>
                  <a:srgbClr val="E9456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kapcsolódási</a:t>
            </a:r>
            <a:r>
              <a:rPr lang="en-US" sz="1467" b="1" i="0" u="none" strike="noStrike" kern="1200" cap="none" spc="0" baseline="0" dirty="0">
                <a:solidFill>
                  <a:srgbClr val="E9456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467" b="1" i="0" u="none" strike="noStrike" kern="1200" cap="none" spc="0" baseline="0" dirty="0" err="1">
                <a:solidFill>
                  <a:srgbClr val="E9456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hiba</a:t>
            </a:r>
            <a:endParaRPr lang="en-US" sz="1467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C4A2D22B-8ACB-7E1D-13F3-9B497A51B348}"/>
              </a:ext>
            </a:extLst>
          </p:cNvPr>
          <p:cNvSpPr/>
          <p:nvPr/>
        </p:nvSpPr>
        <p:spPr>
          <a:xfrm>
            <a:off x="6053342" y="1900921"/>
            <a:ext cx="5880208" cy="40611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 dirty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✓ </a:t>
            </a:r>
            <a:r>
              <a:rPr lang="en-US" sz="1400" b="0" i="0" u="none" strike="noStrike" kern="1200" cap="none" spc="0" baseline="0" dirty="0" err="1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db.connect</a:t>
            </a:r>
            <a:r>
              <a:rPr lang="en-US" sz="1400" b="0" i="0" u="none" strike="noStrike" kern="1200" cap="none" spc="0" baseline="0" dirty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() </a:t>
            </a:r>
            <a:r>
              <a:rPr lang="en-US" sz="1400" b="0" i="0" u="none" strike="noStrike" kern="1200" cap="none" spc="0" baseline="0" dirty="0" err="1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hibát</a:t>
            </a:r>
            <a:r>
              <a:rPr lang="en-US" sz="1400" b="0" i="0" u="none" strike="noStrike" kern="1200" cap="none" spc="0" baseline="0" dirty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400" b="0" i="0" u="none" strike="noStrike" kern="1200" cap="none" spc="0" baseline="0" dirty="0" err="1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ellenőrizzük</a:t>
            </a:r>
            <a:r>
              <a:rPr lang="en-US" sz="1400" b="0" i="0" u="none" strike="noStrike" kern="1200" cap="none" spc="0" baseline="0" dirty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, </a:t>
            </a:r>
            <a:r>
              <a:rPr lang="en-US" sz="1400" b="0" i="0" u="none" strike="noStrike" kern="1200" cap="none" spc="0" baseline="0" dirty="0" err="1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az</a:t>
            </a:r>
            <a:r>
              <a:rPr lang="en-US" sz="1400" b="0" i="0" u="none" strike="noStrike" kern="1200" cap="none" spc="0" baseline="0" dirty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400" b="0" i="0" u="none" strike="noStrike" kern="1200" cap="none" spc="0" baseline="0" dirty="0" err="1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alkalmazás</a:t>
            </a:r>
            <a:r>
              <a:rPr lang="en-US" sz="1400" b="0" i="0" u="none" strike="noStrike" kern="1200" cap="none" spc="0" baseline="0" dirty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400" b="0" i="0" u="none" strike="noStrike" kern="1200" cap="none" spc="0" baseline="0" dirty="0" err="1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nem</a:t>
            </a:r>
            <a:r>
              <a:rPr lang="en-US" sz="1400" b="0" i="0" u="none" strike="noStrike" kern="1200" cap="none" spc="0" baseline="0" dirty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400" b="0" i="0" u="none" strike="noStrike" kern="1200" cap="none" spc="0" baseline="0" dirty="0" err="1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indul</a:t>
            </a:r>
            <a:r>
              <a:rPr lang="en-US" sz="1400" b="0" i="0" u="none" strike="noStrike" kern="1200" cap="none" spc="0" baseline="0" dirty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1400" b="0" i="0" u="none" strike="noStrike" kern="1200" cap="none" spc="0" baseline="0" dirty="0" err="1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el</a:t>
            </a:r>
            <a:endParaRPr lang="en-US" sz="14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0" name="Shape 31">
            <a:extLst>
              <a:ext uri="{FF2B5EF4-FFF2-40B4-BE49-F238E27FC236}">
                <a16:creationId xmlns:a16="http://schemas.microsoft.com/office/drawing/2014/main" id="{11317859-1BBD-3F3D-EC40-0E1CE7CA21AB}"/>
              </a:ext>
            </a:extLst>
          </p:cNvPr>
          <p:cNvSpPr/>
          <p:nvPr/>
        </p:nvSpPr>
        <p:spPr>
          <a:xfrm>
            <a:off x="5931414" y="2542052"/>
            <a:ext cx="6138671" cy="981442"/>
          </a:xfrm>
          <a:prstGeom prst="rect">
            <a:avLst/>
          </a:prstGeom>
          <a:solidFill>
            <a:srgbClr val="FFF5F5"/>
          </a:solidFill>
          <a:ln w="10158" cap="flat">
            <a:solidFill>
              <a:srgbClr val="E945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C000D3A8-6094-ED9E-804C-83A6BDD3E94F}"/>
              </a:ext>
            </a:extLst>
          </p:cNvPr>
          <p:cNvSpPr/>
          <p:nvPr/>
        </p:nvSpPr>
        <p:spPr>
          <a:xfrm>
            <a:off x="6053342" y="2607492"/>
            <a:ext cx="5880208" cy="36099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E9456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⚠ SMTP hitelesítési hiba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2" name="Text 33">
            <a:extLst>
              <a:ext uri="{FF2B5EF4-FFF2-40B4-BE49-F238E27FC236}">
                <a16:creationId xmlns:a16="http://schemas.microsoft.com/office/drawing/2014/main" id="{DE0DD397-C185-9130-D555-0EA7DA73FEFC}"/>
              </a:ext>
            </a:extLst>
          </p:cNvPr>
          <p:cNvSpPr/>
          <p:nvPr/>
        </p:nvSpPr>
        <p:spPr>
          <a:xfrm>
            <a:off x="6053342" y="3083541"/>
            <a:ext cx="5880208" cy="40611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✓ transporter.verify() ellenőrzés induláskor, process.exit(1)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3" name="Shape 34">
            <a:extLst>
              <a:ext uri="{FF2B5EF4-FFF2-40B4-BE49-F238E27FC236}">
                <a16:creationId xmlns:a16="http://schemas.microsoft.com/office/drawing/2014/main" id="{21CB869E-9785-2837-CB6C-57E703AD5FB1}"/>
              </a:ext>
            </a:extLst>
          </p:cNvPr>
          <p:cNvSpPr/>
          <p:nvPr/>
        </p:nvSpPr>
        <p:spPr>
          <a:xfrm>
            <a:off x="5931414" y="3724683"/>
            <a:ext cx="6138671" cy="981442"/>
          </a:xfrm>
          <a:prstGeom prst="rect">
            <a:avLst/>
          </a:prstGeom>
          <a:solidFill>
            <a:srgbClr val="FFF5F5"/>
          </a:solidFill>
          <a:ln w="10158" cap="flat">
            <a:solidFill>
              <a:srgbClr val="E945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4" name="Text 35">
            <a:extLst>
              <a:ext uri="{FF2B5EF4-FFF2-40B4-BE49-F238E27FC236}">
                <a16:creationId xmlns:a16="http://schemas.microsoft.com/office/drawing/2014/main" id="{05BC28DF-2EF8-0721-9CDB-4A632797BDD6}"/>
              </a:ext>
            </a:extLst>
          </p:cNvPr>
          <p:cNvSpPr/>
          <p:nvPr/>
        </p:nvSpPr>
        <p:spPr>
          <a:xfrm>
            <a:off x="6053342" y="3790123"/>
            <a:ext cx="5880208" cy="36099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E9456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⚠ Hiányzó .env változó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5" name="Text 36">
            <a:extLst>
              <a:ext uri="{FF2B5EF4-FFF2-40B4-BE49-F238E27FC236}">
                <a16:creationId xmlns:a16="http://schemas.microsoft.com/office/drawing/2014/main" id="{232518CE-92C2-2EC6-6BD5-487D02EB5DDA}"/>
              </a:ext>
            </a:extLst>
          </p:cNvPr>
          <p:cNvSpPr/>
          <p:nvPr/>
        </p:nvSpPr>
        <p:spPr>
          <a:xfrm>
            <a:off x="6053342" y="4266172"/>
            <a:ext cx="5880208" cy="40611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✓ Kötelező kulcsok ellenőrzése induláskor, hiányzónál leáll a szerver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6" name="Shape 37">
            <a:extLst>
              <a:ext uri="{FF2B5EF4-FFF2-40B4-BE49-F238E27FC236}">
                <a16:creationId xmlns:a16="http://schemas.microsoft.com/office/drawing/2014/main" id="{A0806706-EA6E-E2B1-9B1D-74D2953174D4}"/>
              </a:ext>
            </a:extLst>
          </p:cNvPr>
          <p:cNvSpPr/>
          <p:nvPr/>
        </p:nvSpPr>
        <p:spPr>
          <a:xfrm>
            <a:off x="5931414" y="4907304"/>
            <a:ext cx="6138671" cy="981442"/>
          </a:xfrm>
          <a:prstGeom prst="rect">
            <a:avLst/>
          </a:prstGeom>
          <a:solidFill>
            <a:srgbClr val="FFF5F5"/>
          </a:solidFill>
          <a:ln w="10158" cap="flat">
            <a:solidFill>
              <a:srgbClr val="E945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7" name="Text 38">
            <a:extLst>
              <a:ext uri="{FF2B5EF4-FFF2-40B4-BE49-F238E27FC236}">
                <a16:creationId xmlns:a16="http://schemas.microsoft.com/office/drawing/2014/main" id="{AA42CD25-BAE9-DA34-1087-B211343DD603}"/>
              </a:ext>
            </a:extLst>
          </p:cNvPr>
          <p:cNvSpPr/>
          <p:nvPr/>
        </p:nvSpPr>
        <p:spPr>
          <a:xfrm>
            <a:off x="6053342" y="4972744"/>
            <a:ext cx="5880208" cy="36099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E9456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⚠ Feltöltési hibák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78739805-3BE4-CA32-A21C-AC93DE710AA9}"/>
              </a:ext>
            </a:extLst>
          </p:cNvPr>
          <p:cNvSpPr/>
          <p:nvPr/>
        </p:nvSpPr>
        <p:spPr>
          <a:xfrm>
            <a:off x="6053342" y="5448793"/>
            <a:ext cx="5880208" cy="40611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✓ multer hibakezelés, max fájlméret, csak képformátumok engedélyezve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9" name="Shape 40">
            <a:extLst>
              <a:ext uri="{FF2B5EF4-FFF2-40B4-BE49-F238E27FC236}">
                <a16:creationId xmlns:a16="http://schemas.microsoft.com/office/drawing/2014/main" id="{8C2105BB-0E2B-8DDD-EAAA-75CC7AA29AC3}"/>
              </a:ext>
            </a:extLst>
          </p:cNvPr>
          <p:cNvSpPr/>
          <p:nvPr/>
        </p:nvSpPr>
        <p:spPr>
          <a:xfrm>
            <a:off x="5931414" y="6077725"/>
            <a:ext cx="6138671" cy="993641"/>
          </a:xfrm>
          <a:prstGeom prst="rect">
            <a:avLst/>
          </a:prstGeom>
          <a:solidFill>
            <a:srgbClr val="FFF5F5"/>
          </a:solidFill>
          <a:ln w="10158" cap="flat">
            <a:solidFill>
              <a:srgbClr val="E945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0" name="Text 41">
            <a:extLst>
              <a:ext uri="{FF2B5EF4-FFF2-40B4-BE49-F238E27FC236}">
                <a16:creationId xmlns:a16="http://schemas.microsoft.com/office/drawing/2014/main" id="{B1956F3B-3C7D-68B7-F00F-00B7D27FB032}"/>
              </a:ext>
            </a:extLst>
          </p:cNvPr>
          <p:cNvSpPr/>
          <p:nvPr/>
        </p:nvSpPr>
        <p:spPr>
          <a:xfrm>
            <a:off x="6053342" y="6155364"/>
            <a:ext cx="5880208" cy="36099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E9456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⚠ 403 Unauthorized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1" name="Text 42">
            <a:extLst>
              <a:ext uri="{FF2B5EF4-FFF2-40B4-BE49-F238E27FC236}">
                <a16:creationId xmlns:a16="http://schemas.microsoft.com/office/drawing/2014/main" id="{D3BA07A1-0934-FF22-C23A-0A583D12D6BA}"/>
              </a:ext>
            </a:extLst>
          </p:cNvPr>
          <p:cNvSpPr/>
          <p:nvPr/>
        </p:nvSpPr>
        <p:spPr>
          <a:xfrm>
            <a:off x="6053342" y="6626365"/>
            <a:ext cx="5880208" cy="41116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✓ isAdmin middleware, nem admin felhasználó blokkolva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A12768-A0DC-CDD3-7E94-DEF2697995CE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8FEDCCB-BC2A-BAB3-72BC-2A46103371B4}"/>
              </a:ext>
            </a:extLst>
          </p:cNvPr>
          <p:cNvSpPr/>
          <p:nvPr/>
        </p:nvSpPr>
        <p:spPr>
          <a:xfrm>
            <a:off x="0" y="0"/>
            <a:ext cx="12191996" cy="861140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CC35BCAB-594C-BD99-1542-1DA220E5E6DC}"/>
              </a:ext>
            </a:extLst>
          </p:cNvPr>
          <p:cNvSpPr/>
          <p:nvPr/>
        </p:nvSpPr>
        <p:spPr>
          <a:xfrm>
            <a:off x="149348" y="-116663"/>
            <a:ext cx="10972800" cy="9753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67" b="1" i="0" u="none" strike="noStrike" kern="1200" cap="none" spc="0" baseline="0" dirty="0" err="1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Nehézségek</a:t>
            </a:r>
            <a:r>
              <a:rPr lang="en-US" sz="3467" b="1" i="0" u="none" strike="noStrike" kern="1200" cap="none" spc="0" baseline="0" dirty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3467" b="1" i="0" u="none" strike="noStrike" kern="1200" cap="none" spc="0" baseline="0" dirty="0" err="1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és</a:t>
            </a:r>
            <a:r>
              <a:rPr lang="en-US" sz="3467" b="1" i="0" u="none" strike="noStrike" kern="1200" cap="none" spc="0" baseline="0" dirty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3467" b="1" i="0" u="none" strike="noStrike" kern="1200" cap="none" spc="0" baseline="0" dirty="0" err="1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megoldások</a:t>
            </a:r>
            <a:endParaRPr lang="en-US" sz="3467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41A115A5-655D-548E-858C-7FB2AC7FF2D1}"/>
              </a:ext>
            </a:extLst>
          </p:cNvPr>
          <p:cNvSpPr/>
          <p:nvPr/>
        </p:nvSpPr>
        <p:spPr>
          <a:xfrm>
            <a:off x="210312" y="902206"/>
            <a:ext cx="11356848" cy="1121668"/>
          </a:xfrm>
          <a:prstGeom prst="rect">
            <a:avLst/>
          </a:prstGeom>
          <a:solidFill>
            <a:srgbClr val="EFF6FF"/>
          </a:solidFill>
          <a:ln w="12701" cap="flat">
            <a:solidFill>
              <a:srgbClr val="1E3A8A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9263BA79-7F95-F492-7E38-BD7A81DFC4D5}"/>
              </a:ext>
            </a:extLst>
          </p:cNvPr>
          <p:cNvSpPr/>
          <p:nvPr/>
        </p:nvSpPr>
        <p:spPr>
          <a:xfrm>
            <a:off x="210312" y="902206"/>
            <a:ext cx="96657" cy="1121668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48BBA89B-A395-A95C-77EF-A88ED6D2BECF}"/>
              </a:ext>
            </a:extLst>
          </p:cNvPr>
          <p:cNvSpPr/>
          <p:nvPr/>
        </p:nvSpPr>
        <p:spPr>
          <a:xfrm>
            <a:off x="454155" y="975357"/>
            <a:ext cx="5074338" cy="42505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67" b="1" i="0" u="none" strike="noStrike" kern="1200" cap="none" spc="0" baseline="0" dirty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⚡ Session + CORS </a:t>
            </a:r>
            <a:r>
              <a:rPr lang="en-US" sz="1667" b="1" i="0" u="none" strike="noStrike" kern="1200" cap="none" spc="0" baseline="0" dirty="0" err="1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probléma</a:t>
            </a:r>
            <a:endParaRPr lang="en-US" sz="1667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8AD5D1F1-42DD-30C0-D7EF-48DE4EDEC288}"/>
              </a:ext>
            </a:extLst>
          </p:cNvPr>
          <p:cNvSpPr/>
          <p:nvPr/>
        </p:nvSpPr>
        <p:spPr>
          <a:xfrm>
            <a:off x="454155" y="1487421"/>
            <a:ext cx="4832699" cy="4486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1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 session sütik nem érkeztek meg cross-origin kéréseknél ngrok teszt közben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4EE05521-828A-DB0C-C185-D3B90271F194}"/>
              </a:ext>
            </a:extLst>
          </p:cNvPr>
          <p:cNvSpPr/>
          <p:nvPr/>
        </p:nvSpPr>
        <p:spPr>
          <a:xfrm>
            <a:off x="5635748" y="1024132"/>
            <a:ext cx="48323" cy="885525"/>
          </a:xfrm>
          <a:prstGeom prst="rect">
            <a:avLst/>
          </a:prstGeom>
          <a:solidFill>
            <a:srgbClr val="CBD5E1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00B056E3-97C3-EAFF-9615-C901CBAD810A}"/>
              </a:ext>
            </a:extLst>
          </p:cNvPr>
          <p:cNvSpPr/>
          <p:nvPr/>
        </p:nvSpPr>
        <p:spPr>
          <a:xfrm>
            <a:off x="5818629" y="975357"/>
            <a:ext cx="1328996" cy="42505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0596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✅ Megoldás: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10C011D7-C0BB-9055-E8CB-1EB7925B2674}"/>
              </a:ext>
            </a:extLst>
          </p:cNvPr>
          <p:cNvSpPr/>
          <p:nvPr/>
        </p:nvSpPr>
        <p:spPr>
          <a:xfrm>
            <a:off x="5818628" y="1438657"/>
            <a:ext cx="5678429" cy="51951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credentials: true + sameSite: lax + CORS origin: true beállítással sikerült megoldani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C2050729-0C40-9962-FB39-EF53CD2F2F90}"/>
              </a:ext>
            </a:extLst>
          </p:cNvPr>
          <p:cNvSpPr/>
          <p:nvPr/>
        </p:nvSpPr>
        <p:spPr>
          <a:xfrm>
            <a:off x="210312" y="2182366"/>
            <a:ext cx="11356848" cy="1121668"/>
          </a:xfrm>
          <a:prstGeom prst="rect">
            <a:avLst/>
          </a:prstGeom>
          <a:solidFill>
            <a:srgbClr val="EFF6FF"/>
          </a:solidFill>
          <a:ln w="12701" cap="flat">
            <a:solidFill>
              <a:srgbClr val="E945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0D15C869-F2A3-2B06-9FC1-08A315396D1C}"/>
              </a:ext>
            </a:extLst>
          </p:cNvPr>
          <p:cNvSpPr/>
          <p:nvPr/>
        </p:nvSpPr>
        <p:spPr>
          <a:xfrm>
            <a:off x="210312" y="2182366"/>
            <a:ext cx="96657" cy="1121668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593AA3A9-24B2-F9BD-9D7A-CDCE3CFEA9AB}"/>
              </a:ext>
            </a:extLst>
          </p:cNvPr>
          <p:cNvSpPr/>
          <p:nvPr/>
        </p:nvSpPr>
        <p:spPr>
          <a:xfrm>
            <a:off x="454155" y="2255517"/>
            <a:ext cx="5074338" cy="42505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67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⚡ Képfeltöltés kódolási hiba</a:t>
            </a:r>
            <a:endParaRPr lang="en-US" sz="16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B5DEFF51-92E5-1E62-7F60-CD38FA53FFC8}"/>
              </a:ext>
            </a:extLst>
          </p:cNvPr>
          <p:cNvSpPr/>
          <p:nvPr/>
        </p:nvSpPr>
        <p:spPr>
          <a:xfrm>
            <a:off x="454155" y="2767581"/>
            <a:ext cx="4832699" cy="4486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1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Magyar ékezetes karakterek a fájlnevekben megrontották az elérési utat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203EAA20-AA12-7826-9053-BA2F79F849AC}"/>
              </a:ext>
            </a:extLst>
          </p:cNvPr>
          <p:cNvSpPr/>
          <p:nvPr/>
        </p:nvSpPr>
        <p:spPr>
          <a:xfrm>
            <a:off x="5635748" y="2304292"/>
            <a:ext cx="48323" cy="885525"/>
          </a:xfrm>
          <a:prstGeom prst="rect">
            <a:avLst/>
          </a:prstGeom>
          <a:solidFill>
            <a:srgbClr val="CBD5E1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327C51F1-0EC6-BF8E-D062-9E7D8B47823C}"/>
              </a:ext>
            </a:extLst>
          </p:cNvPr>
          <p:cNvSpPr/>
          <p:nvPr/>
        </p:nvSpPr>
        <p:spPr>
          <a:xfrm>
            <a:off x="5818629" y="2255517"/>
            <a:ext cx="1328996" cy="42505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0596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✅ Megoldás: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771CF458-D7E4-DC78-B764-61BF06E5B93E}"/>
              </a:ext>
            </a:extLst>
          </p:cNvPr>
          <p:cNvSpPr/>
          <p:nvPr/>
        </p:nvSpPr>
        <p:spPr>
          <a:xfrm>
            <a:off x="5818628" y="2718817"/>
            <a:ext cx="5678429" cy="51951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multer filename callback-ben Date.now() prefix és az eredeti névre támaszkodás helyett egyedi névgenerálás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70815EA2-1273-02B7-82D7-CF984AED043F}"/>
              </a:ext>
            </a:extLst>
          </p:cNvPr>
          <p:cNvSpPr/>
          <p:nvPr/>
        </p:nvSpPr>
        <p:spPr>
          <a:xfrm>
            <a:off x="210312" y="3462526"/>
            <a:ext cx="11356848" cy="1121668"/>
          </a:xfrm>
          <a:prstGeom prst="rect">
            <a:avLst/>
          </a:prstGeom>
          <a:solidFill>
            <a:srgbClr val="EFF6FF"/>
          </a:solidFill>
          <a:ln w="12701" cap="flat">
            <a:solidFill>
              <a:srgbClr val="1E3A8A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132FA023-175B-2923-432E-55C86114DDA3}"/>
              </a:ext>
            </a:extLst>
          </p:cNvPr>
          <p:cNvSpPr/>
          <p:nvPr/>
        </p:nvSpPr>
        <p:spPr>
          <a:xfrm>
            <a:off x="210312" y="3462526"/>
            <a:ext cx="96657" cy="1121668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352CF98F-1BEC-F3E6-CE63-433E5EB5067E}"/>
              </a:ext>
            </a:extLst>
          </p:cNvPr>
          <p:cNvSpPr/>
          <p:nvPr/>
        </p:nvSpPr>
        <p:spPr>
          <a:xfrm>
            <a:off x="454155" y="3535677"/>
            <a:ext cx="5074338" cy="42505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67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⚡ Email küldési megbízhatóság</a:t>
            </a:r>
            <a:endParaRPr lang="en-US" sz="16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9C12B276-3003-51AC-E4B9-526E75AF25DB}"/>
              </a:ext>
            </a:extLst>
          </p:cNvPr>
          <p:cNvSpPr/>
          <p:nvPr/>
        </p:nvSpPr>
        <p:spPr>
          <a:xfrm>
            <a:off x="454155" y="4047741"/>
            <a:ext cx="4832699" cy="4486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1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Gmail SMTP 2FA és "kevésbé biztonságos alkalmazás" blokkolás problémák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3" name="Shape 24">
            <a:extLst>
              <a:ext uri="{FF2B5EF4-FFF2-40B4-BE49-F238E27FC236}">
                <a16:creationId xmlns:a16="http://schemas.microsoft.com/office/drawing/2014/main" id="{1CF6F0AF-6827-64FB-658C-31A48692203A}"/>
              </a:ext>
            </a:extLst>
          </p:cNvPr>
          <p:cNvSpPr/>
          <p:nvPr/>
        </p:nvSpPr>
        <p:spPr>
          <a:xfrm>
            <a:off x="5635748" y="3584452"/>
            <a:ext cx="48323" cy="885525"/>
          </a:xfrm>
          <a:prstGeom prst="rect">
            <a:avLst/>
          </a:prstGeom>
          <a:solidFill>
            <a:srgbClr val="CBD5E1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CDA9287E-B1F8-51DF-BEA7-C5528E9C8801}"/>
              </a:ext>
            </a:extLst>
          </p:cNvPr>
          <p:cNvSpPr/>
          <p:nvPr/>
        </p:nvSpPr>
        <p:spPr>
          <a:xfrm>
            <a:off x="5818629" y="3535677"/>
            <a:ext cx="1328996" cy="42505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0596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✅ Megoldás: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C9E18888-73A4-C7F9-A861-4C2E1B9BEE0E}"/>
              </a:ext>
            </a:extLst>
          </p:cNvPr>
          <p:cNvSpPr/>
          <p:nvPr/>
        </p:nvSpPr>
        <p:spPr>
          <a:xfrm>
            <a:off x="5818628" y="3998977"/>
            <a:ext cx="5678429" cy="51951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App Password használata, SMTP verify() induláskor, hibakezelés try/catch blokkokkal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6" name="Shape 27">
            <a:extLst>
              <a:ext uri="{FF2B5EF4-FFF2-40B4-BE49-F238E27FC236}">
                <a16:creationId xmlns:a16="http://schemas.microsoft.com/office/drawing/2014/main" id="{14B93B20-B66F-840C-317E-7800B94D91CD}"/>
              </a:ext>
            </a:extLst>
          </p:cNvPr>
          <p:cNvSpPr/>
          <p:nvPr/>
        </p:nvSpPr>
        <p:spPr>
          <a:xfrm>
            <a:off x="210312" y="4742686"/>
            <a:ext cx="11356848" cy="1121668"/>
          </a:xfrm>
          <a:prstGeom prst="rect">
            <a:avLst/>
          </a:prstGeom>
          <a:solidFill>
            <a:srgbClr val="EFF6FF"/>
          </a:solidFill>
          <a:ln w="12701" cap="flat">
            <a:solidFill>
              <a:srgbClr val="E945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7" name="Shape 28">
            <a:extLst>
              <a:ext uri="{FF2B5EF4-FFF2-40B4-BE49-F238E27FC236}">
                <a16:creationId xmlns:a16="http://schemas.microsoft.com/office/drawing/2014/main" id="{72D6D5C1-4350-16A9-0A41-4A1B3F1BA116}"/>
              </a:ext>
            </a:extLst>
          </p:cNvPr>
          <p:cNvSpPr/>
          <p:nvPr/>
        </p:nvSpPr>
        <p:spPr>
          <a:xfrm>
            <a:off x="210312" y="4742686"/>
            <a:ext cx="96657" cy="1121668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CCA66949-24CA-0370-2FA5-C98DBD892E38}"/>
              </a:ext>
            </a:extLst>
          </p:cNvPr>
          <p:cNvSpPr/>
          <p:nvPr/>
        </p:nvSpPr>
        <p:spPr>
          <a:xfrm>
            <a:off x="454155" y="4815837"/>
            <a:ext cx="5074338" cy="42505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67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⚡ Admin jogosultság szétválasztás</a:t>
            </a:r>
            <a:endParaRPr lang="en-US" sz="16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CD2333A7-E827-4D18-2031-1860BF257F73}"/>
              </a:ext>
            </a:extLst>
          </p:cNvPr>
          <p:cNvSpPr/>
          <p:nvPr/>
        </p:nvSpPr>
        <p:spPr>
          <a:xfrm>
            <a:off x="454155" y="5327901"/>
            <a:ext cx="4832699" cy="4486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1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Hogyan védjük meg az admin végpontokat, hogy csak az admin érhesse el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0" name="Shape 31">
            <a:extLst>
              <a:ext uri="{FF2B5EF4-FFF2-40B4-BE49-F238E27FC236}">
                <a16:creationId xmlns:a16="http://schemas.microsoft.com/office/drawing/2014/main" id="{1FCE3614-D64D-D2D7-28A9-F53E7D3B1F7B}"/>
              </a:ext>
            </a:extLst>
          </p:cNvPr>
          <p:cNvSpPr/>
          <p:nvPr/>
        </p:nvSpPr>
        <p:spPr>
          <a:xfrm>
            <a:off x="5635748" y="4864612"/>
            <a:ext cx="48323" cy="885525"/>
          </a:xfrm>
          <a:prstGeom prst="rect">
            <a:avLst/>
          </a:prstGeom>
          <a:solidFill>
            <a:srgbClr val="CBD5E1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501ACB3A-AB69-56E9-2FAA-2B7097C14C42}"/>
              </a:ext>
            </a:extLst>
          </p:cNvPr>
          <p:cNvSpPr/>
          <p:nvPr/>
        </p:nvSpPr>
        <p:spPr>
          <a:xfrm>
            <a:off x="5818629" y="4815837"/>
            <a:ext cx="1328996" cy="42505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0596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✅ Megoldás: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2" name="Text 33">
            <a:extLst>
              <a:ext uri="{FF2B5EF4-FFF2-40B4-BE49-F238E27FC236}">
                <a16:creationId xmlns:a16="http://schemas.microsoft.com/office/drawing/2014/main" id="{F82C92D9-D9A8-5C9E-A37F-DA535F8BAC9D}"/>
              </a:ext>
            </a:extLst>
          </p:cNvPr>
          <p:cNvSpPr/>
          <p:nvPr/>
        </p:nvSpPr>
        <p:spPr>
          <a:xfrm>
            <a:off x="5818628" y="5279137"/>
            <a:ext cx="5678429" cy="51951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isAdmin() middleware bevezetése és alkalmazása minden /admin/* route-on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3" name="Shape 34">
            <a:extLst>
              <a:ext uri="{FF2B5EF4-FFF2-40B4-BE49-F238E27FC236}">
                <a16:creationId xmlns:a16="http://schemas.microsoft.com/office/drawing/2014/main" id="{9A17345B-FC5B-BB2D-DA64-AAFD8E9DE274}"/>
              </a:ext>
            </a:extLst>
          </p:cNvPr>
          <p:cNvSpPr/>
          <p:nvPr/>
        </p:nvSpPr>
        <p:spPr>
          <a:xfrm>
            <a:off x="210312" y="6022846"/>
            <a:ext cx="11356848" cy="1121668"/>
          </a:xfrm>
          <a:prstGeom prst="rect">
            <a:avLst/>
          </a:prstGeom>
          <a:solidFill>
            <a:srgbClr val="EFF6FF"/>
          </a:solidFill>
          <a:ln w="12701" cap="flat">
            <a:solidFill>
              <a:srgbClr val="1E3A8A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4" name="Shape 35">
            <a:extLst>
              <a:ext uri="{FF2B5EF4-FFF2-40B4-BE49-F238E27FC236}">
                <a16:creationId xmlns:a16="http://schemas.microsoft.com/office/drawing/2014/main" id="{E3776ADC-3251-28D7-7F76-BCB5FA1C3625}"/>
              </a:ext>
            </a:extLst>
          </p:cNvPr>
          <p:cNvSpPr/>
          <p:nvPr/>
        </p:nvSpPr>
        <p:spPr>
          <a:xfrm>
            <a:off x="210312" y="6022846"/>
            <a:ext cx="96657" cy="1121668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5" name="Text 36">
            <a:extLst>
              <a:ext uri="{FF2B5EF4-FFF2-40B4-BE49-F238E27FC236}">
                <a16:creationId xmlns:a16="http://schemas.microsoft.com/office/drawing/2014/main" id="{0BFDFE0F-E874-B220-3B9B-66E4DF5AB41E}"/>
              </a:ext>
            </a:extLst>
          </p:cNvPr>
          <p:cNvSpPr/>
          <p:nvPr/>
        </p:nvSpPr>
        <p:spPr>
          <a:xfrm>
            <a:off x="454155" y="6095997"/>
            <a:ext cx="5074338" cy="42505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67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⚡ Adatbázis migration</a:t>
            </a:r>
            <a:endParaRPr lang="en-US" sz="16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6" name="Text 37">
            <a:extLst>
              <a:ext uri="{FF2B5EF4-FFF2-40B4-BE49-F238E27FC236}">
                <a16:creationId xmlns:a16="http://schemas.microsoft.com/office/drawing/2014/main" id="{087486BC-D945-612F-8F41-D3134D8D99F2}"/>
              </a:ext>
            </a:extLst>
          </p:cNvPr>
          <p:cNvSpPr/>
          <p:nvPr/>
        </p:nvSpPr>
        <p:spPr>
          <a:xfrm>
            <a:off x="454155" y="6608061"/>
            <a:ext cx="4832699" cy="44866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1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Az elerheto oszlop utólag kellett a kutyak táblához a kész adatbázisba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7" name="Shape 38">
            <a:extLst>
              <a:ext uri="{FF2B5EF4-FFF2-40B4-BE49-F238E27FC236}">
                <a16:creationId xmlns:a16="http://schemas.microsoft.com/office/drawing/2014/main" id="{B32A837B-0964-07BF-BD54-BDD3044D4A22}"/>
              </a:ext>
            </a:extLst>
          </p:cNvPr>
          <p:cNvSpPr/>
          <p:nvPr/>
        </p:nvSpPr>
        <p:spPr>
          <a:xfrm>
            <a:off x="5635748" y="6144772"/>
            <a:ext cx="48323" cy="885525"/>
          </a:xfrm>
          <a:prstGeom prst="rect">
            <a:avLst/>
          </a:prstGeom>
          <a:solidFill>
            <a:srgbClr val="CBD5E1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8A3C3794-042D-D2B1-EC90-2D8411D93589}"/>
              </a:ext>
            </a:extLst>
          </p:cNvPr>
          <p:cNvSpPr/>
          <p:nvPr/>
        </p:nvSpPr>
        <p:spPr>
          <a:xfrm>
            <a:off x="5818629" y="6095997"/>
            <a:ext cx="1328996" cy="42505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67" b="1" i="0" u="none" strike="noStrike" kern="1200" cap="none" spc="0" baseline="0">
                <a:solidFill>
                  <a:srgbClr val="059669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✅ Megoldás:</a:t>
            </a:r>
            <a:endParaRPr lang="en-US" sz="1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9" name="Text 40">
            <a:extLst>
              <a:ext uri="{FF2B5EF4-FFF2-40B4-BE49-F238E27FC236}">
                <a16:creationId xmlns:a16="http://schemas.microsoft.com/office/drawing/2014/main" id="{AE4682FD-B7B1-5776-910F-724F581AA4D4}"/>
              </a:ext>
            </a:extLst>
          </p:cNvPr>
          <p:cNvSpPr/>
          <p:nvPr/>
        </p:nvSpPr>
        <p:spPr>
          <a:xfrm>
            <a:off x="5818628" y="6559297"/>
            <a:ext cx="5678429" cy="51951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ALTER TABLE futtatás induláskor, ER_DUP_FIELDNAME hibát figyelmen kívül hagyva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AC38CD-831B-AE34-F80B-8EA0E11CFB61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07C99D7-EB37-4B5D-6E6E-3F22DFDE8ADA}"/>
              </a:ext>
            </a:extLst>
          </p:cNvPr>
          <p:cNvSpPr/>
          <p:nvPr/>
        </p:nvSpPr>
        <p:spPr>
          <a:xfrm>
            <a:off x="0" y="1"/>
            <a:ext cx="12191996" cy="847348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F6E49D3F-941C-96F1-8447-6C39401E7560}"/>
              </a:ext>
            </a:extLst>
          </p:cNvPr>
          <p:cNvSpPr/>
          <p:nvPr/>
        </p:nvSpPr>
        <p:spPr>
          <a:xfrm>
            <a:off x="292608" y="0"/>
            <a:ext cx="10972800" cy="9753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67" b="1" i="0" u="none" strike="noStrike" kern="1200" cap="none" spc="0" baseline="0" dirty="0" err="1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Jövőbeli</a:t>
            </a:r>
            <a:r>
              <a:rPr lang="en-US" sz="3467" b="1" i="0" u="none" strike="noStrike" kern="1200" cap="none" spc="0" baseline="0" dirty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3467" b="1" i="0" u="none" strike="noStrike" kern="1200" cap="none" spc="0" baseline="0" dirty="0" err="1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fejlesztési</a:t>
            </a:r>
            <a:r>
              <a:rPr lang="en-US" sz="3467" b="1" i="0" u="none" strike="noStrike" kern="1200" cap="none" spc="0" baseline="0" dirty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 </a:t>
            </a:r>
            <a:r>
              <a:rPr lang="en-US" sz="3467" b="1" i="0" u="none" strike="noStrike" kern="1200" cap="none" spc="0" baseline="0" dirty="0" err="1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lehetőségek</a:t>
            </a:r>
            <a:endParaRPr lang="en-US" sz="3467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08432654-5A51-E929-8055-A92DDD9D0605}"/>
              </a:ext>
            </a:extLst>
          </p:cNvPr>
          <p:cNvSpPr/>
          <p:nvPr/>
        </p:nvSpPr>
        <p:spPr>
          <a:xfrm>
            <a:off x="100584" y="883924"/>
            <a:ext cx="3742940" cy="2865116"/>
          </a:xfrm>
          <a:prstGeom prst="rect">
            <a:avLst/>
          </a:prstGeom>
          <a:solidFill>
            <a:srgbClr val="EFF6FF"/>
          </a:solidFill>
          <a:ln w="19046" cap="flat">
            <a:solidFill>
              <a:srgbClr val="E945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2396A0A4-E3F8-294E-F081-E00B24C09F58}"/>
              </a:ext>
            </a:extLst>
          </p:cNvPr>
          <p:cNvSpPr/>
          <p:nvPr/>
        </p:nvSpPr>
        <p:spPr>
          <a:xfrm>
            <a:off x="100584" y="1005841"/>
            <a:ext cx="3742940" cy="6705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📱</a:t>
            </a: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5A98E801-F892-D65E-B41F-F92CBE718C6F}"/>
              </a:ext>
            </a:extLst>
          </p:cNvPr>
          <p:cNvSpPr/>
          <p:nvPr/>
        </p:nvSpPr>
        <p:spPr>
          <a:xfrm>
            <a:off x="222500" y="1712973"/>
            <a:ext cx="3499107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Mobil alkalmazás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DDBDAF2A-FD1F-B8BC-5139-3DB35FFBFE46}"/>
              </a:ext>
            </a:extLst>
          </p:cNvPr>
          <p:cNvSpPr/>
          <p:nvPr/>
        </p:nvSpPr>
        <p:spPr>
          <a:xfrm>
            <a:off x="222500" y="2249425"/>
            <a:ext cx="3499107" cy="103631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React Native alapú iOS/Android alkalmazás fejlesztése az örökbefogadók számára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3847AA0D-0861-BC25-3C8D-4476781A4F36}"/>
              </a:ext>
            </a:extLst>
          </p:cNvPr>
          <p:cNvSpPr/>
          <p:nvPr/>
        </p:nvSpPr>
        <p:spPr>
          <a:xfrm>
            <a:off x="832104" y="3322317"/>
            <a:ext cx="2279900" cy="316995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74E9F6D3-CDD1-F36C-A917-F7981D1D69FF}"/>
              </a:ext>
            </a:extLst>
          </p:cNvPr>
          <p:cNvSpPr/>
          <p:nvPr/>
        </p:nvSpPr>
        <p:spPr>
          <a:xfrm>
            <a:off x="832104" y="3322317"/>
            <a:ext cx="2279900" cy="31699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Magas prioritás</a:t>
            </a:r>
            <a:endParaRPr lang="en-US" sz="12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C56A5055-3848-27B4-23AC-25F6C828F002}"/>
              </a:ext>
            </a:extLst>
          </p:cNvPr>
          <p:cNvSpPr/>
          <p:nvPr/>
        </p:nvSpPr>
        <p:spPr>
          <a:xfrm>
            <a:off x="4087368" y="883924"/>
            <a:ext cx="3742940" cy="2865116"/>
          </a:xfrm>
          <a:prstGeom prst="rect">
            <a:avLst/>
          </a:prstGeom>
          <a:solidFill>
            <a:srgbClr val="EFF6FF"/>
          </a:solidFill>
          <a:ln w="19046" cap="flat">
            <a:solidFill>
              <a:srgbClr val="E945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6C0F31DF-3329-D956-2602-88F082805746}"/>
              </a:ext>
            </a:extLst>
          </p:cNvPr>
          <p:cNvSpPr/>
          <p:nvPr/>
        </p:nvSpPr>
        <p:spPr>
          <a:xfrm>
            <a:off x="4087368" y="1005841"/>
            <a:ext cx="3742940" cy="6705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💳</a:t>
            </a:r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102485BC-AE78-31DA-D3C9-9BF7BC1CD342}"/>
              </a:ext>
            </a:extLst>
          </p:cNvPr>
          <p:cNvSpPr/>
          <p:nvPr/>
        </p:nvSpPr>
        <p:spPr>
          <a:xfrm>
            <a:off x="4209284" y="1712973"/>
            <a:ext cx="3499107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Online adományozás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B0C78FC9-FD4D-C379-E901-9A856B681116}"/>
              </a:ext>
            </a:extLst>
          </p:cNvPr>
          <p:cNvSpPr/>
          <p:nvPr/>
        </p:nvSpPr>
        <p:spPr>
          <a:xfrm>
            <a:off x="4209284" y="2249425"/>
            <a:ext cx="3499107" cy="103631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Stripe fizetési integráció, rendszeres adomány lehetőség, nyugtaküldés emailen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540E437D-6C17-903E-C2C8-7CCECA1E2DA6}"/>
              </a:ext>
            </a:extLst>
          </p:cNvPr>
          <p:cNvSpPr/>
          <p:nvPr/>
        </p:nvSpPr>
        <p:spPr>
          <a:xfrm>
            <a:off x="4818888" y="3322317"/>
            <a:ext cx="2279900" cy="316995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8F3E8BD0-9A92-C2C8-76BF-A7A3D979BDCB}"/>
              </a:ext>
            </a:extLst>
          </p:cNvPr>
          <p:cNvSpPr/>
          <p:nvPr/>
        </p:nvSpPr>
        <p:spPr>
          <a:xfrm>
            <a:off x="4818888" y="3322317"/>
            <a:ext cx="2279900" cy="31699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Magas prioritás</a:t>
            </a:r>
            <a:endParaRPr lang="en-US" sz="12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529C7764-AFCC-1258-47C1-ACEDF952A37A}"/>
              </a:ext>
            </a:extLst>
          </p:cNvPr>
          <p:cNvSpPr/>
          <p:nvPr/>
        </p:nvSpPr>
        <p:spPr>
          <a:xfrm>
            <a:off x="8074151" y="883924"/>
            <a:ext cx="3742940" cy="2865116"/>
          </a:xfrm>
          <a:prstGeom prst="rect">
            <a:avLst/>
          </a:prstGeom>
          <a:solidFill>
            <a:srgbClr val="EFF6FF"/>
          </a:solidFill>
          <a:ln w="19046" cap="flat">
            <a:solidFill>
              <a:srgbClr val="F59E0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B17DEFF9-F3F3-D816-B45D-7725818C29B7}"/>
              </a:ext>
            </a:extLst>
          </p:cNvPr>
          <p:cNvSpPr/>
          <p:nvPr/>
        </p:nvSpPr>
        <p:spPr>
          <a:xfrm>
            <a:off x="8074151" y="1005841"/>
            <a:ext cx="3742940" cy="6705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🔔</a:t>
            </a: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65C68AA7-1D54-7872-0EEA-65CFD208F99E}"/>
              </a:ext>
            </a:extLst>
          </p:cNvPr>
          <p:cNvSpPr/>
          <p:nvPr/>
        </p:nvSpPr>
        <p:spPr>
          <a:xfrm>
            <a:off x="8196068" y="1712973"/>
            <a:ext cx="3499107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Push értesítések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A436C053-C6E8-5DE7-4312-BA5DCA13E2E4}"/>
              </a:ext>
            </a:extLst>
          </p:cNvPr>
          <p:cNvSpPr/>
          <p:nvPr/>
        </p:nvSpPr>
        <p:spPr>
          <a:xfrm>
            <a:off x="8196068" y="2249425"/>
            <a:ext cx="3499107" cy="103631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Új kutya érkezésekor, kérelem állapotváltozásakor automatikus értesítés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5D90004E-43E0-4580-6FCB-F9C4D60D96FF}"/>
              </a:ext>
            </a:extLst>
          </p:cNvPr>
          <p:cNvSpPr/>
          <p:nvPr/>
        </p:nvSpPr>
        <p:spPr>
          <a:xfrm>
            <a:off x="8805672" y="3322317"/>
            <a:ext cx="2279900" cy="316995"/>
          </a:xfrm>
          <a:prstGeom prst="rect">
            <a:avLst/>
          </a:prstGeom>
          <a:solidFill>
            <a:srgbClr val="F59E0B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81A8CD2F-58EC-708A-63B7-5D7823F0543F}"/>
              </a:ext>
            </a:extLst>
          </p:cNvPr>
          <p:cNvSpPr/>
          <p:nvPr/>
        </p:nvSpPr>
        <p:spPr>
          <a:xfrm>
            <a:off x="8805672" y="3322317"/>
            <a:ext cx="2279900" cy="31699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Közepes prioritás</a:t>
            </a:r>
            <a:endParaRPr lang="en-US" sz="12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3" name="Shape 24">
            <a:extLst>
              <a:ext uri="{FF2B5EF4-FFF2-40B4-BE49-F238E27FC236}">
                <a16:creationId xmlns:a16="http://schemas.microsoft.com/office/drawing/2014/main" id="{07216793-21C1-3307-CEE4-605B1CB78AE9}"/>
              </a:ext>
            </a:extLst>
          </p:cNvPr>
          <p:cNvSpPr/>
          <p:nvPr/>
        </p:nvSpPr>
        <p:spPr>
          <a:xfrm>
            <a:off x="100584" y="3992884"/>
            <a:ext cx="3742940" cy="2865116"/>
          </a:xfrm>
          <a:prstGeom prst="rect">
            <a:avLst/>
          </a:prstGeom>
          <a:solidFill>
            <a:srgbClr val="EFF6FF"/>
          </a:solidFill>
          <a:ln w="19046" cap="flat">
            <a:solidFill>
              <a:srgbClr val="F59E0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197188DE-00BA-DC13-7B7C-8D59DD01B8E7}"/>
              </a:ext>
            </a:extLst>
          </p:cNvPr>
          <p:cNvSpPr/>
          <p:nvPr/>
        </p:nvSpPr>
        <p:spPr>
          <a:xfrm>
            <a:off x="100584" y="4114801"/>
            <a:ext cx="3742940" cy="6705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📊</a:t>
            </a:r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E10D5408-0CCE-498D-6455-ED5C52D7926B}"/>
              </a:ext>
            </a:extLst>
          </p:cNvPr>
          <p:cNvSpPr/>
          <p:nvPr/>
        </p:nvSpPr>
        <p:spPr>
          <a:xfrm>
            <a:off x="222500" y="4821933"/>
            <a:ext cx="3499107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Admin dashboard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A77B8D80-C75C-179B-BF51-39491E046E66}"/>
              </a:ext>
            </a:extLst>
          </p:cNvPr>
          <p:cNvSpPr/>
          <p:nvPr/>
        </p:nvSpPr>
        <p:spPr>
          <a:xfrm>
            <a:off x="222500" y="5358385"/>
            <a:ext cx="3499107" cy="103631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Statisztikák, grafikon az örökbefogadásokról, kutyák számáról, kérelmekről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7" name="Shape 28">
            <a:extLst>
              <a:ext uri="{FF2B5EF4-FFF2-40B4-BE49-F238E27FC236}">
                <a16:creationId xmlns:a16="http://schemas.microsoft.com/office/drawing/2014/main" id="{3787A104-A039-B7A5-5FB4-DAE73E7C9443}"/>
              </a:ext>
            </a:extLst>
          </p:cNvPr>
          <p:cNvSpPr/>
          <p:nvPr/>
        </p:nvSpPr>
        <p:spPr>
          <a:xfrm>
            <a:off x="832104" y="6431277"/>
            <a:ext cx="2279900" cy="316995"/>
          </a:xfrm>
          <a:prstGeom prst="rect">
            <a:avLst/>
          </a:prstGeom>
          <a:solidFill>
            <a:srgbClr val="F59E0B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1C6712EF-5CF0-67D7-5DF7-3457B32A38C1}"/>
              </a:ext>
            </a:extLst>
          </p:cNvPr>
          <p:cNvSpPr/>
          <p:nvPr/>
        </p:nvSpPr>
        <p:spPr>
          <a:xfrm>
            <a:off x="832104" y="6431277"/>
            <a:ext cx="2279900" cy="31699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Közepes prioritás</a:t>
            </a:r>
            <a:endParaRPr lang="en-US" sz="12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9" name="Shape 30">
            <a:extLst>
              <a:ext uri="{FF2B5EF4-FFF2-40B4-BE49-F238E27FC236}">
                <a16:creationId xmlns:a16="http://schemas.microsoft.com/office/drawing/2014/main" id="{F41C62F3-C7C4-AEC6-5C0B-2DAF1539C53F}"/>
              </a:ext>
            </a:extLst>
          </p:cNvPr>
          <p:cNvSpPr/>
          <p:nvPr/>
        </p:nvSpPr>
        <p:spPr>
          <a:xfrm>
            <a:off x="4087368" y="3992884"/>
            <a:ext cx="3742940" cy="2865116"/>
          </a:xfrm>
          <a:prstGeom prst="rect">
            <a:avLst/>
          </a:prstGeom>
          <a:solidFill>
            <a:srgbClr val="EFF6FF"/>
          </a:solidFill>
          <a:ln w="19046" cap="flat">
            <a:solidFill>
              <a:srgbClr val="05966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0" name="Text 31">
            <a:extLst>
              <a:ext uri="{FF2B5EF4-FFF2-40B4-BE49-F238E27FC236}">
                <a16:creationId xmlns:a16="http://schemas.microsoft.com/office/drawing/2014/main" id="{F388112D-37AA-D814-47D7-3A8BE6D507ED}"/>
              </a:ext>
            </a:extLst>
          </p:cNvPr>
          <p:cNvSpPr/>
          <p:nvPr/>
        </p:nvSpPr>
        <p:spPr>
          <a:xfrm>
            <a:off x="4087368" y="4114801"/>
            <a:ext cx="3742940" cy="6705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🤖</a:t>
            </a:r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756F643A-EDFF-6973-7E69-7DBA794ED99C}"/>
              </a:ext>
            </a:extLst>
          </p:cNvPr>
          <p:cNvSpPr/>
          <p:nvPr/>
        </p:nvSpPr>
        <p:spPr>
          <a:xfrm>
            <a:off x="4209284" y="4821933"/>
            <a:ext cx="3499107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AI kutya ajánló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2" name="Text 33">
            <a:extLst>
              <a:ext uri="{FF2B5EF4-FFF2-40B4-BE49-F238E27FC236}">
                <a16:creationId xmlns:a16="http://schemas.microsoft.com/office/drawing/2014/main" id="{B0DC986E-ABED-8747-242C-1C5D2324A3A4}"/>
              </a:ext>
            </a:extLst>
          </p:cNvPr>
          <p:cNvSpPr/>
          <p:nvPr/>
        </p:nvSpPr>
        <p:spPr>
          <a:xfrm>
            <a:off x="4209284" y="5358385"/>
            <a:ext cx="3499107" cy="103631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Életmód alapján matching algoritmus: melyik kutya illik legjobban hozzád?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3" name="Shape 34">
            <a:extLst>
              <a:ext uri="{FF2B5EF4-FFF2-40B4-BE49-F238E27FC236}">
                <a16:creationId xmlns:a16="http://schemas.microsoft.com/office/drawing/2014/main" id="{3E5DFEB1-D47C-A2E8-29B4-7D688148C0D3}"/>
              </a:ext>
            </a:extLst>
          </p:cNvPr>
          <p:cNvSpPr/>
          <p:nvPr/>
        </p:nvSpPr>
        <p:spPr>
          <a:xfrm>
            <a:off x="4818888" y="6431277"/>
            <a:ext cx="2279900" cy="316995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4" name="Text 35">
            <a:extLst>
              <a:ext uri="{FF2B5EF4-FFF2-40B4-BE49-F238E27FC236}">
                <a16:creationId xmlns:a16="http://schemas.microsoft.com/office/drawing/2014/main" id="{6003E802-33A2-5FA1-7882-A4BC6C9D1FB2}"/>
              </a:ext>
            </a:extLst>
          </p:cNvPr>
          <p:cNvSpPr/>
          <p:nvPr/>
        </p:nvSpPr>
        <p:spPr>
          <a:xfrm>
            <a:off x="4818888" y="6431277"/>
            <a:ext cx="2279900" cy="31699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Alacsony prioritás</a:t>
            </a:r>
            <a:endParaRPr lang="en-US" sz="12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5" name="Shape 36">
            <a:extLst>
              <a:ext uri="{FF2B5EF4-FFF2-40B4-BE49-F238E27FC236}">
                <a16:creationId xmlns:a16="http://schemas.microsoft.com/office/drawing/2014/main" id="{1FE32B28-BF21-A605-BCC0-5392BCBD868A}"/>
              </a:ext>
            </a:extLst>
          </p:cNvPr>
          <p:cNvSpPr/>
          <p:nvPr/>
        </p:nvSpPr>
        <p:spPr>
          <a:xfrm>
            <a:off x="8074151" y="3992884"/>
            <a:ext cx="3742940" cy="2865116"/>
          </a:xfrm>
          <a:prstGeom prst="rect">
            <a:avLst/>
          </a:prstGeom>
          <a:solidFill>
            <a:srgbClr val="EFF6FF"/>
          </a:solidFill>
          <a:ln w="19046" cap="flat">
            <a:solidFill>
              <a:srgbClr val="05966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6" name="Text 37">
            <a:extLst>
              <a:ext uri="{FF2B5EF4-FFF2-40B4-BE49-F238E27FC236}">
                <a16:creationId xmlns:a16="http://schemas.microsoft.com/office/drawing/2014/main" id="{70361241-4CA7-7AEE-5F18-F6A5E45378E6}"/>
              </a:ext>
            </a:extLst>
          </p:cNvPr>
          <p:cNvSpPr/>
          <p:nvPr/>
        </p:nvSpPr>
        <p:spPr>
          <a:xfrm>
            <a:off x="8074151" y="4114801"/>
            <a:ext cx="3742940" cy="6705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🌍</a:t>
            </a:r>
          </a:p>
        </p:txBody>
      </p:sp>
      <p:sp>
        <p:nvSpPr>
          <p:cNvPr id="37" name="Text 38">
            <a:extLst>
              <a:ext uri="{FF2B5EF4-FFF2-40B4-BE49-F238E27FC236}">
                <a16:creationId xmlns:a16="http://schemas.microsoft.com/office/drawing/2014/main" id="{5F7FA737-5E0B-BE25-99CC-CC20F62D370E}"/>
              </a:ext>
            </a:extLst>
          </p:cNvPr>
          <p:cNvSpPr/>
          <p:nvPr/>
        </p:nvSpPr>
        <p:spPr>
          <a:xfrm>
            <a:off x="8196068" y="4821933"/>
            <a:ext cx="3499107" cy="5120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Többnyelvűség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B9879F87-939C-0445-A12A-94CD1851687A}"/>
              </a:ext>
            </a:extLst>
          </p:cNvPr>
          <p:cNvSpPr/>
          <p:nvPr/>
        </p:nvSpPr>
        <p:spPr>
          <a:xfrm>
            <a:off x="8196068" y="5358385"/>
            <a:ext cx="3499107" cy="103631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64748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Angol és más nyelvre fordítás i18n könyvtárral, szélesebb közönség elérése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9" name="Shape 40">
            <a:extLst>
              <a:ext uri="{FF2B5EF4-FFF2-40B4-BE49-F238E27FC236}">
                <a16:creationId xmlns:a16="http://schemas.microsoft.com/office/drawing/2014/main" id="{7B009E77-868B-54FB-6B0F-B298D1B2E7C2}"/>
              </a:ext>
            </a:extLst>
          </p:cNvPr>
          <p:cNvSpPr/>
          <p:nvPr/>
        </p:nvSpPr>
        <p:spPr>
          <a:xfrm>
            <a:off x="8805672" y="6431277"/>
            <a:ext cx="2279900" cy="316995"/>
          </a:xfrm>
          <a:prstGeom prst="rect">
            <a:avLst/>
          </a:prstGeom>
          <a:solidFill>
            <a:srgbClr val="05966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0" name="Text 41">
            <a:extLst>
              <a:ext uri="{FF2B5EF4-FFF2-40B4-BE49-F238E27FC236}">
                <a16:creationId xmlns:a16="http://schemas.microsoft.com/office/drawing/2014/main" id="{F5F886ED-894D-6676-E5B5-61D7F897EEE5}"/>
              </a:ext>
            </a:extLst>
          </p:cNvPr>
          <p:cNvSpPr/>
          <p:nvPr/>
        </p:nvSpPr>
        <p:spPr>
          <a:xfrm>
            <a:off x="8805672" y="6431277"/>
            <a:ext cx="2279900" cy="31699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Alacsony prioritás</a:t>
            </a:r>
            <a:endParaRPr lang="en-US" sz="12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23155A0-97E0-B919-A681-DB4894B8132A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D23FE10-B852-172B-5461-9CC1D118A751}"/>
              </a:ext>
            </a:extLst>
          </p:cNvPr>
          <p:cNvSpPr/>
          <p:nvPr/>
        </p:nvSpPr>
        <p:spPr>
          <a:xfrm>
            <a:off x="0" y="0"/>
            <a:ext cx="12191996" cy="1036316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06F8D944-1E90-FB6A-0D6A-707C418D253D}"/>
              </a:ext>
            </a:extLst>
          </p:cNvPr>
          <p:cNvSpPr/>
          <p:nvPr/>
        </p:nvSpPr>
        <p:spPr>
          <a:xfrm>
            <a:off x="487676" y="182880"/>
            <a:ext cx="10972800" cy="9753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Amit megtanultunk</a:t>
            </a:r>
            <a:endParaRPr lang="en-US" sz="34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16D049B7-416D-BF22-03D8-9C0F1C1D4B89}"/>
              </a:ext>
            </a:extLst>
          </p:cNvPr>
          <p:cNvSpPr/>
          <p:nvPr/>
        </p:nvSpPr>
        <p:spPr>
          <a:xfrm>
            <a:off x="164977" y="1316735"/>
            <a:ext cx="6096000" cy="1551430"/>
          </a:xfrm>
          <a:prstGeom prst="rect">
            <a:avLst/>
          </a:prstGeom>
          <a:solidFill>
            <a:srgbClr val="EFF6FF"/>
          </a:solidFill>
          <a:ln w="10158" cap="flat">
            <a:solidFill>
              <a:srgbClr val="3B82F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85B07786-4514-1C8E-1D25-2D0B9D122581}"/>
              </a:ext>
            </a:extLst>
          </p:cNvPr>
          <p:cNvSpPr/>
          <p:nvPr/>
        </p:nvSpPr>
        <p:spPr>
          <a:xfrm>
            <a:off x="286893" y="1438661"/>
            <a:ext cx="648513" cy="54005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🤝</a:t>
            </a: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A9D73DBA-9C01-2F85-5FDE-B9F547903296}"/>
              </a:ext>
            </a:extLst>
          </p:cNvPr>
          <p:cNvSpPr/>
          <p:nvPr/>
        </p:nvSpPr>
        <p:spPr>
          <a:xfrm>
            <a:off x="957460" y="1463038"/>
            <a:ext cx="5123235" cy="3927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Csapatmunka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190069BE-37B4-70AF-280F-4735A09B2E77}"/>
              </a:ext>
            </a:extLst>
          </p:cNvPr>
          <p:cNvSpPr/>
          <p:nvPr/>
        </p:nvSpPr>
        <p:spPr>
          <a:xfrm>
            <a:off x="311281" y="2072642"/>
            <a:ext cx="5784715" cy="85426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Megtanultuk, hogyan kell egy projektet felosztani, párhuzamosan dolgozni és a kész részeket összefűzni. A kommunikáció és a verzióköveti fontossága.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95C8F037-4DF2-1A1E-CF8F-7564665F2F08}"/>
              </a:ext>
            </a:extLst>
          </p:cNvPr>
          <p:cNvSpPr/>
          <p:nvPr/>
        </p:nvSpPr>
        <p:spPr>
          <a:xfrm>
            <a:off x="6078100" y="1316735"/>
            <a:ext cx="6096000" cy="1551430"/>
          </a:xfrm>
          <a:prstGeom prst="rect">
            <a:avLst/>
          </a:prstGeom>
          <a:solidFill>
            <a:srgbClr val="EFF6FF"/>
          </a:solidFill>
          <a:ln w="10158" cap="flat">
            <a:solidFill>
              <a:srgbClr val="3B82F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26AAA7A4-2882-124C-0750-5293ECD4391A}"/>
              </a:ext>
            </a:extLst>
          </p:cNvPr>
          <p:cNvSpPr/>
          <p:nvPr/>
        </p:nvSpPr>
        <p:spPr>
          <a:xfrm>
            <a:off x="6200017" y="1438661"/>
            <a:ext cx="648513" cy="54005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🗄️</a:t>
            </a: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0051E689-FC4A-4C3D-EE50-F37E5B008889}"/>
              </a:ext>
            </a:extLst>
          </p:cNvPr>
          <p:cNvSpPr/>
          <p:nvPr/>
        </p:nvSpPr>
        <p:spPr>
          <a:xfrm>
            <a:off x="6870573" y="1463038"/>
            <a:ext cx="5123235" cy="3927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Adatbázis-tervezés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E81158B5-4EB6-EDA2-3110-20722D96F050}"/>
              </a:ext>
            </a:extLst>
          </p:cNvPr>
          <p:cNvSpPr/>
          <p:nvPr/>
        </p:nvSpPr>
        <p:spPr>
          <a:xfrm>
            <a:off x="6224404" y="2072642"/>
            <a:ext cx="5784715" cy="85426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Relációs adatmodell, foreign key kapcsolatok, SQL JOIN lekérdezések és a normalizálás fontosságának megértése.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BFDB77DE-A0E6-693B-D791-C6C4CE1C0624}"/>
              </a:ext>
            </a:extLst>
          </p:cNvPr>
          <p:cNvSpPr/>
          <p:nvPr/>
        </p:nvSpPr>
        <p:spPr>
          <a:xfrm>
            <a:off x="182873" y="3084995"/>
            <a:ext cx="6096000" cy="1551430"/>
          </a:xfrm>
          <a:prstGeom prst="rect">
            <a:avLst/>
          </a:prstGeom>
          <a:solidFill>
            <a:srgbClr val="EFF6FF"/>
          </a:solidFill>
          <a:ln w="10158" cap="flat">
            <a:solidFill>
              <a:srgbClr val="3B82F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7C6DAF8A-ECA1-193A-C63E-7E8B442194CD}"/>
              </a:ext>
            </a:extLst>
          </p:cNvPr>
          <p:cNvSpPr/>
          <p:nvPr/>
        </p:nvSpPr>
        <p:spPr>
          <a:xfrm>
            <a:off x="304789" y="3206910"/>
            <a:ext cx="648513" cy="54005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🔐</a:t>
            </a: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D97DA729-0DD7-A893-9AF4-108A6274FCA6}"/>
              </a:ext>
            </a:extLst>
          </p:cNvPr>
          <p:cNvSpPr/>
          <p:nvPr/>
        </p:nvSpPr>
        <p:spPr>
          <a:xfrm>
            <a:off x="975356" y="3231297"/>
            <a:ext cx="5123235" cy="3927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Biztonság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9DF30180-FED6-57A0-2319-EEB2E48BD0D9}"/>
              </a:ext>
            </a:extLst>
          </p:cNvPr>
          <p:cNvSpPr/>
          <p:nvPr/>
        </p:nvSpPr>
        <p:spPr>
          <a:xfrm>
            <a:off x="329177" y="3840901"/>
            <a:ext cx="5784715" cy="85426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Soha ne tárolj jelszót sima szövegként. A bcrypt, session, CORS és prepared statements alapvető biztonsági eszközök.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F81D73E8-EC95-BD81-B01D-4147E4AF4DAE}"/>
              </a:ext>
            </a:extLst>
          </p:cNvPr>
          <p:cNvSpPr/>
          <p:nvPr/>
        </p:nvSpPr>
        <p:spPr>
          <a:xfrm>
            <a:off x="6095996" y="3084995"/>
            <a:ext cx="6096000" cy="1551430"/>
          </a:xfrm>
          <a:prstGeom prst="rect">
            <a:avLst/>
          </a:prstGeom>
          <a:solidFill>
            <a:srgbClr val="EFF6FF"/>
          </a:solidFill>
          <a:ln w="10158" cap="flat">
            <a:solidFill>
              <a:srgbClr val="3B82F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DF78E8A7-3C2D-B59B-7A3F-DFFA8764686E}"/>
              </a:ext>
            </a:extLst>
          </p:cNvPr>
          <p:cNvSpPr/>
          <p:nvPr/>
        </p:nvSpPr>
        <p:spPr>
          <a:xfrm>
            <a:off x="6217913" y="3206910"/>
            <a:ext cx="648513" cy="54005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📧</a:t>
            </a: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33ECE004-28EE-0AD1-252A-23C301FD9EA2}"/>
              </a:ext>
            </a:extLst>
          </p:cNvPr>
          <p:cNvSpPr/>
          <p:nvPr/>
        </p:nvSpPr>
        <p:spPr>
          <a:xfrm>
            <a:off x="6888469" y="3231297"/>
            <a:ext cx="5123235" cy="3927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Integráció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AD77DE18-C062-F0C9-3357-BBD3BFE598ED}"/>
              </a:ext>
            </a:extLst>
          </p:cNvPr>
          <p:cNvSpPr/>
          <p:nvPr/>
        </p:nvSpPr>
        <p:spPr>
          <a:xfrm>
            <a:off x="6242300" y="3840901"/>
            <a:ext cx="5784715" cy="85426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Külső szolgáltatások (SMTP, multer) integrálása körültekintést igényel: konfiguráció, hibakezelés, tesztelés mind-mind fontos.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5FC4BD3B-4C89-FE7E-1B71-AC0D648F90CB}"/>
              </a:ext>
            </a:extLst>
          </p:cNvPr>
          <p:cNvSpPr/>
          <p:nvPr/>
        </p:nvSpPr>
        <p:spPr>
          <a:xfrm>
            <a:off x="164977" y="4954745"/>
            <a:ext cx="6096000" cy="1551430"/>
          </a:xfrm>
          <a:prstGeom prst="rect">
            <a:avLst/>
          </a:prstGeom>
          <a:solidFill>
            <a:srgbClr val="EFF6FF"/>
          </a:solidFill>
          <a:ln w="10158" cap="flat">
            <a:solidFill>
              <a:srgbClr val="3B82F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201917E7-FC87-49C8-4C4F-F772B8C22882}"/>
              </a:ext>
            </a:extLst>
          </p:cNvPr>
          <p:cNvSpPr/>
          <p:nvPr/>
        </p:nvSpPr>
        <p:spPr>
          <a:xfrm>
            <a:off x="286893" y="5076661"/>
            <a:ext cx="648513" cy="54005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🎨</a:t>
            </a:r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8D89EFF4-12F5-26C2-C107-A74E25B03725}"/>
              </a:ext>
            </a:extLst>
          </p:cNvPr>
          <p:cNvSpPr/>
          <p:nvPr/>
        </p:nvSpPr>
        <p:spPr>
          <a:xfrm>
            <a:off x="957460" y="5101048"/>
            <a:ext cx="5123235" cy="3927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Frontend/Backend szétválasztás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5C79D74D-4252-71B8-509E-9B937EE34424}"/>
              </a:ext>
            </a:extLst>
          </p:cNvPr>
          <p:cNvSpPr/>
          <p:nvPr/>
        </p:nvSpPr>
        <p:spPr>
          <a:xfrm>
            <a:off x="311281" y="5710641"/>
            <a:ext cx="5784715" cy="85426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Fontos volt megkülönböztetni a kliens és szerver oldali feladatokat. A REST API gondolkodásmód alapjait elsajátítottuk.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E5BDC50F-D9B8-7D71-7CEA-F5B12FCBCFE5}"/>
              </a:ext>
            </a:extLst>
          </p:cNvPr>
          <p:cNvSpPr/>
          <p:nvPr/>
        </p:nvSpPr>
        <p:spPr>
          <a:xfrm>
            <a:off x="6078100" y="4954745"/>
            <a:ext cx="6096000" cy="1551430"/>
          </a:xfrm>
          <a:prstGeom prst="rect">
            <a:avLst/>
          </a:prstGeom>
          <a:solidFill>
            <a:srgbClr val="EFF6FF"/>
          </a:solidFill>
          <a:ln w="10158" cap="flat">
            <a:solidFill>
              <a:srgbClr val="3B82F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209346E3-DB87-EF56-A474-781896EA1DEC}"/>
              </a:ext>
            </a:extLst>
          </p:cNvPr>
          <p:cNvSpPr/>
          <p:nvPr/>
        </p:nvSpPr>
        <p:spPr>
          <a:xfrm>
            <a:off x="6200017" y="5076661"/>
            <a:ext cx="648513" cy="54005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933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📚</a:t>
            </a:r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547D5237-8F59-3886-17E2-2FE0B6B1CA50}"/>
              </a:ext>
            </a:extLst>
          </p:cNvPr>
          <p:cNvSpPr/>
          <p:nvPr/>
        </p:nvSpPr>
        <p:spPr>
          <a:xfrm>
            <a:off x="6870573" y="5101048"/>
            <a:ext cx="5123235" cy="3927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33" b="1" i="0" u="none" strike="noStrike" kern="1200" cap="none" spc="0" baseline="0">
                <a:solidFill>
                  <a:srgbClr val="1E3A8A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Dokumentáció</a:t>
            </a:r>
            <a:endParaRPr lang="en-US" sz="17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285B6FFE-2D3C-2765-840D-A8CD9DC835D0}"/>
              </a:ext>
            </a:extLst>
          </p:cNvPr>
          <p:cNvSpPr/>
          <p:nvPr/>
        </p:nvSpPr>
        <p:spPr>
          <a:xfrm>
            <a:off x="6224404" y="5710641"/>
            <a:ext cx="5784715" cy="85426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1E293B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 kód olvashatósága, kommentezése és az adatbázis-séma dokumentálása a saját jövőbeli munkánkat is megkönnyíti.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9888E6-D0F9-49A5-18D2-47A227FF012B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1E3A8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EE20DEA-E503-D345-9305-2CC354CC4CCE}"/>
              </a:ext>
            </a:extLst>
          </p:cNvPr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D4ED8">
              <a:alpha val="6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3BC5E17-3D2A-A1C3-DA46-31AD30D6ADE6}"/>
              </a:ext>
            </a:extLst>
          </p:cNvPr>
          <p:cNvSpPr/>
          <p:nvPr/>
        </p:nvSpPr>
        <p:spPr>
          <a:xfrm>
            <a:off x="487676" y="365760"/>
            <a:ext cx="11460476" cy="79248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800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Összefoglalás</a:t>
            </a:r>
            <a:endParaRPr lang="en-US" sz="4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8C7C9288-87E0-B6D8-CC9B-0D16CC0CD620}"/>
              </a:ext>
            </a:extLst>
          </p:cNvPr>
          <p:cNvSpPr/>
          <p:nvPr/>
        </p:nvSpPr>
        <p:spPr>
          <a:xfrm>
            <a:off x="487676" y="1219196"/>
            <a:ext cx="8534396" cy="73152"/>
          </a:xfrm>
          <a:prstGeom prst="rect">
            <a:avLst/>
          </a:prstGeom>
          <a:solidFill>
            <a:srgbClr val="E9456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4F5441A9-63BB-3FDB-B4BA-8B9D02509CC6}"/>
              </a:ext>
            </a:extLst>
          </p:cNvPr>
          <p:cNvSpPr/>
          <p:nvPr/>
        </p:nvSpPr>
        <p:spPr>
          <a:xfrm>
            <a:off x="548640" y="1402076"/>
            <a:ext cx="7924803" cy="6705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67" b="0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✅  Teljes körű kutyamenhely webalkalmazás elkészítve</a:t>
            </a:r>
            <a:endParaRPr lang="en-US" sz="18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B3C6E0A5-5630-0447-031D-35DE52C0D5B6}"/>
              </a:ext>
            </a:extLst>
          </p:cNvPr>
          <p:cNvSpPr/>
          <p:nvPr/>
        </p:nvSpPr>
        <p:spPr>
          <a:xfrm>
            <a:off x="548640" y="2133596"/>
            <a:ext cx="7924803" cy="6705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67" b="0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✅  Node.js + Express + MySQL backend</a:t>
            </a:r>
            <a:endParaRPr lang="en-US" sz="18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4E45DA2D-AEF1-1BDE-A315-98483F7348E3}"/>
              </a:ext>
            </a:extLst>
          </p:cNvPr>
          <p:cNvSpPr/>
          <p:nvPr/>
        </p:nvSpPr>
        <p:spPr>
          <a:xfrm>
            <a:off x="548640" y="2865116"/>
            <a:ext cx="7924803" cy="6705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67" b="0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✅  Reszponzív, Bootstrap + Tailwind CSS frontend</a:t>
            </a:r>
            <a:endParaRPr lang="en-US" sz="18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7DFDDCEE-0199-2DEB-5A31-0B944466D233}"/>
              </a:ext>
            </a:extLst>
          </p:cNvPr>
          <p:cNvSpPr/>
          <p:nvPr/>
        </p:nvSpPr>
        <p:spPr>
          <a:xfrm>
            <a:off x="548640" y="3596636"/>
            <a:ext cx="7924803" cy="6705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67" b="0" i="0" u="none" strike="noStrike" kern="1200" cap="none" spc="0" baseline="0">
                <a:solidFill>
                  <a:srgbClr val="CBD5E1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✅  Felhasználókezelés, session, bcrypt biztonság</a:t>
            </a:r>
            <a:endParaRPr lang="en-US" sz="18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1B8A9404-AEEB-8F68-0B02-60DB5C6EC194}"/>
              </a:ext>
            </a:extLst>
          </p:cNvPr>
          <p:cNvSpPr/>
          <p:nvPr/>
        </p:nvSpPr>
        <p:spPr>
          <a:xfrm>
            <a:off x="548640" y="4328156"/>
            <a:ext cx="7924803" cy="6705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67" b="0" i="0" u="none" strike="noStrike" kern="1200" cap="none" spc="0" baseline="0">
                <a:solidFill>
                  <a:srgbClr val="CBD5E1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✅  Admin felület, örökbefogadás-kezelés</a:t>
            </a:r>
            <a:endParaRPr lang="en-US" sz="18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1D083A98-E06B-DDBA-8637-E24C9FFD08FC}"/>
              </a:ext>
            </a:extLst>
          </p:cNvPr>
          <p:cNvSpPr/>
          <p:nvPr/>
        </p:nvSpPr>
        <p:spPr>
          <a:xfrm>
            <a:off x="548640" y="5059676"/>
            <a:ext cx="7924803" cy="6705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67" b="0" i="0" u="none" strike="noStrike" kern="1200" cap="none" spc="0" baseline="0">
                <a:solidFill>
                  <a:srgbClr val="CBD5E1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✅  Automatikus e-mail értesítési rendszer</a:t>
            </a:r>
            <a:endParaRPr lang="en-US" sz="18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3C8FD863-DBAE-CDB3-90C8-D12C52CFB254}"/>
              </a:ext>
            </a:extLst>
          </p:cNvPr>
          <p:cNvSpPr/>
          <p:nvPr/>
        </p:nvSpPr>
        <p:spPr>
          <a:xfrm>
            <a:off x="548640" y="5791196"/>
            <a:ext cx="7924803" cy="67055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67" b="0" i="0" u="none" strike="noStrike" kern="1200" cap="none" spc="0" baseline="0">
                <a:solidFill>
                  <a:srgbClr val="CBD5E1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✅  Képfeltöltés multerrel, jelszó-visszaállítás tokennel</a:t>
            </a:r>
            <a:endParaRPr lang="en-US" sz="18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A74BAE51-9159-8818-87A8-B5F645DC70A4}"/>
              </a:ext>
            </a:extLst>
          </p:cNvPr>
          <p:cNvSpPr/>
          <p:nvPr/>
        </p:nvSpPr>
        <p:spPr>
          <a:xfrm>
            <a:off x="8595360" y="1402076"/>
            <a:ext cx="3291840" cy="5382771"/>
          </a:xfrm>
          <a:prstGeom prst="rect">
            <a:avLst/>
          </a:prstGeom>
          <a:solidFill>
            <a:srgbClr val="E94560">
              <a:alpha val="70000"/>
            </a:srgbClr>
          </a:solidFill>
          <a:ln w="19046" cap="flat">
            <a:solidFill>
              <a:srgbClr val="E9456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hu-HU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FDC7FCAF-007D-6FD0-FE46-5AC85B56C337}"/>
              </a:ext>
            </a:extLst>
          </p:cNvPr>
          <p:cNvSpPr/>
          <p:nvPr/>
        </p:nvSpPr>
        <p:spPr>
          <a:xfrm>
            <a:off x="8595360" y="1524003"/>
            <a:ext cx="3291840" cy="10972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6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🐾</a:t>
            </a: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F9757D52-1579-EE0A-63C6-17FC7A1B84EE}"/>
              </a:ext>
            </a:extLst>
          </p:cNvPr>
          <p:cNvSpPr/>
          <p:nvPr/>
        </p:nvSpPr>
        <p:spPr>
          <a:xfrm>
            <a:off x="8656323" y="2682236"/>
            <a:ext cx="3169923" cy="12191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6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Köszönjük</a:t>
            </a:r>
            <a:endParaRPr lang="en-US" sz="26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667" b="1" i="0" u="none" strike="noStrike" kern="1200" cap="none" spc="0" baseline="0">
                <a:solidFill>
                  <a:srgbClr val="FFFFFF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 figyelmet!</a:t>
            </a:r>
            <a:endParaRPr lang="en-US" sz="26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AE0A824B-8B83-4D2D-7AFC-A90597FC718D}"/>
              </a:ext>
            </a:extLst>
          </p:cNvPr>
          <p:cNvSpPr/>
          <p:nvPr/>
        </p:nvSpPr>
        <p:spPr>
          <a:xfrm>
            <a:off x="8656323" y="4084323"/>
            <a:ext cx="3169923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133" b="0" i="0" u="none" strike="noStrike" kern="1200" cap="none" spc="0" baseline="0">
                <a:solidFill>
                  <a:srgbClr val="CBD5E1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Robi</a:t>
            </a:r>
            <a:endParaRPr lang="en-US" sz="21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FF8C9EE7-5737-EBC2-8C69-FD3AAFF2EEAA}"/>
              </a:ext>
            </a:extLst>
          </p:cNvPr>
          <p:cNvSpPr/>
          <p:nvPr/>
        </p:nvSpPr>
        <p:spPr>
          <a:xfrm>
            <a:off x="8656323" y="4608576"/>
            <a:ext cx="3169923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133" b="0" i="0" u="none" strike="noStrike" kern="1200" cap="none" spc="0" baseline="0">
                <a:solidFill>
                  <a:srgbClr val="CBD5E1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Ricsi</a:t>
            </a:r>
            <a:endParaRPr lang="en-US" sz="21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D8A07D02-B9F4-0CBC-8A99-3ADB29AFC11D}"/>
              </a:ext>
            </a:extLst>
          </p:cNvPr>
          <p:cNvSpPr/>
          <p:nvPr/>
        </p:nvSpPr>
        <p:spPr>
          <a:xfrm>
            <a:off x="8656323" y="5132828"/>
            <a:ext cx="3169923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133" b="0" i="0" u="none" strike="noStrike" kern="1200" cap="none" spc="0" baseline="0">
                <a:solidFill>
                  <a:srgbClr val="CBD5E1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Norbi</a:t>
            </a:r>
            <a:endParaRPr lang="en-US" sz="2133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DE5CA665-C7A7-A04E-10CD-0FD42A1F06B9}"/>
              </a:ext>
            </a:extLst>
          </p:cNvPr>
          <p:cNvSpPr/>
          <p:nvPr/>
        </p:nvSpPr>
        <p:spPr>
          <a:xfrm>
            <a:off x="8656323" y="5992364"/>
            <a:ext cx="3169923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1" u="none" strike="noStrike" kern="1200" cap="none" spc="0" baseline="0">
                <a:solidFill>
                  <a:srgbClr val="94A3B8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2025/2026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1517</Words>
  <Application>Microsoft Office PowerPoint</Application>
  <PresentationFormat>Szélesvásznú</PresentationFormat>
  <Paragraphs>328</Paragraphs>
  <Slides>17</Slides>
  <Notes>17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Acs Norbi</dc:creator>
  <cp:lastModifiedBy>Tóth Róbert 846</cp:lastModifiedBy>
  <cp:revision>10</cp:revision>
  <dcterms:created xsi:type="dcterms:W3CDTF">2026-04-10T10:22:23Z</dcterms:created>
  <dcterms:modified xsi:type="dcterms:W3CDTF">2026-04-10T13:03:12Z</dcterms:modified>
</cp:coreProperties>
</file>